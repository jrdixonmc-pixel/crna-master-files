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6"/>
  </p:notesMasterIdLst>
  <p:sldIdLst>
    <p:sldId id="256" r:id="rId2"/>
    <p:sldId id="298" r:id="rId3"/>
    <p:sldId id="289" r:id="rId4"/>
    <p:sldId id="397" r:id="rId5"/>
    <p:sldId id="410" r:id="rId6"/>
    <p:sldId id="300" r:id="rId7"/>
    <p:sldId id="386" r:id="rId8"/>
    <p:sldId id="401" r:id="rId9"/>
    <p:sldId id="257" r:id="rId10"/>
    <p:sldId id="427" r:id="rId11"/>
    <p:sldId id="258" r:id="rId12"/>
    <p:sldId id="293" r:id="rId13"/>
    <p:sldId id="413" r:id="rId14"/>
    <p:sldId id="411" r:id="rId15"/>
    <p:sldId id="313" r:id="rId16"/>
    <p:sldId id="417" r:id="rId17"/>
    <p:sldId id="287" r:id="rId18"/>
    <p:sldId id="281" r:id="rId19"/>
    <p:sldId id="291" r:id="rId20"/>
    <p:sldId id="403" r:id="rId21"/>
    <p:sldId id="414" r:id="rId22"/>
    <p:sldId id="259" r:id="rId23"/>
    <p:sldId id="260" r:id="rId24"/>
    <p:sldId id="261" r:id="rId25"/>
    <p:sldId id="262" r:id="rId26"/>
    <p:sldId id="412" r:id="rId27"/>
    <p:sldId id="316" r:id="rId28"/>
    <p:sldId id="264" r:id="rId29"/>
    <p:sldId id="283" r:id="rId30"/>
    <p:sldId id="279" r:id="rId31"/>
    <p:sldId id="428" r:id="rId32"/>
    <p:sldId id="423" r:id="rId33"/>
    <p:sldId id="402" r:id="rId34"/>
    <p:sldId id="416" r:id="rId35"/>
    <p:sldId id="280" r:id="rId36"/>
    <p:sldId id="288" r:id="rId37"/>
    <p:sldId id="318" r:id="rId38"/>
    <p:sldId id="430" r:id="rId39"/>
    <p:sldId id="312" r:id="rId40"/>
    <p:sldId id="278" r:id="rId41"/>
    <p:sldId id="425" r:id="rId42"/>
    <p:sldId id="309" r:id="rId43"/>
    <p:sldId id="292" r:id="rId44"/>
    <p:sldId id="408" r:id="rId45"/>
    <p:sldId id="422" r:id="rId46"/>
    <p:sldId id="315" r:id="rId47"/>
    <p:sldId id="405" r:id="rId48"/>
    <p:sldId id="406" r:id="rId49"/>
    <p:sldId id="299" r:id="rId50"/>
    <p:sldId id="302" r:id="rId51"/>
    <p:sldId id="317" r:id="rId52"/>
    <p:sldId id="304" r:id="rId53"/>
    <p:sldId id="305" r:id="rId54"/>
    <p:sldId id="307"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64"/>
    <p:restoredTop sz="86479"/>
  </p:normalViewPr>
  <p:slideViewPr>
    <p:cSldViewPr snapToGrid="0" snapToObjects="1">
      <p:cViewPr varScale="1">
        <p:scale>
          <a:sx n="106" d="100"/>
          <a:sy n="106" d="100"/>
        </p:scale>
        <p:origin x="1000" y="176"/>
      </p:cViewPr>
      <p:guideLst/>
    </p:cSldViewPr>
  </p:slideViewPr>
  <p:outlineViewPr>
    <p:cViewPr>
      <p:scale>
        <a:sx n="33" d="100"/>
        <a:sy n="33" d="100"/>
      </p:scale>
      <p:origin x="0" y="-5136"/>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85" d="100"/>
          <a:sy n="85" d="100"/>
        </p:scale>
        <p:origin x="3928" y="1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A21365-899F-4F48-9B6A-713E0B054D6C}" type="datetimeFigureOut">
              <a:rPr lang="en-US" smtClean="0"/>
              <a:t>3/27/23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183609-C0BC-7645-917C-A2816430EC6F}" type="slidenum">
              <a:rPr lang="en-US" smtClean="0"/>
              <a:t>‹#›</a:t>
            </a:fld>
            <a:endParaRPr lang="en-US"/>
          </a:p>
        </p:txBody>
      </p:sp>
    </p:spTree>
    <p:extLst>
      <p:ext uri="{BB962C8B-B14F-4D97-AF65-F5344CB8AC3E}">
        <p14:creationId xmlns:p14="http://schemas.microsoft.com/office/powerpoint/2010/main" val="124050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183609-C0BC-7645-917C-A2816430EC6F}" type="slidenum">
              <a:rPr lang="en-US" smtClean="0"/>
              <a:t>1</a:t>
            </a:fld>
            <a:endParaRPr lang="en-US"/>
          </a:p>
        </p:txBody>
      </p:sp>
    </p:spTree>
    <p:extLst>
      <p:ext uri="{BB962C8B-B14F-4D97-AF65-F5344CB8AC3E}">
        <p14:creationId xmlns:p14="http://schemas.microsoft.com/office/powerpoint/2010/main" val="3654759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183609-C0BC-7645-917C-A2816430EC6F}" type="slidenum">
              <a:rPr lang="en-US" smtClean="0"/>
              <a:t>2</a:t>
            </a:fld>
            <a:endParaRPr lang="en-US"/>
          </a:p>
        </p:txBody>
      </p:sp>
    </p:spTree>
    <p:extLst>
      <p:ext uri="{BB962C8B-B14F-4D97-AF65-F5344CB8AC3E}">
        <p14:creationId xmlns:p14="http://schemas.microsoft.com/office/powerpoint/2010/main" val="3959333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183609-C0BC-7645-917C-A2816430EC6F}" type="slidenum">
              <a:rPr lang="en-US" smtClean="0"/>
              <a:t>3</a:t>
            </a:fld>
            <a:endParaRPr lang="en-US"/>
          </a:p>
        </p:txBody>
      </p:sp>
    </p:spTree>
    <p:extLst>
      <p:ext uri="{BB962C8B-B14F-4D97-AF65-F5344CB8AC3E}">
        <p14:creationId xmlns:p14="http://schemas.microsoft.com/office/powerpoint/2010/main" val="4277838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Slide Image Placeholder 1">
            <a:extLst>
              <a:ext uri="{FF2B5EF4-FFF2-40B4-BE49-F238E27FC236}">
                <a16:creationId xmlns:a16="http://schemas.microsoft.com/office/drawing/2014/main" id="{5BB53DF8-3A3D-BC4F-90EA-87EBC8BB9643}"/>
              </a:ext>
            </a:extLst>
          </p:cNvPr>
          <p:cNvSpPr>
            <a:spLocks noGrp="1" noRot="1" noChangeAspect="1" noTextEdit="1"/>
          </p:cNvSpPr>
          <p:nvPr>
            <p:ph type="sldImg"/>
          </p:nvPr>
        </p:nvSpPr>
        <p:spPr>
          <a:xfrm>
            <a:off x="381000" y="693738"/>
            <a:ext cx="6096000" cy="3430587"/>
          </a:xfrm>
          <a:ln/>
        </p:spPr>
      </p:sp>
      <p:sp>
        <p:nvSpPr>
          <p:cNvPr id="125954" name="Notes Placeholder 2">
            <a:extLst>
              <a:ext uri="{FF2B5EF4-FFF2-40B4-BE49-F238E27FC236}">
                <a16:creationId xmlns:a16="http://schemas.microsoft.com/office/drawing/2014/main" id="{27FB288A-C4B8-EA4C-BD87-A91315074669}"/>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a typeface="ＭＳ Ｐゴシック" panose="020B0600070205080204" pitchFamily="34" charset="-128"/>
            </a:endParaRPr>
          </a:p>
          <a:p>
            <a:endParaRPr lang="en-US" altLang="en-US" dirty="0">
              <a:latin typeface="Times New Roman" panose="02020603050405020304" pitchFamily="18" charset="0"/>
              <a:ea typeface="ＭＳ Ｐゴシック" panose="020B0600070205080204" pitchFamily="34" charset="-128"/>
            </a:endParaRPr>
          </a:p>
        </p:txBody>
      </p:sp>
      <p:sp>
        <p:nvSpPr>
          <p:cNvPr id="125955" name="Slide Number Placeholder 3">
            <a:extLst>
              <a:ext uri="{FF2B5EF4-FFF2-40B4-BE49-F238E27FC236}">
                <a16:creationId xmlns:a16="http://schemas.microsoft.com/office/drawing/2014/main" id="{01E080DB-5523-2C4C-9C33-F01B9A6BE5B9}"/>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3A71D936-5B07-AA41-9D74-3B4F4553C1A3}"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Tree>
    <p:extLst>
      <p:ext uri="{BB962C8B-B14F-4D97-AF65-F5344CB8AC3E}">
        <p14:creationId xmlns:p14="http://schemas.microsoft.com/office/powerpoint/2010/main" val="42880337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183609-C0BC-7645-917C-A2816430EC6F}" type="slidenum">
              <a:rPr lang="en-US" smtClean="0"/>
              <a:t>5</a:t>
            </a:fld>
            <a:endParaRPr lang="en-US"/>
          </a:p>
        </p:txBody>
      </p:sp>
    </p:spTree>
    <p:extLst>
      <p:ext uri="{BB962C8B-B14F-4D97-AF65-F5344CB8AC3E}">
        <p14:creationId xmlns:p14="http://schemas.microsoft.com/office/powerpoint/2010/main" val="42070299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183609-C0BC-7645-917C-A2816430EC6F}" type="slidenum">
              <a:rPr lang="en-US" smtClean="0"/>
              <a:t>6</a:t>
            </a:fld>
            <a:endParaRPr lang="en-US"/>
          </a:p>
        </p:txBody>
      </p:sp>
    </p:spTree>
    <p:extLst>
      <p:ext uri="{BB962C8B-B14F-4D97-AF65-F5344CB8AC3E}">
        <p14:creationId xmlns:p14="http://schemas.microsoft.com/office/powerpoint/2010/main" val="6311070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Slide Image Placeholder 1">
            <a:extLst>
              <a:ext uri="{FF2B5EF4-FFF2-40B4-BE49-F238E27FC236}">
                <a16:creationId xmlns:a16="http://schemas.microsoft.com/office/drawing/2014/main" id="{B090A23B-C2F9-CE4A-806C-9010195B1661}"/>
              </a:ext>
            </a:extLst>
          </p:cNvPr>
          <p:cNvSpPr>
            <a:spLocks noGrp="1" noRot="1" noChangeAspect="1" noTextEdit="1"/>
          </p:cNvSpPr>
          <p:nvPr>
            <p:ph type="sldImg"/>
          </p:nvPr>
        </p:nvSpPr>
        <p:spPr>
          <a:xfrm>
            <a:off x="381000" y="693738"/>
            <a:ext cx="6096000" cy="3430587"/>
          </a:xfrm>
          <a:ln/>
        </p:spPr>
      </p:sp>
      <p:sp>
        <p:nvSpPr>
          <p:cNvPr id="128002" name="Notes Placeholder 2">
            <a:extLst>
              <a:ext uri="{FF2B5EF4-FFF2-40B4-BE49-F238E27FC236}">
                <a16:creationId xmlns:a16="http://schemas.microsoft.com/office/drawing/2014/main" id="{DFE877CD-2037-7C42-BCB7-79868B2E8AE1}"/>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a typeface="ＭＳ Ｐゴシック" panose="020B0600070205080204" pitchFamily="34" charset="-128"/>
            </a:endParaRPr>
          </a:p>
        </p:txBody>
      </p:sp>
      <p:sp>
        <p:nvSpPr>
          <p:cNvPr id="128003" name="Slide Number Placeholder 3">
            <a:extLst>
              <a:ext uri="{FF2B5EF4-FFF2-40B4-BE49-F238E27FC236}">
                <a16:creationId xmlns:a16="http://schemas.microsoft.com/office/drawing/2014/main" id="{E5755067-A43A-0549-841B-6D09F3C74E4E}"/>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ADC6F77A-D530-CE48-B348-15751806AAD1}" type="slidenum">
              <a:rPr lang="en-US" altLang="en-US" smtClean="0">
                <a:latin typeface="Times New Roman" panose="02020603050405020304" pitchFamily="18" charset="0"/>
              </a:rPr>
              <a:pPr/>
              <a:t>7</a:t>
            </a:fld>
            <a:endParaRPr lang="en-US" altLang="en-US">
              <a:latin typeface="Times New Roman" panose="02020603050405020304" pitchFamily="18" charset="0"/>
            </a:endParaRPr>
          </a:p>
        </p:txBody>
      </p:sp>
    </p:spTree>
    <p:extLst>
      <p:ext uri="{BB962C8B-B14F-4D97-AF65-F5344CB8AC3E}">
        <p14:creationId xmlns:p14="http://schemas.microsoft.com/office/powerpoint/2010/main" val="32222444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Slide Image Placeholder 1">
            <a:extLst>
              <a:ext uri="{FF2B5EF4-FFF2-40B4-BE49-F238E27FC236}">
                <a16:creationId xmlns:a16="http://schemas.microsoft.com/office/drawing/2014/main" id="{AB38CFD9-5AF6-8242-A8C2-5D60814E3E8C}"/>
              </a:ext>
            </a:extLst>
          </p:cNvPr>
          <p:cNvSpPr>
            <a:spLocks noGrp="1" noRot="1" noChangeAspect="1" noTextEdit="1"/>
          </p:cNvSpPr>
          <p:nvPr>
            <p:ph type="sldImg"/>
          </p:nvPr>
        </p:nvSpPr>
        <p:spPr>
          <a:xfrm>
            <a:off x="381000" y="693738"/>
            <a:ext cx="6096000" cy="3430587"/>
          </a:xfrm>
          <a:ln/>
        </p:spPr>
      </p:sp>
      <p:sp>
        <p:nvSpPr>
          <p:cNvPr id="109570" name="Notes Placeholder 2">
            <a:extLst>
              <a:ext uri="{FF2B5EF4-FFF2-40B4-BE49-F238E27FC236}">
                <a16:creationId xmlns:a16="http://schemas.microsoft.com/office/drawing/2014/main" id="{D17287BE-FAD9-9249-AF3D-B5CC8CA9B4A0}"/>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a typeface="ＭＳ Ｐゴシック" panose="020B0600070205080204" pitchFamily="34" charset="-128"/>
            </a:endParaRPr>
          </a:p>
        </p:txBody>
      </p:sp>
      <p:sp>
        <p:nvSpPr>
          <p:cNvPr id="109571" name="Slide Number Placeholder 3">
            <a:extLst>
              <a:ext uri="{FF2B5EF4-FFF2-40B4-BE49-F238E27FC236}">
                <a16:creationId xmlns:a16="http://schemas.microsoft.com/office/drawing/2014/main" id="{956453C3-DCB8-9248-9AE3-4F170E3E0695}"/>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3973A485-42CB-F546-AC92-EFE00F27AE0C}"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Tree>
    <p:extLst>
      <p:ext uri="{BB962C8B-B14F-4D97-AF65-F5344CB8AC3E}">
        <p14:creationId xmlns:p14="http://schemas.microsoft.com/office/powerpoint/2010/main" val="15539190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183609-C0BC-7645-917C-A2816430EC6F}" type="slidenum">
              <a:rPr lang="en-US" smtClean="0"/>
              <a:t>9</a:t>
            </a:fld>
            <a:endParaRPr lang="en-US"/>
          </a:p>
        </p:txBody>
      </p:sp>
    </p:spTree>
    <p:extLst>
      <p:ext uri="{BB962C8B-B14F-4D97-AF65-F5344CB8AC3E}">
        <p14:creationId xmlns:p14="http://schemas.microsoft.com/office/powerpoint/2010/main" val="38625216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183609-C0BC-7645-917C-A2816430EC6F}" type="slidenum">
              <a:rPr lang="en-US" smtClean="0"/>
              <a:t>11</a:t>
            </a:fld>
            <a:endParaRPr lang="en-US"/>
          </a:p>
        </p:txBody>
      </p:sp>
    </p:spTree>
    <p:extLst>
      <p:ext uri="{BB962C8B-B14F-4D97-AF65-F5344CB8AC3E}">
        <p14:creationId xmlns:p14="http://schemas.microsoft.com/office/powerpoint/2010/main" val="3585266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183609-C0BC-7645-917C-A2816430EC6F}" type="slidenum">
              <a:rPr lang="en-US" smtClean="0"/>
              <a:t>12</a:t>
            </a:fld>
            <a:endParaRPr lang="en-US"/>
          </a:p>
        </p:txBody>
      </p:sp>
    </p:spTree>
    <p:extLst>
      <p:ext uri="{BB962C8B-B14F-4D97-AF65-F5344CB8AC3E}">
        <p14:creationId xmlns:p14="http://schemas.microsoft.com/office/powerpoint/2010/main" val="439952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183609-C0BC-7645-917C-A2816430EC6F}" type="slidenum">
              <a:rPr lang="en-US" smtClean="0"/>
              <a:t>13</a:t>
            </a:fld>
            <a:endParaRPr lang="en-US"/>
          </a:p>
        </p:txBody>
      </p:sp>
    </p:spTree>
    <p:extLst>
      <p:ext uri="{BB962C8B-B14F-4D97-AF65-F5344CB8AC3E}">
        <p14:creationId xmlns:p14="http://schemas.microsoft.com/office/powerpoint/2010/main" val="4328319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183609-C0BC-7645-917C-A2816430EC6F}" type="slidenum">
              <a:rPr lang="en-US" smtClean="0"/>
              <a:t>14</a:t>
            </a:fld>
            <a:endParaRPr lang="en-US"/>
          </a:p>
        </p:txBody>
      </p:sp>
    </p:spTree>
    <p:extLst>
      <p:ext uri="{BB962C8B-B14F-4D97-AF65-F5344CB8AC3E}">
        <p14:creationId xmlns:p14="http://schemas.microsoft.com/office/powerpoint/2010/main" val="2273670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183609-C0BC-7645-917C-A2816430EC6F}" type="slidenum">
              <a:rPr lang="en-US" smtClean="0"/>
              <a:t>15</a:t>
            </a:fld>
            <a:endParaRPr lang="en-US"/>
          </a:p>
        </p:txBody>
      </p:sp>
    </p:spTree>
    <p:extLst>
      <p:ext uri="{BB962C8B-B14F-4D97-AF65-F5344CB8AC3E}">
        <p14:creationId xmlns:p14="http://schemas.microsoft.com/office/powerpoint/2010/main" val="9999515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183609-C0BC-7645-917C-A2816430EC6F}" type="slidenum">
              <a:rPr lang="en-US" smtClean="0"/>
              <a:t>17</a:t>
            </a:fld>
            <a:endParaRPr lang="en-US"/>
          </a:p>
        </p:txBody>
      </p:sp>
    </p:spTree>
    <p:extLst>
      <p:ext uri="{BB962C8B-B14F-4D97-AF65-F5344CB8AC3E}">
        <p14:creationId xmlns:p14="http://schemas.microsoft.com/office/powerpoint/2010/main" val="1901344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F1183609-C0BC-7645-917C-A2816430EC6F}" type="slidenum">
              <a:rPr lang="en-US" smtClean="0"/>
              <a:t>18</a:t>
            </a:fld>
            <a:endParaRPr lang="en-US"/>
          </a:p>
        </p:txBody>
      </p:sp>
    </p:spTree>
    <p:extLst>
      <p:ext uri="{BB962C8B-B14F-4D97-AF65-F5344CB8AC3E}">
        <p14:creationId xmlns:p14="http://schemas.microsoft.com/office/powerpoint/2010/main" val="24002175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183609-C0BC-7645-917C-A2816430EC6F}" type="slidenum">
              <a:rPr lang="en-US" smtClean="0"/>
              <a:t>19</a:t>
            </a:fld>
            <a:endParaRPr lang="en-US"/>
          </a:p>
        </p:txBody>
      </p:sp>
    </p:spTree>
    <p:extLst>
      <p:ext uri="{BB962C8B-B14F-4D97-AF65-F5344CB8AC3E}">
        <p14:creationId xmlns:p14="http://schemas.microsoft.com/office/powerpoint/2010/main" val="13995026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presses down on the left hemidiaphragm</a:t>
            </a:r>
          </a:p>
        </p:txBody>
      </p:sp>
      <p:sp>
        <p:nvSpPr>
          <p:cNvPr id="4" name="Slide Number Placeholder 3"/>
          <p:cNvSpPr>
            <a:spLocks noGrp="1"/>
          </p:cNvSpPr>
          <p:nvPr>
            <p:ph type="sldNum" sz="quarter" idx="5"/>
          </p:nvPr>
        </p:nvSpPr>
        <p:spPr/>
        <p:txBody>
          <a:bodyPr/>
          <a:lstStyle/>
          <a:p>
            <a:fld id="{F1183609-C0BC-7645-917C-A2816430EC6F}" type="slidenum">
              <a:rPr lang="en-US" smtClean="0"/>
              <a:t>21</a:t>
            </a:fld>
            <a:endParaRPr lang="en-US"/>
          </a:p>
        </p:txBody>
      </p:sp>
    </p:spTree>
    <p:extLst>
      <p:ext uri="{BB962C8B-B14F-4D97-AF65-F5344CB8AC3E}">
        <p14:creationId xmlns:p14="http://schemas.microsoft.com/office/powerpoint/2010/main" val="29372640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183609-C0BC-7645-917C-A2816430EC6F}" type="slidenum">
              <a:rPr lang="en-US" smtClean="0"/>
              <a:t>22</a:t>
            </a:fld>
            <a:endParaRPr lang="en-US"/>
          </a:p>
        </p:txBody>
      </p:sp>
    </p:spTree>
    <p:extLst>
      <p:ext uri="{BB962C8B-B14F-4D97-AF65-F5344CB8AC3E}">
        <p14:creationId xmlns:p14="http://schemas.microsoft.com/office/powerpoint/2010/main" val="2570349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183609-C0BC-7645-917C-A2816430EC6F}" type="slidenum">
              <a:rPr lang="en-US" smtClean="0"/>
              <a:t>23</a:t>
            </a:fld>
            <a:endParaRPr lang="en-US"/>
          </a:p>
        </p:txBody>
      </p:sp>
    </p:spTree>
    <p:extLst>
      <p:ext uri="{BB962C8B-B14F-4D97-AF65-F5344CB8AC3E}">
        <p14:creationId xmlns:p14="http://schemas.microsoft.com/office/powerpoint/2010/main" val="33179961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183609-C0BC-7645-917C-A2816430EC6F}" type="slidenum">
              <a:rPr lang="en-US" smtClean="0"/>
              <a:t>24</a:t>
            </a:fld>
            <a:endParaRPr lang="en-US"/>
          </a:p>
        </p:txBody>
      </p:sp>
    </p:spTree>
    <p:extLst>
      <p:ext uri="{BB962C8B-B14F-4D97-AF65-F5344CB8AC3E}">
        <p14:creationId xmlns:p14="http://schemas.microsoft.com/office/powerpoint/2010/main" val="18071602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183609-C0BC-7645-917C-A2816430EC6F}" type="slidenum">
              <a:rPr lang="en-US" smtClean="0"/>
              <a:t>25</a:t>
            </a:fld>
            <a:endParaRPr lang="en-US"/>
          </a:p>
        </p:txBody>
      </p:sp>
    </p:spTree>
    <p:extLst>
      <p:ext uri="{BB962C8B-B14F-4D97-AF65-F5344CB8AC3E}">
        <p14:creationId xmlns:p14="http://schemas.microsoft.com/office/powerpoint/2010/main" val="36877636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183609-C0BC-7645-917C-A2816430EC6F}" type="slidenum">
              <a:rPr lang="en-US" smtClean="0"/>
              <a:t>27</a:t>
            </a:fld>
            <a:endParaRPr lang="en-US"/>
          </a:p>
        </p:txBody>
      </p:sp>
    </p:spTree>
    <p:extLst>
      <p:ext uri="{BB962C8B-B14F-4D97-AF65-F5344CB8AC3E}">
        <p14:creationId xmlns:p14="http://schemas.microsoft.com/office/powerpoint/2010/main" val="22427647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183609-C0BC-7645-917C-A2816430EC6F}" type="slidenum">
              <a:rPr lang="en-US" smtClean="0"/>
              <a:t>28</a:t>
            </a:fld>
            <a:endParaRPr lang="en-US"/>
          </a:p>
        </p:txBody>
      </p:sp>
    </p:spTree>
    <p:extLst>
      <p:ext uri="{BB962C8B-B14F-4D97-AF65-F5344CB8AC3E}">
        <p14:creationId xmlns:p14="http://schemas.microsoft.com/office/powerpoint/2010/main" val="7309988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183609-C0BC-7645-917C-A2816430EC6F}" type="slidenum">
              <a:rPr lang="en-US" smtClean="0"/>
              <a:t>29</a:t>
            </a:fld>
            <a:endParaRPr lang="en-US"/>
          </a:p>
        </p:txBody>
      </p:sp>
    </p:spTree>
    <p:extLst>
      <p:ext uri="{BB962C8B-B14F-4D97-AF65-F5344CB8AC3E}">
        <p14:creationId xmlns:p14="http://schemas.microsoft.com/office/powerpoint/2010/main" val="21770235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F1183609-C0BC-7645-917C-A2816430EC6F}" type="slidenum">
              <a:rPr lang="en-US" smtClean="0"/>
              <a:t>30</a:t>
            </a:fld>
            <a:endParaRPr lang="en-US"/>
          </a:p>
        </p:txBody>
      </p:sp>
    </p:spTree>
    <p:extLst>
      <p:ext uri="{BB962C8B-B14F-4D97-AF65-F5344CB8AC3E}">
        <p14:creationId xmlns:p14="http://schemas.microsoft.com/office/powerpoint/2010/main" val="384751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183609-C0BC-7645-917C-A2816430EC6F}" type="slidenum">
              <a:rPr lang="en-US" smtClean="0"/>
              <a:t>32</a:t>
            </a:fld>
            <a:endParaRPr lang="en-US"/>
          </a:p>
        </p:txBody>
      </p:sp>
    </p:spTree>
    <p:extLst>
      <p:ext uri="{BB962C8B-B14F-4D97-AF65-F5344CB8AC3E}">
        <p14:creationId xmlns:p14="http://schemas.microsoft.com/office/powerpoint/2010/main" val="1218202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183609-C0BC-7645-917C-A2816430EC6F}" type="slidenum">
              <a:rPr lang="en-US" smtClean="0"/>
              <a:t>33</a:t>
            </a:fld>
            <a:endParaRPr lang="en-US"/>
          </a:p>
        </p:txBody>
      </p:sp>
    </p:spTree>
    <p:extLst>
      <p:ext uri="{BB962C8B-B14F-4D97-AF65-F5344CB8AC3E}">
        <p14:creationId xmlns:p14="http://schemas.microsoft.com/office/powerpoint/2010/main" val="13276121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F1183609-C0BC-7645-917C-A2816430EC6F}" type="slidenum">
              <a:rPr lang="en-US" smtClean="0"/>
              <a:t>34</a:t>
            </a:fld>
            <a:endParaRPr lang="en-US"/>
          </a:p>
        </p:txBody>
      </p:sp>
    </p:spTree>
    <p:extLst>
      <p:ext uri="{BB962C8B-B14F-4D97-AF65-F5344CB8AC3E}">
        <p14:creationId xmlns:p14="http://schemas.microsoft.com/office/powerpoint/2010/main" val="22706948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F1183609-C0BC-7645-917C-A2816430EC6F}" type="slidenum">
              <a:rPr lang="en-US" smtClean="0"/>
              <a:t>35</a:t>
            </a:fld>
            <a:endParaRPr lang="en-US"/>
          </a:p>
        </p:txBody>
      </p:sp>
    </p:spTree>
    <p:extLst>
      <p:ext uri="{BB962C8B-B14F-4D97-AF65-F5344CB8AC3E}">
        <p14:creationId xmlns:p14="http://schemas.microsoft.com/office/powerpoint/2010/main" val="16432892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183609-C0BC-7645-917C-A2816430EC6F}" type="slidenum">
              <a:rPr lang="en-US" smtClean="0"/>
              <a:t>36</a:t>
            </a:fld>
            <a:endParaRPr lang="en-US"/>
          </a:p>
        </p:txBody>
      </p:sp>
    </p:spTree>
    <p:extLst>
      <p:ext uri="{BB962C8B-B14F-4D97-AF65-F5344CB8AC3E}">
        <p14:creationId xmlns:p14="http://schemas.microsoft.com/office/powerpoint/2010/main" val="32887405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183609-C0BC-7645-917C-A2816430EC6F}" type="slidenum">
              <a:rPr lang="en-US" smtClean="0"/>
              <a:t>37</a:t>
            </a:fld>
            <a:endParaRPr lang="en-US"/>
          </a:p>
        </p:txBody>
      </p:sp>
    </p:spTree>
    <p:extLst>
      <p:ext uri="{BB962C8B-B14F-4D97-AF65-F5344CB8AC3E}">
        <p14:creationId xmlns:p14="http://schemas.microsoft.com/office/powerpoint/2010/main" val="14216078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1" dirty="0"/>
              <a:t>Unaffected</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b="1" dirty="0"/>
              <a:t>Affected. </a:t>
            </a:r>
            <a:r>
              <a:rPr lang="en-US" dirty="0"/>
              <a:t>Atelectasis- collapsed lung tissue due to resorption of air--&gt; increased density  (whiteness) and volume loss</a:t>
            </a:r>
          </a:p>
          <a:p>
            <a:pPr marL="228600" indent="-228600">
              <a:buAutoNum type="arabicPeriod"/>
            </a:pPr>
            <a:r>
              <a:rPr lang="en-US" b="1" dirty="0"/>
              <a:t>Affected </a:t>
            </a:r>
            <a:r>
              <a:rPr lang="en-US" dirty="0"/>
              <a:t>side due to volume loss p. 58</a:t>
            </a:r>
          </a:p>
          <a:p>
            <a:pPr marL="228600" indent="-228600">
              <a:buAutoNum type="arabicPeriod"/>
            </a:pPr>
            <a:r>
              <a:rPr lang="en-US" b="1" dirty="0"/>
              <a:t>Unaffected </a:t>
            </a:r>
            <a:r>
              <a:rPr lang="en-US" dirty="0"/>
              <a:t>p. 39</a:t>
            </a:r>
          </a:p>
          <a:p>
            <a:pPr marL="228600" indent="-228600">
              <a:buAutoNum type="arabicPeriod"/>
            </a:pPr>
            <a:r>
              <a:rPr lang="en-US" dirty="0"/>
              <a:t>Let's add another, pleural effusion pushes the mediastinum to the </a:t>
            </a:r>
            <a:r>
              <a:rPr lang="en-US" b="1" dirty="0"/>
              <a:t>unaffected</a:t>
            </a:r>
            <a:r>
              <a:rPr lang="en-US" dirty="0"/>
              <a:t> side</a:t>
            </a:r>
          </a:p>
          <a:p>
            <a:pPr marL="0" indent="0">
              <a:buFontTx/>
              <a:buNone/>
            </a:pPr>
            <a:endParaRPr lang="en-US" dirty="0"/>
          </a:p>
        </p:txBody>
      </p:sp>
      <p:sp>
        <p:nvSpPr>
          <p:cNvPr id="4" name="Slide Number Placeholder 3"/>
          <p:cNvSpPr>
            <a:spLocks noGrp="1"/>
          </p:cNvSpPr>
          <p:nvPr>
            <p:ph type="sldNum" sz="quarter" idx="5"/>
          </p:nvPr>
        </p:nvSpPr>
        <p:spPr/>
        <p:txBody>
          <a:bodyPr/>
          <a:lstStyle/>
          <a:p>
            <a:fld id="{F1183609-C0BC-7645-917C-A2816430EC6F}" type="slidenum">
              <a:rPr lang="en-US" smtClean="0"/>
              <a:t>38</a:t>
            </a:fld>
            <a:endParaRPr lang="en-US"/>
          </a:p>
        </p:txBody>
      </p:sp>
    </p:spTree>
    <p:extLst>
      <p:ext uri="{BB962C8B-B14F-4D97-AF65-F5344CB8AC3E}">
        <p14:creationId xmlns:p14="http://schemas.microsoft.com/office/powerpoint/2010/main" val="19953262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183609-C0BC-7645-917C-A2816430EC6F}" type="slidenum">
              <a:rPr lang="en-US" smtClean="0"/>
              <a:t>39</a:t>
            </a:fld>
            <a:endParaRPr lang="en-US"/>
          </a:p>
        </p:txBody>
      </p:sp>
    </p:spTree>
    <p:extLst>
      <p:ext uri="{BB962C8B-B14F-4D97-AF65-F5344CB8AC3E}">
        <p14:creationId xmlns:p14="http://schemas.microsoft.com/office/powerpoint/2010/main" val="719258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183609-C0BC-7645-917C-A2816430EC6F}" type="slidenum">
              <a:rPr lang="en-US" smtClean="0"/>
              <a:t>40</a:t>
            </a:fld>
            <a:endParaRPr lang="en-US"/>
          </a:p>
        </p:txBody>
      </p:sp>
    </p:spTree>
    <p:extLst>
      <p:ext uri="{BB962C8B-B14F-4D97-AF65-F5344CB8AC3E}">
        <p14:creationId xmlns:p14="http://schemas.microsoft.com/office/powerpoint/2010/main" val="6801009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183609-C0BC-7645-917C-A2816430EC6F}" type="slidenum">
              <a:rPr lang="en-US" smtClean="0"/>
              <a:t>42</a:t>
            </a:fld>
            <a:endParaRPr lang="en-US"/>
          </a:p>
        </p:txBody>
      </p:sp>
    </p:spTree>
    <p:extLst>
      <p:ext uri="{BB962C8B-B14F-4D97-AF65-F5344CB8AC3E}">
        <p14:creationId xmlns:p14="http://schemas.microsoft.com/office/powerpoint/2010/main" val="19625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0817F9B9-2EF4-5044-AC64-562FE7D74AC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6" name="Notes Placeholder 2">
            <a:extLst>
              <a:ext uri="{FF2B5EF4-FFF2-40B4-BE49-F238E27FC236}">
                <a16:creationId xmlns:a16="http://schemas.microsoft.com/office/drawing/2014/main" id="{86FE11FF-0B30-B248-BE30-74E0478BC6D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1747" name="Slide Number Placeholder 3">
            <a:extLst>
              <a:ext uri="{FF2B5EF4-FFF2-40B4-BE49-F238E27FC236}">
                <a16:creationId xmlns:a16="http://schemas.microsoft.com/office/drawing/2014/main" id="{4AABBBF7-66E5-B04F-9CB8-54AB93E8CD8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3A6C1BA-C00F-0641-8D21-96DEA3C738A4}" type="slidenum">
              <a:rPr lang="en-US" altLang="en-US" smtClean="0">
                <a:latin typeface="Arial" panose="020B0604020202020204" pitchFamily="34" charset="0"/>
              </a:rPr>
              <a:pPr>
                <a:spcBef>
                  <a:spcPct val="0"/>
                </a:spcBef>
              </a:pPr>
              <a:t>43</a:t>
            </a:fld>
            <a:endParaRPr lang="en-US" altLang="en-US">
              <a:latin typeface="Arial" panose="020B0604020202020204" pitchFamily="34" charset="0"/>
            </a:endParaRPr>
          </a:p>
        </p:txBody>
      </p:sp>
    </p:spTree>
    <p:extLst>
      <p:ext uri="{BB962C8B-B14F-4D97-AF65-F5344CB8AC3E}">
        <p14:creationId xmlns:p14="http://schemas.microsoft.com/office/powerpoint/2010/main" val="15856633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183609-C0BC-7645-917C-A2816430EC6F}" type="slidenum">
              <a:rPr lang="en-US" smtClean="0"/>
              <a:t>44</a:t>
            </a:fld>
            <a:endParaRPr lang="en-US"/>
          </a:p>
        </p:txBody>
      </p:sp>
    </p:spTree>
    <p:extLst>
      <p:ext uri="{BB962C8B-B14F-4D97-AF65-F5344CB8AC3E}">
        <p14:creationId xmlns:p14="http://schemas.microsoft.com/office/powerpoint/2010/main" val="13126098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183609-C0BC-7645-917C-A2816430EC6F}" type="slidenum">
              <a:rPr lang="en-US" smtClean="0"/>
              <a:t>46</a:t>
            </a:fld>
            <a:endParaRPr lang="en-US"/>
          </a:p>
        </p:txBody>
      </p:sp>
    </p:spTree>
    <p:extLst>
      <p:ext uri="{BB962C8B-B14F-4D97-AF65-F5344CB8AC3E}">
        <p14:creationId xmlns:p14="http://schemas.microsoft.com/office/powerpoint/2010/main" val="25847763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183609-C0BC-7645-917C-A2816430EC6F}" type="slidenum">
              <a:rPr lang="en-US" smtClean="0"/>
              <a:t>47</a:t>
            </a:fld>
            <a:endParaRPr lang="en-US"/>
          </a:p>
        </p:txBody>
      </p:sp>
    </p:spTree>
    <p:extLst>
      <p:ext uri="{BB962C8B-B14F-4D97-AF65-F5344CB8AC3E}">
        <p14:creationId xmlns:p14="http://schemas.microsoft.com/office/powerpoint/2010/main" val="269203403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183609-C0BC-7645-917C-A2816430EC6F}" type="slidenum">
              <a:rPr lang="en-US" smtClean="0"/>
              <a:t>48</a:t>
            </a:fld>
            <a:endParaRPr lang="en-US"/>
          </a:p>
        </p:txBody>
      </p:sp>
    </p:spTree>
    <p:extLst>
      <p:ext uri="{BB962C8B-B14F-4D97-AF65-F5344CB8AC3E}">
        <p14:creationId xmlns:p14="http://schemas.microsoft.com/office/powerpoint/2010/main" val="168500576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183609-C0BC-7645-917C-A2816430EC6F}" type="slidenum">
              <a:rPr lang="en-US" smtClean="0"/>
              <a:t>49</a:t>
            </a:fld>
            <a:endParaRPr lang="en-US"/>
          </a:p>
        </p:txBody>
      </p:sp>
    </p:spTree>
    <p:extLst>
      <p:ext uri="{BB962C8B-B14F-4D97-AF65-F5344CB8AC3E}">
        <p14:creationId xmlns:p14="http://schemas.microsoft.com/office/powerpoint/2010/main" val="39932261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183609-C0BC-7645-917C-A2816430EC6F}" type="slidenum">
              <a:rPr lang="en-US" smtClean="0"/>
              <a:t>50</a:t>
            </a:fld>
            <a:endParaRPr lang="en-US"/>
          </a:p>
        </p:txBody>
      </p:sp>
    </p:spTree>
    <p:extLst>
      <p:ext uri="{BB962C8B-B14F-4D97-AF65-F5344CB8AC3E}">
        <p14:creationId xmlns:p14="http://schemas.microsoft.com/office/powerpoint/2010/main" val="35060739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183609-C0BC-7645-917C-A2816430EC6F}" type="slidenum">
              <a:rPr lang="en-US" smtClean="0"/>
              <a:t>51</a:t>
            </a:fld>
            <a:endParaRPr lang="en-US"/>
          </a:p>
        </p:txBody>
      </p:sp>
    </p:spTree>
    <p:extLst>
      <p:ext uri="{BB962C8B-B14F-4D97-AF65-F5344CB8AC3E}">
        <p14:creationId xmlns:p14="http://schemas.microsoft.com/office/powerpoint/2010/main" val="135236519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183609-C0BC-7645-917C-A2816430EC6F}" type="slidenum">
              <a:rPr lang="en-US" smtClean="0"/>
              <a:t>52</a:t>
            </a:fld>
            <a:endParaRPr lang="en-US"/>
          </a:p>
        </p:txBody>
      </p:sp>
    </p:spTree>
    <p:extLst>
      <p:ext uri="{BB962C8B-B14F-4D97-AF65-F5344CB8AC3E}">
        <p14:creationId xmlns:p14="http://schemas.microsoft.com/office/powerpoint/2010/main" val="27211211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183609-C0BC-7645-917C-A2816430EC6F}" type="slidenum">
              <a:rPr lang="en-US" smtClean="0"/>
              <a:t>53</a:t>
            </a:fld>
            <a:endParaRPr lang="en-US"/>
          </a:p>
        </p:txBody>
      </p:sp>
    </p:spTree>
    <p:extLst>
      <p:ext uri="{BB962C8B-B14F-4D97-AF65-F5344CB8AC3E}">
        <p14:creationId xmlns:p14="http://schemas.microsoft.com/office/powerpoint/2010/main" val="80599985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183609-C0BC-7645-917C-A2816430EC6F}" type="slidenum">
              <a:rPr lang="en-US" smtClean="0"/>
              <a:t>54</a:t>
            </a:fld>
            <a:endParaRPr lang="en-US"/>
          </a:p>
        </p:txBody>
      </p:sp>
    </p:spTree>
    <p:extLst>
      <p:ext uri="{BB962C8B-B14F-4D97-AF65-F5344CB8AC3E}">
        <p14:creationId xmlns:p14="http://schemas.microsoft.com/office/powerpoint/2010/main" val="30298975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71CC1-CE5F-EE4A-A3C4-9109313AAE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2173DB-306A-A940-8F0C-66D0051CA4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AC00B53-EE13-6245-A7D6-F2D0F4603EB8}"/>
              </a:ext>
            </a:extLst>
          </p:cNvPr>
          <p:cNvSpPr>
            <a:spLocks noGrp="1"/>
          </p:cNvSpPr>
          <p:nvPr>
            <p:ph type="dt" sz="half" idx="10"/>
          </p:nvPr>
        </p:nvSpPr>
        <p:spPr/>
        <p:txBody>
          <a:bodyPr/>
          <a:lstStyle/>
          <a:p>
            <a:fld id="{0542C8C6-1B14-D749-8955-480835340C65}" type="datetimeFigureOut">
              <a:rPr lang="en-US" smtClean="0"/>
              <a:t>3/27/23</a:t>
            </a:fld>
            <a:endParaRPr lang="en-US"/>
          </a:p>
        </p:txBody>
      </p:sp>
      <p:sp>
        <p:nvSpPr>
          <p:cNvPr id="5" name="Footer Placeholder 4">
            <a:extLst>
              <a:ext uri="{FF2B5EF4-FFF2-40B4-BE49-F238E27FC236}">
                <a16:creationId xmlns:a16="http://schemas.microsoft.com/office/drawing/2014/main" id="{34B501B8-92CA-BF48-9209-CEDDF37594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A2EECC-3BDA-984F-9A9F-8CDCD78D7B67}"/>
              </a:ext>
            </a:extLst>
          </p:cNvPr>
          <p:cNvSpPr>
            <a:spLocks noGrp="1"/>
          </p:cNvSpPr>
          <p:nvPr>
            <p:ph type="sldNum" sz="quarter" idx="12"/>
          </p:nvPr>
        </p:nvSpPr>
        <p:spPr/>
        <p:txBody>
          <a:bodyPr/>
          <a:lstStyle/>
          <a:p>
            <a:fld id="{475883ED-A758-7047-AD44-F7AD84DF6300}" type="slidenum">
              <a:rPr lang="en-US" smtClean="0"/>
              <a:t>‹#›</a:t>
            </a:fld>
            <a:endParaRPr lang="en-US"/>
          </a:p>
        </p:txBody>
      </p:sp>
    </p:spTree>
    <p:extLst>
      <p:ext uri="{BB962C8B-B14F-4D97-AF65-F5344CB8AC3E}">
        <p14:creationId xmlns:p14="http://schemas.microsoft.com/office/powerpoint/2010/main" val="1709631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65686-F653-894D-AE9B-3B01AD680D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95B581-F7DA-7F49-B560-20C7FFC37FE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3BB9D7-B2B6-E54B-8AB8-314C07CD9150}"/>
              </a:ext>
            </a:extLst>
          </p:cNvPr>
          <p:cNvSpPr>
            <a:spLocks noGrp="1"/>
          </p:cNvSpPr>
          <p:nvPr>
            <p:ph type="dt" sz="half" idx="10"/>
          </p:nvPr>
        </p:nvSpPr>
        <p:spPr/>
        <p:txBody>
          <a:bodyPr/>
          <a:lstStyle/>
          <a:p>
            <a:fld id="{0542C8C6-1B14-D749-8955-480835340C65}" type="datetimeFigureOut">
              <a:rPr lang="en-US" smtClean="0"/>
              <a:t>3/27/23</a:t>
            </a:fld>
            <a:endParaRPr lang="en-US"/>
          </a:p>
        </p:txBody>
      </p:sp>
      <p:sp>
        <p:nvSpPr>
          <p:cNvPr id="5" name="Footer Placeholder 4">
            <a:extLst>
              <a:ext uri="{FF2B5EF4-FFF2-40B4-BE49-F238E27FC236}">
                <a16:creationId xmlns:a16="http://schemas.microsoft.com/office/drawing/2014/main" id="{B2C29503-E98E-F44F-9B0F-E69F833D9E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A86D93-8A02-874C-A963-6DBE3B474E3F}"/>
              </a:ext>
            </a:extLst>
          </p:cNvPr>
          <p:cNvSpPr>
            <a:spLocks noGrp="1"/>
          </p:cNvSpPr>
          <p:nvPr>
            <p:ph type="sldNum" sz="quarter" idx="12"/>
          </p:nvPr>
        </p:nvSpPr>
        <p:spPr/>
        <p:txBody>
          <a:bodyPr/>
          <a:lstStyle/>
          <a:p>
            <a:fld id="{475883ED-A758-7047-AD44-F7AD84DF6300}" type="slidenum">
              <a:rPr lang="en-US" smtClean="0"/>
              <a:t>‹#›</a:t>
            </a:fld>
            <a:endParaRPr lang="en-US"/>
          </a:p>
        </p:txBody>
      </p:sp>
    </p:spTree>
    <p:extLst>
      <p:ext uri="{BB962C8B-B14F-4D97-AF65-F5344CB8AC3E}">
        <p14:creationId xmlns:p14="http://schemas.microsoft.com/office/powerpoint/2010/main" val="35971303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8CFED-CAED-9A41-8A96-22917EF095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E7C4A43-273F-B64D-888E-E9EF92580B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81FD1C2-BCBD-0445-A358-9F68C83A6F21}"/>
              </a:ext>
            </a:extLst>
          </p:cNvPr>
          <p:cNvSpPr>
            <a:spLocks noGrp="1"/>
          </p:cNvSpPr>
          <p:nvPr>
            <p:ph type="dt" sz="half" idx="10"/>
          </p:nvPr>
        </p:nvSpPr>
        <p:spPr/>
        <p:txBody>
          <a:bodyPr/>
          <a:lstStyle/>
          <a:p>
            <a:fld id="{0542C8C6-1B14-D749-8955-480835340C65}" type="datetimeFigureOut">
              <a:rPr lang="en-US" smtClean="0"/>
              <a:t>3/27/23</a:t>
            </a:fld>
            <a:endParaRPr lang="en-US"/>
          </a:p>
        </p:txBody>
      </p:sp>
      <p:sp>
        <p:nvSpPr>
          <p:cNvPr id="5" name="Footer Placeholder 4">
            <a:extLst>
              <a:ext uri="{FF2B5EF4-FFF2-40B4-BE49-F238E27FC236}">
                <a16:creationId xmlns:a16="http://schemas.microsoft.com/office/drawing/2014/main" id="{C3CEBFF8-E689-D34B-B37F-C33DB54436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FB7416-53CC-6D4C-88A3-33EB54EC2A98}"/>
              </a:ext>
            </a:extLst>
          </p:cNvPr>
          <p:cNvSpPr>
            <a:spLocks noGrp="1"/>
          </p:cNvSpPr>
          <p:nvPr>
            <p:ph type="sldNum" sz="quarter" idx="12"/>
          </p:nvPr>
        </p:nvSpPr>
        <p:spPr/>
        <p:txBody>
          <a:bodyPr/>
          <a:lstStyle/>
          <a:p>
            <a:fld id="{475883ED-A758-7047-AD44-F7AD84DF6300}" type="slidenum">
              <a:rPr lang="en-US" smtClean="0"/>
              <a:t>‹#›</a:t>
            </a:fld>
            <a:endParaRPr lang="en-US"/>
          </a:p>
        </p:txBody>
      </p:sp>
    </p:spTree>
    <p:extLst>
      <p:ext uri="{BB962C8B-B14F-4D97-AF65-F5344CB8AC3E}">
        <p14:creationId xmlns:p14="http://schemas.microsoft.com/office/powerpoint/2010/main" val="42654278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F5F02-F8CF-6143-8376-0D2D9DF7AC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7C382F6-F10D-A54F-B982-B7E310424EE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FC16B56-7960-0A47-9572-9918DB0611D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D5A2867-E5E3-174D-81D2-4403918F4E3C}"/>
              </a:ext>
            </a:extLst>
          </p:cNvPr>
          <p:cNvSpPr>
            <a:spLocks noGrp="1"/>
          </p:cNvSpPr>
          <p:nvPr>
            <p:ph type="dt" sz="half" idx="10"/>
          </p:nvPr>
        </p:nvSpPr>
        <p:spPr/>
        <p:txBody>
          <a:bodyPr/>
          <a:lstStyle/>
          <a:p>
            <a:fld id="{0542C8C6-1B14-D749-8955-480835340C65}" type="datetimeFigureOut">
              <a:rPr lang="en-US" smtClean="0"/>
              <a:t>3/27/23</a:t>
            </a:fld>
            <a:endParaRPr lang="en-US"/>
          </a:p>
        </p:txBody>
      </p:sp>
      <p:sp>
        <p:nvSpPr>
          <p:cNvPr id="6" name="Footer Placeholder 5">
            <a:extLst>
              <a:ext uri="{FF2B5EF4-FFF2-40B4-BE49-F238E27FC236}">
                <a16:creationId xmlns:a16="http://schemas.microsoft.com/office/drawing/2014/main" id="{AE9D5656-55C7-D941-AAB3-22C14270B3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15038D-29BF-EF44-96B7-2260B5940A2F}"/>
              </a:ext>
            </a:extLst>
          </p:cNvPr>
          <p:cNvSpPr>
            <a:spLocks noGrp="1"/>
          </p:cNvSpPr>
          <p:nvPr>
            <p:ph type="sldNum" sz="quarter" idx="12"/>
          </p:nvPr>
        </p:nvSpPr>
        <p:spPr/>
        <p:txBody>
          <a:bodyPr/>
          <a:lstStyle/>
          <a:p>
            <a:fld id="{475883ED-A758-7047-AD44-F7AD84DF6300}" type="slidenum">
              <a:rPr lang="en-US" smtClean="0"/>
              <a:t>‹#›</a:t>
            </a:fld>
            <a:endParaRPr lang="en-US"/>
          </a:p>
        </p:txBody>
      </p:sp>
    </p:spTree>
    <p:extLst>
      <p:ext uri="{BB962C8B-B14F-4D97-AF65-F5344CB8AC3E}">
        <p14:creationId xmlns:p14="http://schemas.microsoft.com/office/powerpoint/2010/main" val="4189097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3D2BA-88AF-A545-BCB1-CA6DE271E0B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AA408A0-3BB0-EF48-ADC1-B6AE631C95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7D24435-3FDA-6442-BD80-14BB37EC697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1802D3-26F8-EB45-8F45-AE3D1A793A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DB05253-D27A-4549-875B-5CB787AD688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93F51B-1B67-8E45-BDBD-0684778B139F}"/>
              </a:ext>
            </a:extLst>
          </p:cNvPr>
          <p:cNvSpPr>
            <a:spLocks noGrp="1"/>
          </p:cNvSpPr>
          <p:nvPr>
            <p:ph type="dt" sz="half" idx="10"/>
          </p:nvPr>
        </p:nvSpPr>
        <p:spPr/>
        <p:txBody>
          <a:bodyPr/>
          <a:lstStyle/>
          <a:p>
            <a:fld id="{0542C8C6-1B14-D749-8955-480835340C65}" type="datetimeFigureOut">
              <a:rPr lang="en-US" smtClean="0"/>
              <a:t>3/27/23</a:t>
            </a:fld>
            <a:endParaRPr lang="en-US"/>
          </a:p>
        </p:txBody>
      </p:sp>
      <p:sp>
        <p:nvSpPr>
          <p:cNvPr id="8" name="Footer Placeholder 7">
            <a:extLst>
              <a:ext uri="{FF2B5EF4-FFF2-40B4-BE49-F238E27FC236}">
                <a16:creationId xmlns:a16="http://schemas.microsoft.com/office/drawing/2014/main" id="{A372043B-C9CA-E646-AEE7-07A1B0A1DCF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7340169-51DD-5241-8DA1-79DF78343B4E}"/>
              </a:ext>
            </a:extLst>
          </p:cNvPr>
          <p:cNvSpPr>
            <a:spLocks noGrp="1"/>
          </p:cNvSpPr>
          <p:nvPr>
            <p:ph type="sldNum" sz="quarter" idx="12"/>
          </p:nvPr>
        </p:nvSpPr>
        <p:spPr/>
        <p:txBody>
          <a:bodyPr/>
          <a:lstStyle/>
          <a:p>
            <a:fld id="{475883ED-A758-7047-AD44-F7AD84DF6300}" type="slidenum">
              <a:rPr lang="en-US" smtClean="0"/>
              <a:t>‹#›</a:t>
            </a:fld>
            <a:endParaRPr lang="en-US"/>
          </a:p>
        </p:txBody>
      </p:sp>
    </p:spTree>
    <p:extLst>
      <p:ext uri="{BB962C8B-B14F-4D97-AF65-F5344CB8AC3E}">
        <p14:creationId xmlns:p14="http://schemas.microsoft.com/office/powerpoint/2010/main" val="1805368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3FF47-1E87-4B47-A00E-CD31DEFC59C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060854-F043-554F-ADCF-DBDBCE8477BE}"/>
              </a:ext>
            </a:extLst>
          </p:cNvPr>
          <p:cNvSpPr>
            <a:spLocks noGrp="1"/>
          </p:cNvSpPr>
          <p:nvPr>
            <p:ph type="dt" sz="half" idx="10"/>
          </p:nvPr>
        </p:nvSpPr>
        <p:spPr/>
        <p:txBody>
          <a:bodyPr/>
          <a:lstStyle/>
          <a:p>
            <a:fld id="{0542C8C6-1B14-D749-8955-480835340C65}" type="datetimeFigureOut">
              <a:rPr lang="en-US" smtClean="0"/>
              <a:t>3/27/23</a:t>
            </a:fld>
            <a:endParaRPr lang="en-US"/>
          </a:p>
        </p:txBody>
      </p:sp>
      <p:sp>
        <p:nvSpPr>
          <p:cNvPr id="4" name="Footer Placeholder 3">
            <a:extLst>
              <a:ext uri="{FF2B5EF4-FFF2-40B4-BE49-F238E27FC236}">
                <a16:creationId xmlns:a16="http://schemas.microsoft.com/office/drawing/2014/main" id="{B3E4B06E-F690-B44B-A128-C0373B05747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89F1ED6-2A63-AB4C-ADE0-D158324E1CC9}"/>
              </a:ext>
            </a:extLst>
          </p:cNvPr>
          <p:cNvSpPr>
            <a:spLocks noGrp="1"/>
          </p:cNvSpPr>
          <p:nvPr>
            <p:ph type="sldNum" sz="quarter" idx="12"/>
          </p:nvPr>
        </p:nvSpPr>
        <p:spPr/>
        <p:txBody>
          <a:bodyPr/>
          <a:lstStyle/>
          <a:p>
            <a:fld id="{475883ED-A758-7047-AD44-F7AD84DF6300}" type="slidenum">
              <a:rPr lang="en-US" smtClean="0"/>
              <a:t>‹#›</a:t>
            </a:fld>
            <a:endParaRPr lang="en-US"/>
          </a:p>
        </p:txBody>
      </p:sp>
    </p:spTree>
    <p:extLst>
      <p:ext uri="{BB962C8B-B14F-4D97-AF65-F5344CB8AC3E}">
        <p14:creationId xmlns:p14="http://schemas.microsoft.com/office/powerpoint/2010/main" val="1268012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55673D-0323-5542-9A8C-A5B890C61ADE}"/>
              </a:ext>
            </a:extLst>
          </p:cNvPr>
          <p:cNvSpPr>
            <a:spLocks noGrp="1"/>
          </p:cNvSpPr>
          <p:nvPr>
            <p:ph type="dt" sz="half" idx="10"/>
          </p:nvPr>
        </p:nvSpPr>
        <p:spPr/>
        <p:txBody>
          <a:bodyPr/>
          <a:lstStyle/>
          <a:p>
            <a:fld id="{0542C8C6-1B14-D749-8955-480835340C65}" type="datetimeFigureOut">
              <a:rPr lang="en-US" smtClean="0"/>
              <a:t>3/27/23</a:t>
            </a:fld>
            <a:endParaRPr lang="en-US"/>
          </a:p>
        </p:txBody>
      </p:sp>
      <p:sp>
        <p:nvSpPr>
          <p:cNvPr id="3" name="Footer Placeholder 2">
            <a:extLst>
              <a:ext uri="{FF2B5EF4-FFF2-40B4-BE49-F238E27FC236}">
                <a16:creationId xmlns:a16="http://schemas.microsoft.com/office/drawing/2014/main" id="{7352A043-C6E8-064D-B397-C1E9D793D17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C8A9967-3729-A844-BC41-D403A4BB9F1E}"/>
              </a:ext>
            </a:extLst>
          </p:cNvPr>
          <p:cNvSpPr>
            <a:spLocks noGrp="1"/>
          </p:cNvSpPr>
          <p:nvPr>
            <p:ph type="sldNum" sz="quarter" idx="12"/>
          </p:nvPr>
        </p:nvSpPr>
        <p:spPr/>
        <p:txBody>
          <a:bodyPr/>
          <a:lstStyle/>
          <a:p>
            <a:fld id="{475883ED-A758-7047-AD44-F7AD84DF6300}" type="slidenum">
              <a:rPr lang="en-US" smtClean="0"/>
              <a:t>‹#›</a:t>
            </a:fld>
            <a:endParaRPr lang="en-US"/>
          </a:p>
        </p:txBody>
      </p:sp>
    </p:spTree>
    <p:extLst>
      <p:ext uri="{BB962C8B-B14F-4D97-AF65-F5344CB8AC3E}">
        <p14:creationId xmlns:p14="http://schemas.microsoft.com/office/powerpoint/2010/main" val="722920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F19B8-DA44-0E4F-B8A1-D46471DF46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89425E-C24A-3F43-AB9D-9615FB8E03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75F4B6B-91AF-3D4D-B12D-CED3B8D9CC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1995F2B-A6CF-3540-917E-EF6EA744D8A7}"/>
              </a:ext>
            </a:extLst>
          </p:cNvPr>
          <p:cNvSpPr>
            <a:spLocks noGrp="1"/>
          </p:cNvSpPr>
          <p:nvPr>
            <p:ph type="dt" sz="half" idx="10"/>
          </p:nvPr>
        </p:nvSpPr>
        <p:spPr/>
        <p:txBody>
          <a:bodyPr/>
          <a:lstStyle/>
          <a:p>
            <a:fld id="{0542C8C6-1B14-D749-8955-480835340C65}" type="datetimeFigureOut">
              <a:rPr lang="en-US" smtClean="0"/>
              <a:t>3/27/23</a:t>
            </a:fld>
            <a:endParaRPr lang="en-US"/>
          </a:p>
        </p:txBody>
      </p:sp>
      <p:sp>
        <p:nvSpPr>
          <p:cNvPr id="6" name="Footer Placeholder 5">
            <a:extLst>
              <a:ext uri="{FF2B5EF4-FFF2-40B4-BE49-F238E27FC236}">
                <a16:creationId xmlns:a16="http://schemas.microsoft.com/office/drawing/2014/main" id="{DFFA111E-125F-E14E-A632-EC07DA4D4A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80E97F-C24B-C24C-BD85-E1ECBA10CA6B}"/>
              </a:ext>
            </a:extLst>
          </p:cNvPr>
          <p:cNvSpPr>
            <a:spLocks noGrp="1"/>
          </p:cNvSpPr>
          <p:nvPr>
            <p:ph type="sldNum" sz="quarter" idx="12"/>
          </p:nvPr>
        </p:nvSpPr>
        <p:spPr/>
        <p:txBody>
          <a:bodyPr/>
          <a:lstStyle/>
          <a:p>
            <a:fld id="{475883ED-A758-7047-AD44-F7AD84DF6300}" type="slidenum">
              <a:rPr lang="en-US" smtClean="0"/>
              <a:t>‹#›</a:t>
            </a:fld>
            <a:endParaRPr lang="en-US"/>
          </a:p>
        </p:txBody>
      </p:sp>
    </p:spTree>
    <p:extLst>
      <p:ext uri="{BB962C8B-B14F-4D97-AF65-F5344CB8AC3E}">
        <p14:creationId xmlns:p14="http://schemas.microsoft.com/office/powerpoint/2010/main" val="1623731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7924A-10F9-7044-B404-310F6FC429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F1E6CD6-5624-F642-B519-E744D45AA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5250C91-6BD6-C747-A681-31E6382950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0500C08-68F0-B94A-AAA3-904852D9805F}"/>
              </a:ext>
            </a:extLst>
          </p:cNvPr>
          <p:cNvSpPr>
            <a:spLocks noGrp="1"/>
          </p:cNvSpPr>
          <p:nvPr>
            <p:ph type="dt" sz="half" idx="10"/>
          </p:nvPr>
        </p:nvSpPr>
        <p:spPr/>
        <p:txBody>
          <a:bodyPr/>
          <a:lstStyle/>
          <a:p>
            <a:fld id="{0542C8C6-1B14-D749-8955-480835340C65}" type="datetimeFigureOut">
              <a:rPr lang="en-US" smtClean="0"/>
              <a:t>3/27/23</a:t>
            </a:fld>
            <a:endParaRPr lang="en-US"/>
          </a:p>
        </p:txBody>
      </p:sp>
      <p:sp>
        <p:nvSpPr>
          <p:cNvPr id="6" name="Footer Placeholder 5">
            <a:extLst>
              <a:ext uri="{FF2B5EF4-FFF2-40B4-BE49-F238E27FC236}">
                <a16:creationId xmlns:a16="http://schemas.microsoft.com/office/drawing/2014/main" id="{4F05E40F-769F-2B46-AEAD-F482F8193E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29ABD8-A94F-1B49-BC60-D3BD188FCB3A}"/>
              </a:ext>
            </a:extLst>
          </p:cNvPr>
          <p:cNvSpPr>
            <a:spLocks noGrp="1"/>
          </p:cNvSpPr>
          <p:nvPr>
            <p:ph type="sldNum" sz="quarter" idx="12"/>
          </p:nvPr>
        </p:nvSpPr>
        <p:spPr/>
        <p:txBody>
          <a:bodyPr/>
          <a:lstStyle/>
          <a:p>
            <a:fld id="{475883ED-A758-7047-AD44-F7AD84DF6300}" type="slidenum">
              <a:rPr lang="en-US" smtClean="0"/>
              <a:t>‹#›</a:t>
            </a:fld>
            <a:endParaRPr lang="en-US"/>
          </a:p>
        </p:txBody>
      </p:sp>
    </p:spTree>
    <p:extLst>
      <p:ext uri="{BB962C8B-B14F-4D97-AF65-F5344CB8AC3E}">
        <p14:creationId xmlns:p14="http://schemas.microsoft.com/office/powerpoint/2010/main" val="317172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E62C-E28B-1641-87FC-0B6ABABFD64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56B58E-D1B1-A64E-9C59-70FB6055563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6DC2A6-8BBC-AF4E-9200-133A2DF6C7D1}"/>
              </a:ext>
            </a:extLst>
          </p:cNvPr>
          <p:cNvSpPr>
            <a:spLocks noGrp="1"/>
          </p:cNvSpPr>
          <p:nvPr>
            <p:ph type="dt" sz="half" idx="10"/>
          </p:nvPr>
        </p:nvSpPr>
        <p:spPr/>
        <p:txBody>
          <a:bodyPr/>
          <a:lstStyle/>
          <a:p>
            <a:fld id="{0542C8C6-1B14-D749-8955-480835340C65}" type="datetimeFigureOut">
              <a:rPr lang="en-US" smtClean="0"/>
              <a:t>3/27/23</a:t>
            </a:fld>
            <a:endParaRPr lang="en-US"/>
          </a:p>
        </p:txBody>
      </p:sp>
      <p:sp>
        <p:nvSpPr>
          <p:cNvPr id="5" name="Footer Placeholder 4">
            <a:extLst>
              <a:ext uri="{FF2B5EF4-FFF2-40B4-BE49-F238E27FC236}">
                <a16:creationId xmlns:a16="http://schemas.microsoft.com/office/drawing/2014/main" id="{DF77037C-713F-4747-96D0-97587C4A9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03ED17-08F3-E34E-86DA-CE412795B415}"/>
              </a:ext>
            </a:extLst>
          </p:cNvPr>
          <p:cNvSpPr>
            <a:spLocks noGrp="1"/>
          </p:cNvSpPr>
          <p:nvPr>
            <p:ph type="sldNum" sz="quarter" idx="12"/>
          </p:nvPr>
        </p:nvSpPr>
        <p:spPr/>
        <p:txBody>
          <a:bodyPr/>
          <a:lstStyle/>
          <a:p>
            <a:fld id="{475883ED-A758-7047-AD44-F7AD84DF6300}" type="slidenum">
              <a:rPr lang="en-US" smtClean="0"/>
              <a:t>‹#›</a:t>
            </a:fld>
            <a:endParaRPr lang="en-US"/>
          </a:p>
        </p:txBody>
      </p:sp>
    </p:spTree>
    <p:extLst>
      <p:ext uri="{BB962C8B-B14F-4D97-AF65-F5344CB8AC3E}">
        <p14:creationId xmlns:p14="http://schemas.microsoft.com/office/powerpoint/2010/main" val="2609484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172736-AC31-E84E-9045-C2C811A7046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2A7EF5-7B42-2347-A830-948AE0C2FF1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B49985-2A69-014F-A9CA-F2CC559D4145}"/>
              </a:ext>
            </a:extLst>
          </p:cNvPr>
          <p:cNvSpPr>
            <a:spLocks noGrp="1"/>
          </p:cNvSpPr>
          <p:nvPr>
            <p:ph type="dt" sz="half" idx="10"/>
          </p:nvPr>
        </p:nvSpPr>
        <p:spPr/>
        <p:txBody>
          <a:bodyPr/>
          <a:lstStyle/>
          <a:p>
            <a:fld id="{0542C8C6-1B14-D749-8955-480835340C65}" type="datetimeFigureOut">
              <a:rPr lang="en-US" smtClean="0"/>
              <a:t>3/27/23</a:t>
            </a:fld>
            <a:endParaRPr lang="en-US"/>
          </a:p>
        </p:txBody>
      </p:sp>
      <p:sp>
        <p:nvSpPr>
          <p:cNvPr id="5" name="Footer Placeholder 4">
            <a:extLst>
              <a:ext uri="{FF2B5EF4-FFF2-40B4-BE49-F238E27FC236}">
                <a16:creationId xmlns:a16="http://schemas.microsoft.com/office/drawing/2014/main" id="{3F3143B0-085A-4E49-B3B1-80EFCAD031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D31EE6-88BD-564A-95AC-579EF2FB0BCC}"/>
              </a:ext>
            </a:extLst>
          </p:cNvPr>
          <p:cNvSpPr>
            <a:spLocks noGrp="1"/>
          </p:cNvSpPr>
          <p:nvPr>
            <p:ph type="sldNum" sz="quarter" idx="12"/>
          </p:nvPr>
        </p:nvSpPr>
        <p:spPr/>
        <p:txBody>
          <a:bodyPr/>
          <a:lstStyle/>
          <a:p>
            <a:fld id="{475883ED-A758-7047-AD44-F7AD84DF6300}" type="slidenum">
              <a:rPr lang="en-US" smtClean="0"/>
              <a:t>‹#›</a:t>
            </a:fld>
            <a:endParaRPr lang="en-US"/>
          </a:p>
        </p:txBody>
      </p:sp>
    </p:spTree>
    <p:extLst>
      <p:ext uri="{BB962C8B-B14F-4D97-AF65-F5344CB8AC3E}">
        <p14:creationId xmlns:p14="http://schemas.microsoft.com/office/powerpoint/2010/main" val="3960727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46FFCB-4C12-0244-B013-C97943B5F9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5B7999-D27D-3440-94C6-6BD9E2A94F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D24B1E-C0CF-D14E-8F9B-8CE93F6AB1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42C8C6-1B14-D749-8955-480835340C65}" type="datetimeFigureOut">
              <a:rPr lang="en-US" smtClean="0"/>
              <a:t>3/27/23</a:t>
            </a:fld>
            <a:endParaRPr lang="en-US"/>
          </a:p>
        </p:txBody>
      </p:sp>
      <p:sp>
        <p:nvSpPr>
          <p:cNvPr id="5" name="Footer Placeholder 4">
            <a:extLst>
              <a:ext uri="{FF2B5EF4-FFF2-40B4-BE49-F238E27FC236}">
                <a16:creationId xmlns:a16="http://schemas.microsoft.com/office/drawing/2014/main" id="{79E23D5C-6D9D-AB4C-B4BB-396444895F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F951FE7-8DA9-024E-AEE1-5BBFC716DF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5883ED-A758-7047-AD44-F7AD84DF6300}" type="slidenum">
              <a:rPr lang="en-US" smtClean="0"/>
              <a:t>‹#›</a:t>
            </a:fld>
            <a:endParaRPr lang="en-US"/>
          </a:p>
        </p:txBody>
      </p:sp>
    </p:spTree>
    <p:extLst>
      <p:ext uri="{BB962C8B-B14F-4D97-AF65-F5344CB8AC3E}">
        <p14:creationId xmlns:p14="http://schemas.microsoft.com/office/powerpoint/2010/main" val="247554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tif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9.tif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5.tif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6.tiff"/><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7.tiff"/><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hyperlink" Target="https://www.radiologymasterclass.co.uk/" TargetMode="External"/><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7F14F-F0AC-6946-BFF8-0FCFCE3673EF}"/>
              </a:ext>
            </a:extLst>
          </p:cNvPr>
          <p:cNvSpPr>
            <a:spLocks noGrp="1"/>
          </p:cNvSpPr>
          <p:nvPr>
            <p:ph type="ctrTitle"/>
          </p:nvPr>
        </p:nvSpPr>
        <p:spPr/>
        <p:txBody>
          <a:bodyPr/>
          <a:lstStyle/>
          <a:p>
            <a:r>
              <a:rPr lang="en-US" dirty="0">
                <a:solidFill>
                  <a:srgbClr val="7030A0"/>
                </a:solidFill>
                <a:latin typeface="+mn-lt"/>
              </a:rPr>
              <a:t>Essentials of Radiology: CXR Interpretation &amp; Application</a:t>
            </a:r>
          </a:p>
        </p:txBody>
      </p:sp>
      <p:sp>
        <p:nvSpPr>
          <p:cNvPr id="3" name="Subtitle 2">
            <a:extLst>
              <a:ext uri="{FF2B5EF4-FFF2-40B4-BE49-F238E27FC236}">
                <a16:creationId xmlns:a16="http://schemas.microsoft.com/office/drawing/2014/main" id="{F4978B60-2263-B144-AE9B-DCBED80758A2}"/>
              </a:ext>
            </a:extLst>
          </p:cNvPr>
          <p:cNvSpPr>
            <a:spLocks noGrp="1"/>
          </p:cNvSpPr>
          <p:nvPr>
            <p:ph type="subTitle" idx="1"/>
          </p:nvPr>
        </p:nvSpPr>
        <p:spPr/>
        <p:txBody>
          <a:bodyPr/>
          <a:lstStyle/>
          <a:p>
            <a:r>
              <a:rPr lang="en-US" dirty="0"/>
              <a:t>Allan Lovern, PhD(c), DNP, CRNA, FNP-BC, CNE</a:t>
            </a:r>
          </a:p>
          <a:p>
            <a:r>
              <a:rPr lang="en-US" dirty="0"/>
              <a:t>March 2023</a:t>
            </a:r>
          </a:p>
          <a:p>
            <a:r>
              <a:rPr lang="en-US" dirty="0"/>
              <a:t>University of Southern Mississippi</a:t>
            </a:r>
          </a:p>
          <a:p>
            <a:endParaRPr lang="en-US" dirty="0"/>
          </a:p>
        </p:txBody>
      </p:sp>
    </p:spTree>
    <p:extLst>
      <p:ext uri="{BB962C8B-B14F-4D97-AF65-F5344CB8AC3E}">
        <p14:creationId xmlns:p14="http://schemas.microsoft.com/office/powerpoint/2010/main" val="816782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36501-19C0-2A4D-9BF6-97043EE4C924}"/>
              </a:ext>
            </a:extLst>
          </p:cNvPr>
          <p:cNvSpPr>
            <a:spLocks noGrp="1"/>
          </p:cNvSpPr>
          <p:nvPr>
            <p:ph type="title"/>
          </p:nvPr>
        </p:nvSpPr>
        <p:spPr/>
        <p:txBody>
          <a:bodyPr/>
          <a:lstStyle/>
          <a:p>
            <a:pPr algn="ctr"/>
            <a:r>
              <a:rPr lang="en-US" dirty="0">
                <a:solidFill>
                  <a:schemeClr val="accent1"/>
                </a:solidFill>
                <a:latin typeface="+mn-lt"/>
              </a:rPr>
              <a:t>Outline</a:t>
            </a:r>
          </a:p>
        </p:txBody>
      </p:sp>
      <p:sp>
        <p:nvSpPr>
          <p:cNvPr id="3" name="Content Placeholder 2">
            <a:extLst>
              <a:ext uri="{FF2B5EF4-FFF2-40B4-BE49-F238E27FC236}">
                <a16:creationId xmlns:a16="http://schemas.microsoft.com/office/drawing/2014/main" id="{56EC4BA3-19FE-1C41-BF5E-0E056F6A5F09}"/>
              </a:ext>
            </a:extLst>
          </p:cNvPr>
          <p:cNvSpPr>
            <a:spLocks noGrp="1"/>
          </p:cNvSpPr>
          <p:nvPr>
            <p:ph idx="1"/>
          </p:nvPr>
        </p:nvSpPr>
        <p:spPr/>
        <p:txBody>
          <a:bodyPr>
            <a:normAutofit lnSpcReduction="10000"/>
          </a:bodyPr>
          <a:lstStyle/>
          <a:p>
            <a:r>
              <a:rPr lang="en-US" dirty="0"/>
              <a:t>Basic terminology and concepts</a:t>
            </a:r>
          </a:p>
          <a:p>
            <a:r>
              <a:rPr lang="en-US" dirty="0"/>
              <a:t>Common conditions that CRNAs/SRNAs might encounter:</a:t>
            </a:r>
          </a:p>
          <a:p>
            <a:pPr lvl="1"/>
            <a:r>
              <a:rPr lang="en-US" dirty="0"/>
              <a:t>pneumothorax</a:t>
            </a:r>
          </a:p>
          <a:p>
            <a:pPr lvl="1"/>
            <a:r>
              <a:rPr lang="en-US" dirty="0"/>
              <a:t>pleural effusion</a:t>
            </a:r>
          </a:p>
          <a:p>
            <a:pPr lvl="1"/>
            <a:r>
              <a:rPr lang="en-US" dirty="0"/>
              <a:t>atelectasis</a:t>
            </a:r>
          </a:p>
          <a:p>
            <a:pPr lvl="1"/>
            <a:r>
              <a:rPr lang="en-US" dirty="0"/>
              <a:t>aspiration pneumonia</a:t>
            </a:r>
          </a:p>
          <a:p>
            <a:pPr lvl="1"/>
            <a:r>
              <a:rPr lang="en-US" dirty="0"/>
              <a:t>foreign body obstruction</a:t>
            </a:r>
          </a:p>
          <a:p>
            <a:pPr lvl="1"/>
            <a:r>
              <a:rPr lang="en-US" dirty="0"/>
              <a:t>mediastinal masses</a:t>
            </a:r>
          </a:p>
          <a:p>
            <a:r>
              <a:rPr lang="en-US" dirty="0"/>
              <a:t>View and discuss CXRs</a:t>
            </a:r>
          </a:p>
          <a:p>
            <a:r>
              <a:rPr lang="en-US" dirty="0"/>
              <a:t>Learning assessment and review</a:t>
            </a:r>
          </a:p>
          <a:p>
            <a:pPr marL="0" indent="0">
              <a:buNone/>
            </a:pPr>
            <a:endParaRPr lang="en-US" dirty="0"/>
          </a:p>
          <a:p>
            <a:pPr lvl="1"/>
            <a:endParaRPr lang="en-US" dirty="0"/>
          </a:p>
        </p:txBody>
      </p:sp>
    </p:spTree>
    <p:extLst>
      <p:ext uri="{BB962C8B-B14F-4D97-AF65-F5344CB8AC3E}">
        <p14:creationId xmlns:p14="http://schemas.microsoft.com/office/powerpoint/2010/main" val="1406265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a:extLst>
              <a:ext uri="{FF2B5EF4-FFF2-40B4-BE49-F238E27FC236}">
                <a16:creationId xmlns:a16="http://schemas.microsoft.com/office/drawing/2014/main" id="{20F81F85-D4C3-4543-955E-D131F975C88A}"/>
              </a:ext>
            </a:extLst>
          </p:cNvPr>
          <p:cNvSpPr>
            <a:spLocks noGrp="1" noChangeArrowheads="1"/>
          </p:cNvSpPr>
          <p:nvPr>
            <p:ph type="title"/>
          </p:nvPr>
        </p:nvSpPr>
        <p:spPr>
          <a:xfrm>
            <a:off x="609600" y="2779713"/>
            <a:ext cx="10515600" cy="1325563"/>
          </a:xfrm>
        </p:spPr>
        <p:txBody>
          <a:bodyPr/>
          <a:lstStyle/>
          <a:p>
            <a:r>
              <a:rPr lang="en-US" altLang="en-US" dirty="0">
                <a:solidFill>
                  <a:schemeClr val="accent1"/>
                </a:solidFill>
                <a:latin typeface="+mn-lt"/>
              </a:rPr>
              <a:t>I can do this…</a:t>
            </a:r>
          </a:p>
        </p:txBody>
      </p:sp>
      <p:pic>
        <p:nvPicPr>
          <p:cNvPr id="15362" name="Picture 2" descr="C:\Documents and Settings\Dr Sueanna Davidson\Local Settings\Temporary Internet Files\Content.IE5\TDLPEDBF\MP900216051[1].jpg">
            <a:extLst>
              <a:ext uri="{FF2B5EF4-FFF2-40B4-BE49-F238E27FC236}">
                <a16:creationId xmlns:a16="http://schemas.microsoft.com/office/drawing/2014/main" id="{93FA6AF8-C71C-7C45-807B-B5C153C6E6B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5024437" y="1576388"/>
            <a:ext cx="5257800" cy="4267200"/>
          </a:xfrm>
          <a:noFill/>
          <a:effectLst>
            <a:softEdge rad="88900"/>
          </a:effectLst>
        </p:spPr>
      </p:pic>
    </p:spTree>
    <p:extLst>
      <p:ext uri="{BB962C8B-B14F-4D97-AF65-F5344CB8AC3E}">
        <p14:creationId xmlns:p14="http://schemas.microsoft.com/office/powerpoint/2010/main" val="2879209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Title 1">
            <a:extLst>
              <a:ext uri="{FF2B5EF4-FFF2-40B4-BE49-F238E27FC236}">
                <a16:creationId xmlns:a16="http://schemas.microsoft.com/office/drawing/2014/main" id="{C5A93C12-31B3-B847-8C1C-CA78AC01BEF0}"/>
              </a:ext>
            </a:extLst>
          </p:cNvPr>
          <p:cNvSpPr>
            <a:spLocks noGrp="1"/>
          </p:cNvSpPr>
          <p:nvPr>
            <p:ph type="title"/>
          </p:nvPr>
        </p:nvSpPr>
        <p:spPr/>
        <p:txBody>
          <a:bodyPr/>
          <a:lstStyle/>
          <a:p>
            <a:pPr algn="ctr"/>
            <a:r>
              <a:rPr lang="en-US" altLang="en-US" dirty="0">
                <a:solidFill>
                  <a:schemeClr val="accent1"/>
                </a:solidFill>
                <a:latin typeface="+mn-lt"/>
                <a:ea typeface="ＭＳ Ｐゴシック" panose="020B0600070205080204" pitchFamily="34" charset="-128"/>
              </a:rPr>
              <a:t>When do I request a CXR?</a:t>
            </a:r>
          </a:p>
        </p:txBody>
      </p:sp>
      <p:sp>
        <p:nvSpPr>
          <p:cNvPr id="3" name="Content Placeholder 2">
            <a:extLst>
              <a:ext uri="{FF2B5EF4-FFF2-40B4-BE49-F238E27FC236}">
                <a16:creationId xmlns:a16="http://schemas.microsoft.com/office/drawing/2014/main" id="{226B67FB-4FD3-E346-AAF5-9A004C7153E8}"/>
              </a:ext>
            </a:extLst>
          </p:cNvPr>
          <p:cNvSpPr>
            <a:spLocks noGrp="1"/>
          </p:cNvSpPr>
          <p:nvPr>
            <p:ph idx="1"/>
          </p:nvPr>
        </p:nvSpPr>
        <p:spPr/>
        <p:txBody>
          <a:bodyPr/>
          <a:lstStyle/>
          <a:p>
            <a:pPr>
              <a:buFont typeface="Wingdings 2" charset="2"/>
              <a:buChar char=""/>
              <a:defRPr/>
            </a:pPr>
            <a:r>
              <a:rPr lang="en-US" altLang="en-US" dirty="0">
                <a:latin typeface="Arial" charset="0"/>
                <a:ea typeface="Arial" charset="0"/>
                <a:cs typeface="Arial" charset="0"/>
              </a:rPr>
              <a:t>Value in obtaining </a:t>
            </a:r>
            <a:r>
              <a:rPr lang="en-US" altLang="en-US" dirty="0">
                <a:solidFill>
                  <a:schemeClr val="accent1"/>
                </a:solidFill>
                <a:latin typeface="Arial" charset="0"/>
                <a:ea typeface="Arial" charset="0"/>
                <a:cs typeface="Arial" charset="0"/>
              </a:rPr>
              <a:t>routine</a:t>
            </a:r>
            <a:r>
              <a:rPr lang="en-US" altLang="en-US" dirty="0">
                <a:latin typeface="Arial" charset="0"/>
                <a:ea typeface="Arial" charset="0"/>
                <a:cs typeface="Arial" charset="0"/>
              </a:rPr>
              <a:t> CXRs is not impressive</a:t>
            </a:r>
          </a:p>
          <a:p>
            <a:pPr marL="0" indent="0" eaLnBrk="1" hangingPunct="1">
              <a:buNone/>
              <a:defRPr/>
            </a:pPr>
            <a:endParaRPr lang="en-US" altLang="en-US" dirty="0">
              <a:latin typeface="Arial" charset="0"/>
              <a:ea typeface="Arial" charset="0"/>
              <a:cs typeface="Arial" charset="0"/>
            </a:endParaRPr>
          </a:p>
          <a:p>
            <a:pPr eaLnBrk="1" hangingPunct="1">
              <a:buFont typeface="Wingdings 2" charset="2"/>
              <a:buChar char=""/>
              <a:defRPr/>
            </a:pPr>
            <a:r>
              <a:rPr lang="en-US" altLang="en-US" dirty="0">
                <a:latin typeface="Arial" charset="0"/>
                <a:ea typeface="Arial" charset="0"/>
                <a:cs typeface="Arial" charset="0"/>
              </a:rPr>
              <a:t>Therefore, CXRs should not be </a:t>
            </a:r>
            <a:r>
              <a:rPr lang="en-US" altLang="en-US" dirty="0">
                <a:solidFill>
                  <a:schemeClr val="accent1"/>
                </a:solidFill>
                <a:latin typeface="Arial" charset="0"/>
                <a:ea typeface="Arial" charset="0"/>
                <a:cs typeface="Arial" charset="0"/>
              </a:rPr>
              <a:t>routinely </a:t>
            </a:r>
            <a:r>
              <a:rPr lang="en-US" altLang="en-US" dirty="0">
                <a:latin typeface="Arial" charset="0"/>
                <a:ea typeface="Arial" charset="0"/>
                <a:cs typeface="Arial" charset="0"/>
              </a:rPr>
              <a:t>ordered</a:t>
            </a:r>
          </a:p>
          <a:p>
            <a:pPr marL="0" indent="0" eaLnBrk="1" hangingPunct="1">
              <a:buNone/>
              <a:defRPr/>
            </a:pPr>
            <a:endParaRPr lang="en-US" altLang="en-US" dirty="0">
              <a:latin typeface="Arial" charset="0"/>
              <a:ea typeface="Arial" charset="0"/>
              <a:cs typeface="Arial" charset="0"/>
            </a:endParaRPr>
          </a:p>
          <a:p>
            <a:pPr eaLnBrk="1" hangingPunct="1">
              <a:buFont typeface="Wingdings 2" charset="2"/>
              <a:buChar char=""/>
              <a:defRPr/>
            </a:pPr>
            <a:r>
              <a:rPr lang="en-US" altLang="en-US" dirty="0">
                <a:latin typeface="Arial" charset="0"/>
                <a:ea typeface="Arial" charset="0"/>
                <a:cs typeface="Arial" charset="0"/>
              </a:rPr>
              <a:t>Decision:  based on abnormalities identified during </a:t>
            </a:r>
          </a:p>
          <a:p>
            <a:pPr marL="0" indent="0">
              <a:buNone/>
              <a:defRPr/>
            </a:pPr>
            <a:r>
              <a:rPr lang="en-US" altLang="en-US" dirty="0">
                <a:latin typeface="Arial" charset="0"/>
                <a:ea typeface="Arial" charset="0"/>
                <a:cs typeface="Arial" charset="0"/>
              </a:rPr>
              <a:t>                   the preop assessment (</a:t>
            </a:r>
            <a:r>
              <a:rPr lang="en-US" altLang="en-US" dirty="0" err="1">
                <a:latin typeface="Arial" charset="0"/>
                <a:ea typeface="Arial" charset="0"/>
                <a:cs typeface="Arial" charset="0"/>
              </a:rPr>
              <a:t>ie</a:t>
            </a:r>
            <a:r>
              <a:rPr lang="en-US" altLang="en-US" dirty="0">
                <a:latin typeface="Arial" charset="0"/>
                <a:ea typeface="Arial" charset="0"/>
                <a:cs typeface="Arial" charset="0"/>
              </a:rPr>
              <a:t>, rales, SOB</a:t>
            </a:r>
          </a:p>
          <a:p>
            <a:pPr marL="0" indent="0">
              <a:buNone/>
              <a:defRPr/>
            </a:pPr>
            <a:r>
              <a:rPr lang="en-US" altLang="en-US" dirty="0">
                <a:latin typeface="Arial" charset="0"/>
                <a:ea typeface="Arial" charset="0"/>
                <a:cs typeface="Arial" charset="0"/>
              </a:rPr>
              <a:t>                   intercostal retractions, deviated trachea)</a:t>
            </a:r>
          </a:p>
          <a:p>
            <a:pPr marL="0" indent="0" eaLnBrk="1" hangingPunct="1">
              <a:buNone/>
              <a:defRPr/>
            </a:pPr>
            <a:endParaRPr lang="en-US" altLang="en-US" dirty="0">
              <a:latin typeface="Arial" charset="0"/>
              <a:ea typeface="Arial" charset="0"/>
              <a:cs typeface="Arial" charset="0"/>
            </a:endParaRPr>
          </a:p>
          <a:p>
            <a:pPr>
              <a:buFont typeface="Wingdings 2" charset="2"/>
              <a:buChar char=""/>
              <a:defRPr/>
            </a:pPr>
            <a:endParaRPr lang="en-US" altLang="en-US" dirty="0">
              <a:ea typeface="ＭＳ Ｐゴシック" charset="-128"/>
            </a:endParaRPr>
          </a:p>
          <a:p>
            <a:pPr>
              <a:buFont typeface="Wingdings 2" charset="2"/>
              <a:buChar char=""/>
              <a:defRPr/>
            </a:pPr>
            <a:endParaRPr lang="en-US" altLang="en-US" dirty="0">
              <a:ea typeface="ＭＳ Ｐゴシック" charset="-128"/>
            </a:endParaRPr>
          </a:p>
          <a:p>
            <a:pPr>
              <a:buFont typeface="Wingdings 2" charset="2"/>
              <a:buChar char=""/>
              <a:defRPr/>
            </a:pPr>
            <a:endParaRPr lang="en-US" dirty="0"/>
          </a:p>
        </p:txBody>
      </p:sp>
    </p:spTree>
    <p:extLst>
      <p:ext uri="{BB962C8B-B14F-4D97-AF65-F5344CB8AC3E}">
        <p14:creationId xmlns:p14="http://schemas.microsoft.com/office/powerpoint/2010/main" val="1178861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05136-A3B6-C941-A328-59484AEB91D7}"/>
              </a:ext>
            </a:extLst>
          </p:cNvPr>
          <p:cNvSpPr>
            <a:spLocks noGrp="1"/>
          </p:cNvSpPr>
          <p:nvPr>
            <p:ph type="title"/>
          </p:nvPr>
        </p:nvSpPr>
        <p:spPr/>
        <p:txBody>
          <a:bodyPr>
            <a:normAutofit/>
          </a:bodyPr>
          <a:lstStyle/>
          <a:p>
            <a:pPr algn="ctr"/>
            <a:r>
              <a:rPr lang="en-US" sz="4000" dirty="0">
                <a:solidFill>
                  <a:schemeClr val="accent1"/>
                </a:solidFill>
                <a:latin typeface="+mn-lt"/>
              </a:rPr>
              <a:t>Miller text</a:t>
            </a:r>
          </a:p>
        </p:txBody>
      </p:sp>
      <p:sp>
        <p:nvSpPr>
          <p:cNvPr id="3" name="Content Placeholder 2">
            <a:extLst>
              <a:ext uri="{FF2B5EF4-FFF2-40B4-BE49-F238E27FC236}">
                <a16:creationId xmlns:a16="http://schemas.microsoft.com/office/drawing/2014/main" id="{053EF6DA-6823-6445-AB2B-8D64E441D0FD}"/>
              </a:ext>
            </a:extLst>
          </p:cNvPr>
          <p:cNvSpPr>
            <a:spLocks noGrp="1"/>
          </p:cNvSpPr>
          <p:nvPr>
            <p:ph idx="1"/>
          </p:nvPr>
        </p:nvSpPr>
        <p:spPr/>
        <p:txBody>
          <a:bodyPr>
            <a:normAutofit fontScale="92500" lnSpcReduction="10000"/>
          </a:bodyPr>
          <a:lstStyle/>
          <a:p>
            <a:pPr marL="0" indent="0">
              <a:buNone/>
            </a:pPr>
            <a:r>
              <a:rPr lang="en-US" b="1" dirty="0"/>
              <a:t>CHEST RADIOGRAPH</a:t>
            </a:r>
          </a:p>
          <a:p>
            <a:pPr marL="0" indent="0">
              <a:buNone/>
            </a:pPr>
            <a:r>
              <a:rPr lang="en-US" dirty="0"/>
              <a:t>Routine preoperative chest radiographs do not provide </a:t>
            </a:r>
            <a:r>
              <a:rPr lang="en-US" dirty="0" err="1"/>
              <a:t>prognostically</a:t>
            </a:r>
            <a:r>
              <a:rPr lang="en-US" dirty="0"/>
              <a:t> important information for assessing perioperative risk.  Preoperative chest radiographs should therefore not be ordered routinely, but rather selectively based on abnormalities identified by preoperative evaluation. These indications include advanced COPD, bullous lung disease, suspected pulmonary edema, suspected pneumonia, suspected mediastinal masses, and suspicious findings on physical examination (e.g., rales, tracheal deviation). </a:t>
            </a:r>
          </a:p>
          <a:p>
            <a:pPr marL="0" indent="0">
              <a:buNone/>
            </a:pPr>
            <a:endParaRPr lang="en-US" dirty="0"/>
          </a:p>
          <a:p>
            <a:pPr marL="0" indent="0">
              <a:buNone/>
            </a:pPr>
            <a:r>
              <a:rPr lang="en-US" altLang="ja-JP" sz="1500" dirty="0" err="1">
                <a:latin typeface="Verdana" panose="020B0604030504040204" pitchFamily="34" charset="0"/>
                <a:ea typeface="ＭＳ Ｐゴシック" panose="020B0600070205080204" pitchFamily="34" charset="-128"/>
              </a:rPr>
              <a:t>Wijeysundera</a:t>
            </a:r>
            <a:r>
              <a:rPr lang="en-US" altLang="ja-JP" sz="1500" dirty="0">
                <a:latin typeface="Verdana" panose="020B0604030504040204" pitchFamily="34" charset="0"/>
                <a:ea typeface="ＭＳ Ｐゴシック" panose="020B0600070205080204" pitchFamily="34" charset="-128"/>
              </a:rPr>
              <a:t>, D. N. &amp; Finlayson, E. (2020).  Preoperative evaluation. In M. T. V. Chan &amp; K. </a:t>
            </a:r>
            <a:r>
              <a:rPr lang="en-US" altLang="ja-JP" sz="1500" dirty="0" err="1">
                <a:latin typeface="Verdana" panose="020B0604030504040204" pitchFamily="34" charset="0"/>
                <a:ea typeface="ＭＳ Ｐゴシック" panose="020B0600070205080204" pitchFamily="34" charset="-128"/>
              </a:rPr>
              <a:t>Englehard</a:t>
            </a:r>
            <a:r>
              <a:rPr lang="en-US" altLang="ja-JP" sz="1500" dirty="0">
                <a:latin typeface="Verdana" panose="020B0604030504040204" pitchFamily="34" charset="0"/>
                <a:ea typeface="ＭＳ Ｐゴシック" panose="020B0600070205080204" pitchFamily="34" charset="-128"/>
              </a:rPr>
              <a:t> (Eds.), </a:t>
            </a:r>
            <a:r>
              <a:rPr lang="en-US" altLang="ja-JP" sz="1500" i="1" dirty="0">
                <a:latin typeface="Verdana" panose="020B0604030504040204" pitchFamily="34" charset="0"/>
                <a:ea typeface="ＭＳ Ｐゴシック" panose="020B0600070205080204" pitchFamily="34" charset="-128"/>
              </a:rPr>
              <a:t>Miller’s anesthesia </a:t>
            </a:r>
            <a:r>
              <a:rPr lang="en-US" altLang="ja-JP" sz="1500" dirty="0">
                <a:latin typeface="Verdana" panose="020B0604030504040204" pitchFamily="34" charset="0"/>
                <a:ea typeface="ＭＳ Ｐゴシック" panose="020B0600070205080204" pitchFamily="34" charset="-128"/>
              </a:rPr>
              <a:t>(9</a:t>
            </a:r>
            <a:r>
              <a:rPr lang="en-US" altLang="ja-JP" sz="1500" baseline="30000" dirty="0">
                <a:latin typeface="Verdana" panose="020B0604030504040204" pitchFamily="34" charset="0"/>
                <a:ea typeface="ＭＳ Ｐゴシック" panose="020B0600070205080204" pitchFamily="34" charset="-128"/>
              </a:rPr>
              <a:t>th</a:t>
            </a:r>
            <a:r>
              <a:rPr lang="en-US" altLang="ja-JP" sz="1500" dirty="0">
                <a:latin typeface="Verdana" panose="020B0604030504040204" pitchFamily="34" charset="0"/>
                <a:ea typeface="ＭＳ Ｐゴシック" panose="020B0600070205080204" pitchFamily="34" charset="-128"/>
              </a:rPr>
              <a:t> ed., pp. 918-998). Philadelphia, PA:  Elsevier.</a:t>
            </a:r>
            <a:br>
              <a:rPr lang="en-US" altLang="ja-JP" sz="1500" dirty="0">
                <a:latin typeface="Verdana" panose="020B0604030504040204" pitchFamily="34" charset="0"/>
                <a:ea typeface="ＭＳ Ｐゴシック" panose="020B0600070205080204" pitchFamily="34" charset="-128"/>
              </a:rPr>
            </a:br>
            <a:endParaRPr lang="en-US" sz="1500" dirty="0"/>
          </a:p>
          <a:p>
            <a:endParaRPr lang="en-US" dirty="0"/>
          </a:p>
        </p:txBody>
      </p:sp>
    </p:spTree>
    <p:extLst>
      <p:ext uri="{BB962C8B-B14F-4D97-AF65-F5344CB8AC3E}">
        <p14:creationId xmlns:p14="http://schemas.microsoft.com/office/powerpoint/2010/main" val="870379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D4266-A306-514A-B442-0710A69482FA}"/>
              </a:ext>
            </a:extLst>
          </p:cNvPr>
          <p:cNvSpPr>
            <a:spLocks noGrp="1"/>
          </p:cNvSpPr>
          <p:nvPr>
            <p:ph type="title"/>
          </p:nvPr>
        </p:nvSpPr>
        <p:spPr/>
        <p:txBody>
          <a:bodyPr/>
          <a:lstStyle/>
          <a:p>
            <a:pPr algn="ctr"/>
            <a:r>
              <a:rPr lang="en-US" dirty="0">
                <a:solidFill>
                  <a:schemeClr val="accent1"/>
                </a:solidFill>
                <a:latin typeface="+mn-lt"/>
              </a:rPr>
              <a:t>Justification for CXR</a:t>
            </a:r>
          </a:p>
        </p:txBody>
      </p:sp>
      <p:sp>
        <p:nvSpPr>
          <p:cNvPr id="3" name="Content Placeholder 2">
            <a:extLst>
              <a:ext uri="{FF2B5EF4-FFF2-40B4-BE49-F238E27FC236}">
                <a16:creationId xmlns:a16="http://schemas.microsoft.com/office/drawing/2014/main" id="{A57DB759-3CBB-FC45-8A84-E535EAC3DBD2}"/>
              </a:ext>
            </a:extLst>
          </p:cNvPr>
          <p:cNvSpPr>
            <a:spLocks noGrp="1"/>
          </p:cNvSpPr>
          <p:nvPr>
            <p:ph idx="1"/>
          </p:nvPr>
        </p:nvSpPr>
        <p:spPr/>
        <p:txBody>
          <a:bodyPr>
            <a:normAutofit/>
          </a:bodyPr>
          <a:lstStyle/>
          <a:p>
            <a:pPr marL="0" indent="0">
              <a:buNone/>
            </a:pPr>
            <a:r>
              <a:rPr lang="en-US" dirty="0"/>
              <a:t>pneumonia (confirmation)			immunosuppressed </a:t>
            </a:r>
            <a:r>
              <a:rPr lang="en-US" dirty="0" err="1"/>
              <a:t>pt</a:t>
            </a:r>
            <a:endParaRPr lang="en-US" dirty="0"/>
          </a:p>
          <a:p>
            <a:pPr marL="0" indent="0">
              <a:buNone/>
            </a:pPr>
            <a:r>
              <a:rPr lang="en-US" dirty="0"/>
              <a:t>COPD w/acute exacerbation			foreign body</a:t>
            </a:r>
          </a:p>
          <a:p>
            <a:pPr marL="0" indent="0">
              <a:buNone/>
            </a:pPr>
            <a:r>
              <a:rPr lang="en-US" dirty="0"/>
              <a:t>CHF							aspiration pneumonia</a:t>
            </a:r>
          </a:p>
          <a:p>
            <a:pPr marL="0" indent="0">
              <a:buNone/>
            </a:pPr>
            <a:r>
              <a:rPr lang="en-US" dirty="0"/>
              <a:t>blunt trauma					lung tumor	</a:t>
            </a:r>
          </a:p>
          <a:p>
            <a:pPr marL="0" indent="0">
              <a:buNone/>
            </a:pPr>
            <a:r>
              <a:rPr lang="en-US" dirty="0"/>
              <a:t>chest pain						suspected pneumothorax</a:t>
            </a:r>
          </a:p>
          <a:p>
            <a:pPr marL="0" indent="0">
              <a:buNone/>
            </a:pPr>
            <a:r>
              <a:rPr lang="en-US" dirty="0"/>
              <a:t>SOB (severe)					hemoptysis</a:t>
            </a:r>
          </a:p>
          <a:p>
            <a:pPr marL="0" indent="0">
              <a:buNone/>
            </a:pPr>
            <a:r>
              <a:rPr lang="en-US" dirty="0"/>
              <a:t>pulmonary HTN					</a:t>
            </a:r>
            <a:r>
              <a:rPr lang="en-US"/>
              <a:t>Pulmonary embolus</a:t>
            </a:r>
            <a:endParaRPr lang="en-US" dirty="0"/>
          </a:p>
          <a:p>
            <a:pPr marL="0" indent="0">
              <a:buNone/>
            </a:pPr>
            <a:r>
              <a:rPr lang="en-US" dirty="0"/>
              <a:t>interstitial lung ds					ICU </a:t>
            </a:r>
            <a:r>
              <a:rPr lang="en-US" dirty="0" err="1"/>
              <a:t>pt</a:t>
            </a:r>
            <a:r>
              <a:rPr lang="en-US" dirty="0"/>
              <a:t> (</a:t>
            </a:r>
            <a:r>
              <a:rPr lang="en-US" dirty="0" err="1"/>
              <a:t>adm</a:t>
            </a:r>
            <a:r>
              <a:rPr lang="en-US" dirty="0"/>
              <a:t>, inv lines, ETT)</a:t>
            </a:r>
          </a:p>
        </p:txBody>
      </p:sp>
    </p:spTree>
    <p:extLst>
      <p:ext uri="{BB962C8B-B14F-4D97-AF65-F5344CB8AC3E}">
        <p14:creationId xmlns:p14="http://schemas.microsoft.com/office/powerpoint/2010/main" val="857027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Title 1">
            <a:extLst>
              <a:ext uri="{FF2B5EF4-FFF2-40B4-BE49-F238E27FC236}">
                <a16:creationId xmlns:a16="http://schemas.microsoft.com/office/drawing/2014/main" id="{BC044EE4-54C7-1C4D-8F39-E1AB03D10CA5}"/>
              </a:ext>
            </a:extLst>
          </p:cNvPr>
          <p:cNvSpPr>
            <a:spLocks noGrp="1"/>
          </p:cNvSpPr>
          <p:nvPr>
            <p:ph type="title"/>
          </p:nvPr>
        </p:nvSpPr>
        <p:spPr/>
        <p:txBody>
          <a:bodyPr/>
          <a:lstStyle/>
          <a:p>
            <a:pPr algn="ctr"/>
            <a:r>
              <a:rPr lang="en-US" altLang="en-US" dirty="0">
                <a:solidFill>
                  <a:schemeClr val="accent1"/>
                </a:solidFill>
                <a:latin typeface="+mn-lt"/>
                <a:ea typeface="ＭＳ Ｐゴシック" panose="020B0600070205080204" pitchFamily="34" charset="-128"/>
              </a:rPr>
              <a:t>What about CXR in smokers?</a:t>
            </a:r>
          </a:p>
        </p:txBody>
      </p:sp>
      <p:sp>
        <p:nvSpPr>
          <p:cNvPr id="105474" name="Content Placeholder 2">
            <a:extLst>
              <a:ext uri="{FF2B5EF4-FFF2-40B4-BE49-F238E27FC236}">
                <a16:creationId xmlns:a16="http://schemas.microsoft.com/office/drawing/2014/main" id="{E5CA053A-0C21-CF49-B730-60E0C6C2D359}"/>
              </a:ext>
            </a:extLst>
          </p:cNvPr>
          <p:cNvSpPr>
            <a:spLocks noGrp="1"/>
          </p:cNvSpPr>
          <p:nvPr>
            <p:ph idx="1"/>
          </p:nvPr>
        </p:nvSpPr>
        <p:spPr/>
        <p:txBody>
          <a:bodyPr/>
          <a:lstStyle/>
          <a:p>
            <a:pPr>
              <a:buFont typeface="Wingdings 2" charset="2"/>
              <a:buChar char=""/>
              <a:defRPr/>
            </a:pPr>
            <a:r>
              <a:rPr lang="en-US" altLang="en-US" dirty="0">
                <a:ea typeface="ＭＳ Ｐゴシック" charset="-128"/>
              </a:rPr>
              <a:t>Significant smoking history- 20 pack years  </a:t>
            </a:r>
          </a:p>
          <a:p>
            <a:pPr marL="0" indent="0">
              <a:buNone/>
              <a:defRPr/>
            </a:pPr>
            <a:endParaRPr lang="en-US" altLang="en-US" dirty="0">
              <a:ea typeface="ＭＳ Ｐゴシック" charset="-128"/>
            </a:endParaRPr>
          </a:p>
          <a:p>
            <a:pPr>
              <a:buFont typeface="Wingdings 2" charset="2"/>
              <a:buChar char=""/>
              <a:defRPr/>
            </a:pPr>
            <a:endParaRPr lang="en-US" altLang="en-US" dirty="0">
              <a:ea typeface="ＭＳ Ｐゴシック" charset="-128"/>
            </a:endParaRPr>
          </a:p>
        </p:txBody>
      </p:sp>
      <p:pic>
        <p:nvPicPr>
          <p:cNvPr id="126979" name="Picture 1">
            <a:extLst>
              <a:ext uri="{FF2B5EF4-FFF2-40B4-BE49-F238E27FC236}">
                <a16:creationId xmlns:a16="http://schemas.microsoft.com/office/drawing/2014/main" id="{4C42B80E-CFB0-384C-B361-B834947CF72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89413" y="2743200"/>
            <a:ext cx="38100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90100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TextBox 1">
            <a:extLst>
              <a:ext uri="{FF2B5EF4-FFF2-40B4-BE49-F238E27FC236}">
                <a16:creationId xmlns:a16="http://schemas.microsoft.com/office/drawing/2014/main" id="{8B675F17-B053-F848-82D4-1752348C74CF}"/>
              </a:ext>
            </a:extLst>
          </p:cNvPr>
          <p:cNvSpPr txBox="1">
            <a:spLocks noChangeArrowheads="1"/>
          </p:cNvSpPr>
          <p:nvPr/>
        </p:nvSpPr>
        <p:spPr bwMode="auto">
          <a:xfrm>
            <a:off x="2819401" y="1752601"/>
            <a:ext cx="5466561"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3200" dirty="0"/>
              <a:t>Will the results </a:t>
            </a:r>
          </a:p>
          <a:p>
            <a:endParaRPr lang="en-US" altLang="en-US" sz="3200" dirty="0"/>
          </a:p>
          <a:p>
            <a:r>
              <a:rPr lang="en-US" altLang="en-US" sz="3200" dirty="0"/>
              <a:t>change the </a:t>
            </a:r>
          </a:p>
          <a:p>
            <a:endParaRPr lang="en-US" altLang="en-US" sz="3200" dirty="0"/>
          </a:p>
          <a:p>
            <a:r>
              <a:rPr lang="en-US" altLang="en-US" sz="3200" dirty="0">
                <a:solidFill>
                  <a:schemeClr val="accent5"/>
                </a:solidFill>
              </a:rPr>
              <a:t>INTRAOPERATIVE</a:t>
            </a:r>
            <a:r>
              <a:rPr lang="en-US" altLang="en-US" sz="3200" dirty="0">
                <a:solidFill>
                  <a:srgbClr val="7030A0"/>
                </a:solidFill>
              </a:rPr>
              <a:t> </a:t>
            </a:r>
          </a:p>
          <a:p>
            <a:endParaRPr lang="en-US" altLang="en-US" sz="3200" dirty="0">
              <a:solidFill>
                <a:srgbClr val="7030A0"/>
              </a:solidFill>
            </a:endParaRPr>
          </a:p>
          <a:p>
            <a:r>
              <a:rPr lang="en-US" altLang="en-US" sz="3200" dirty="0"/>
              <a:t>management of this patient? </a:t>
            </a:r>
          </a:p>
        </p:txBody>
      </p:sp>
      <p:pic>
        <p:nvPicPr>
          <p:cNvPr id="4" name="Picture 3">
            <a:extLst>
              <a:ext uri="{FF2B5EF4-FFF2-40B4-BE49-F238E27FC236}">
                <a16:creationId xmlns:a16="http://schemas.microsoft.com/office/drawing/2014/main" id="{CBF2939A-2CF2-EC42-BFCC-32CC35F66278}"/>
              </a:ext>
            </a:extLst>
          </p:cNvPr>
          <p:cNvPicPr>
            <a:picLocks noChangeAspect="1"/>
          </p:cNvPicPr>
          <p:nvPr/>
        </p:nvPicPr>
        <p:blipFill>
          <a:blip r:embed="rId3"/>
          <a:stretch>
            <a:fillRect/>
          </a:stretch>
        </p:blipFill>
        <p:spPr>
          <a:xfrm>
            <a:off x="6844145" y="1752601"/>
            <a:ext cx="3606800" cy="2247900"/>
          </a:xfrm>
          <a:prstGeom prst="rect">
            <a:avLst/>
          </a:prstGeom>
          <a:effectLst>
            <a:softEdge rad="152400"/>
          </a:effectLst>
        </p:spPr>
      </p:pic>
    </p:spTree>
    <p:extLst>
      <p:ext uri="{BB962C8B-B14F-4D97-AF65-F5344CB8AC3E}">
        <p14:creationId xmlns:p14="http://schemas.microsoft.com/office/powerpoint/2010/main" val="3047157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571C9-6E25-0F49-B570-FD96D3B9D7B1}"/>
              </a:ext>
            </a:extLst>
          </p:cNvPr>
          <p:cNvSpPr>
            <a:spLocks noGrp="1"/>
          </p:cNvSpPr>
          <p:nvPr>
            <p:ph type="title"/>
          </p:nvPr>
        </p:nvSpPr>
        <p:spPr/>
        <p:txBody>
          <a:bodyPr/>
          <a:lstStyle/>
          <a:p>
            <a:pPr algn="ctr"/>
            <a:r>
              <a:rPr lang="en-US" dirty="0">
                <a:solidFill>
                  <a:schemeClr val="accent1"/>
                </a:solidFill>
                <a:latin typeface="+mn-lt"/>
              </a:rPr>
              <a:t>Basic Tissue Densities</a:t>
            </a:r>
          </a:p>
        </p:txBody>
      </p:sp>
      <p:sp>
        <p:nvSpPr>
          <p:cNvPr id="3" name="Content Placeholder 2">
            <a:extLst>
              <a:ext uri="{FF2B5EF4-FFF2-40B4-BE49-F238E27FC236}">
                <a16:creationId xmlns:a16="http://schemas.microsoft.com/office/drawing/2014/main" id="{E1547E99-1E0D-A445-B322-A2F4B622698C}"/>
              </a:ext>
            </a:extLst>
          </p:cNvPr>
          <p:cNvSpPr>
            <a:spLocks noGrp="1"/>
          </p:cNvSpPr>
          <p:nvPr>
            <p:ph idx="1"/>
          </p:nvPr>
        </p:nvSpPr>
        <p:spPr/>
        <p:txBody>
          <a:bodyPr>
            <a:normAutofit lnSpcReduction="10000"/>
          </a:bodyPr>
          <a:lstStyle/>
          <a:p>
            <a:r>
              <a:rPr lang="en-US" dirty="0"/>
              <a:t>Black – air  </a:t>
            </a:r>
          </a:p>
          <a:p>
            <a:pPr marL="0" indent="0">
              <a:buNone/>
            </a:pPr>
            <a:endParaRPr lang="en-US" dirty="0"/>
          </a:p>
          <a:p>
            <a:r>
              <a:rPr lang="en-US" dirty="0"/>
              <a:t>Dark gray – subcutaneous tissue, fat</a:t>
            </a:r>
          </a:p>
          <a:p>
            <a:pPr marL="0" indent="0">
              <a:buNone/>
            </a:pPr>
            <a:endParaRPr lang="en-US" dirty="0"/>
          </a:p>
          <a:p>
            <a:r>
              <a:rPr lang="en-US" dirty="0"/>
              <a:t>Light gray – soft tissue (muscles, heart, blood vessels, pus, </a:t>
            </a:r>
            <a:r>
              <a:rPr lang="en-US" dirty="0" err="1"/>
              <a:t>etc</a:t>
            </a:r>
            <a:r>
              <a:rPr lang="en-US" dirty="0"/>
              <a:t>)</a:t>
            </a:r>
          </a:p>
          <a:p>
            <a:pPr marL="0" indent="0">
              <a:buNone/>
            </a:pPr>
            <a:endParaRPr lang="en-US" dirty="0"/>
          </a:p>
          <a:p>
            <a:r>
              <a:rPr lang="en-US" dirty="0"/>
              <a:t>Off white – bone</a:t>
            </a:r>
          </a:p>
          <a:p>
            <a:pPr marL="0" indent="0">
              <a:buNone/>
            </a:pPr>
            <a:endParaRPr lang="en-US" dirty="0"/>
          </a:p>
          <a:p>
            <a:r>
              <a:rPr lang="en-US" dirty="0"/>
              <a:t>Bright white – metal (pacemakers, surgical clips, bullets, </a:t>
            </a:r>
            <a:r>
              <a:rPr lang="en-US" dirty="0" err="1"/>
              <a:t>etc</a:t>
            </a:r>
            <a:r>
              <a:rPr lang="en-US" dirty="0"/>
              <a:t>)</a:t>
            </a:r>
          </a:p>
        </p:txBody>
      </p:sp>
    </p:spTree>
    <p:extLst>
      <p:ext uri="{BB962C8B-B14F-4D97-AF65-F5344CB8AC3E}">
        <p14:creationId xmlns:p14="http://schemas.microsoft.com/office/powerpoint/2010/main" val="2783073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537FB-314C-024C-9A99-1A89586B3C08}"/>
              </a:ext>
            </a:extLst>
          </p:cNvPr>
          <p:cNvSpPr>
            <a:spLocks noGrp="1"/>
          </p:cNvSpPr>
          <p:nvPr>
            <p:ph type="title"/>
          </p:nvPr>
        </p:nvSpPr>
        <p:spPr/>
        <p:txBody>
          <a:bodyPr/>
          <a:lstStyle/>
          <a:p>
            <a:r>
              <a:rPr lang="en-US" dirty="0">
                <a:solidFill>
                  <a:schemeClr val="accent1"/>
                </a:solidFill>
              </a:rPr>
              <a:t>radiolucent vs </a:t>
            </a:r>
            <a:r>
              <a:rPr lang="en-US" dirty="0" err="1">
                <a:solidFill>
                  <a:schemeClr val="accent1"/>
                </a:solidFill>
              </a:rPr>
              <a:t>radiodense</a:t>
            </a:r>
            <a:r>
              <a:rPr lang="en-US" dirty="0">
                <a:solidFill>
                  <a:schemeClr val="accent1"/>
                </a:solidFill>
              </a:rPr>
              <a:t> (radiopaque)</a:t>
            </a:r>
          </a:p>
        </p:txBody>
      </p:sp>
      <p:pic>
        <p:nvPicPr>
          <p:cNvPr id="5" name="Content Placeholder 4">
            <a:extLst>
              <a:ext uri="{FF2B5EF4-FFF2-40B4-BE49-F238E27FC236}">
                <a16:creationId xmlns:a16="http://schemas.microsoft.com/office/drawing/2014/main" id="{32497C1A-3B3E-1141-B4E9-43F5E289DA0B}"/>
              </a:ext>
            </a:extLst>
          </p:cNvPr>
          <p:cNvPicPr>
            <a:picLocks noGrp="1" noChangeAspect="1"/>
          </p:cNvPicPr>
          <p:nvPr>
            <p:ph idx="1"/>
          </p:nvPr>
        </p:nvPicPr>
        <p:blipFill>
          <a:blip r:embed="rId2"/>
          <a:stretch>
            <a:fillRect/>
          </a:stretch>
        </p:blipFill>
        <p:spPr>
          <a:xfrm>
            <a:off x="838200" y="1690688"/>
            <a:ext cx="5480050" cy="2289714"/>
          </a:xfrm>
        </p:spPr>
      </p:pic>
      <p:pic>
        <p:nvPicPr>
          <p:cNvPr id="6" name="Picture 5">
            <a:extLst>
              <a:ext uri="{FF2B5EF4-FFF2-40B4-BE49-F238E27FC236}">
                <a16:creationId xmlns:a16="http://schemas.microsoft.com/office/drawing/2014/main" id="{8DEDAD55-DF44-B846-AB99-8E3F91BC5B95}"/>
              </a:ext>
            </a:extLst>
          </p:cNvPr>
          <p:cNvPicPr>
            <a:picLocks noChangeAspect="1"/>
          </p:cNvPicPr>
          <p:nvPr/>
        </p:nvPicPr>
        <p:blipFill>
          <a:blip r:embed="rId3"/>
          <a:stretch>
            <a:fillRect/>
          </a:stretch>
        </p:blipFill>
        <p:spPr>
          <a:xfrm>
            <a:off x="6515100" y="3398404"/>
            <a:ext cx="4953000" cy="3136900"/>
          </a:xfrm>
          <a:prstGeom prst="rect">
            <a:avLst/>
          </a:prstGeom>
        </p:spPr>
      </p:pic>
    </p:spTree>
    <p:extLst>
      <p:ext uri="{BB962C8B-B14F-4D97-AF65-F5344CB8AC3E}">
        <p14:creationId xmlns:p14="http://schemas.microsoft.com/office/powerpoint/2010/main" val="727780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30AC0-5EBD-E947-91C4-0616D1F9D40A}"/>
              </a:ext>
            </a:extLst>
          </p:cNvPr>
          <p:cNvSpPr>
            <a:spLocks noGrp="1"/>
          </p:cNvSpPr>
          <p:nvPr>
            <p:ph type="title"/>
          </p:nvPr>
        </p:nvSpPr>
        <p:spPr/>
        <p:txBody>
          <a:bodyPr/>
          <a:lstStyle/>
          <a:p>
            <a:pPr algn="ctr"/>
            <a:r>
              <a:rPr lang="en-US" dirty="0">
                <a:solidFill>
                  <a:schemeClr val="accent1"/>
                </a:solidFill>
                <a:latin typeface="+mn-lt"/>
              </a:rPr>
              <a:t>Terminology</a:t>
            </a:r>
          </a:p>
        </p:txBody>
      </p:sp>
      <p:sp>
        <p:nvSpPr>
          <p:cNvPr id="3" name="Content Placeholder 2">
            <a:extLst>
              <a:ext uri="{FF2B5EF4-FFF2-40B4-BE49-F238E27FC236}">
                <a16:creationId xmlns:a16="http://schemas.microsoft.com/office/drawing/2014/main" id="{E8AB205A-2CE7-F149-9AB9-B5170E8DB56D}"/>
              </a:ext>
            </a:extLst>
          </p:cNvPr>
          <p:cNvSpPr>
            <a:spLocks noGrp="1"/>
          </p:cNvSpPr>
          <p:nvPr>
            <p:ph idx="1"/>
          </p:nvPr>
        </p:nvSpPr>
        <p:spPr/>
        <p:txBody>
          <a:bodyPr>
            <a:normAutofit/>
          </a:bodyPr>
          <a:lstStyle/>
          <a:p>
            <a:r>
              <a:rPr lang="en-US" dirty="0"/>
              <a:t>upright</a:t>
            </a:r>
          </a:p>
          <a:p>
            <a:r>
              <a:rPr lang="en-US" dirty="0"/>
              <a:t>supine</a:t>
            </a:r>
          </a:p>
          <a:p>
            <a:pPr marL="0" indent="0">
              <a:buNone/>
            </a:pPr>
            <a:endParaRPr lang="en-US" dirty="0"/>
          </a:p>
          <a:p>
            <a:pPr marL="0" indent="0">
              <a:buNone/>
            </a:pPr>
            <a:r>
              <a:rPr lang="en-US" dirty="0"/>
              <a:t>In addition,                            </a:t>
            </a:r>
            <a:r>
              <a:rPr lang="en-US" dirty="0">
                <a:solidFill>
                  <a:srgbClr val="7030A0"/>
                </a:solidFill>
              </a:rPr>
              <a:t>XRs are _____D, CTs are ____ D</a:t>
            </a:r>
          </a:p>
          <a:p>
            <a:r>
              <a:rPr lang="en-US" dirty="0"/>
              <a:t>PA (posteroanterior)*</a:t>
            </a:r>
          </a:p>
          <a:p>
            <a:r>
              <a:rPr lang="en-US" dirty="0"/>
              <a:t>AP (anteroposterior)</a:t>
            </a:r>
          </a:p>
          <a:p>
            <a:r>
              <a:rPr lang="en-US" dirty="0"/>
              <a:t>lateral*</a:t>
            </a:r>
          </a:p>
          <a:p>
            <a:r>
              <a:rPr lang="en-US" dirty="0"/>
              <a:t>male vs female</a:t>
            </a:r>
          </a:p>
          <a:p>
            <a:pPr marL="0" indent="0">
              <a:buNone/>
            </a:pPr>
            <a:endParaRPr lang="en-US" dirty="0"/>
          </a:p>
        </p:txBody>
      </p:sp>
    </p:spTree>
    <p:extLst>
      <p:ext uri="{BB962C8B-B14F-4D97-AF65-F5344CB8AC3E}">
        <p14:creationId xmlns:p14="http://schemas.microsoft.com/office/powerpoint/2010/main" val="14304387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2F99314-482D-B24A-88ED-1A6EC83E9F79}"/>
              </a:ext>
            </a:extLst>
          </p:cNvPr>
          <p:cNvPicPr>
            <a:picLocks noChangeAspect="1"/>
          </p:cNvPicPr>
          <p:nvPr/>
        </p:nvPicPr>
        <p:blipFill>
          <a:blip r:embed="rId3"/>
          <a:stretch>
            <a:fillRect/>
          </a:stretch>
        </p:blipFill>
        <p:spPr>
          <a:xfrm>
            <a:off x="8496300" y="3454400"/>
            <a:ext cx="2857500" cy="2857500"/>
          </a:xfrm>
          <a:prstGeom prst="rect">
            <a:avLst/>
          </a:prstGeom>
          <a:effectLst>
            <a:softEdge rad="241300"/>
          </a:effectLst>
        </p:spPr>
      </p:pic>
      <p:sp>
        <p:nvSpPr>
          <p:cNvPr id="21505" name="Title 1">
            <a:extLst>
              <a:ext uri="{FF2B5EF4-FFF2-40B4-BE49-F238E27FC236}">
                <a16:creationId xmlns:a16="http://schemas.microsoft.com/office/drawing/2014/main" id="{8400DBB2-E93F-804F-9542-77CA28D8DB76}"/>
              </a:ext>
            </a:extLst>
          </p:cNvPr>
          <p:cNvSpPr>
            <a:spLocks noGrp="1" noChangeArrowheads="1"/>
          </p:cNvSpPr>
          <p:nvPr>
            <p:ph type="title"/>
          </p:nvPr>
        </p:nvSpPr>
        <p:spPr/>
        <p:txBody>
          <a:bodyPr/>
          <a:lstStyle/>
          <a:p>
            <a:pPr algn="ctr"/>
            <a:r>
              <a:rPr lang="en-US" altLang="en-US" dirty="0">
                <a:solidFill>
                  <a:schemeClr val="accent1"/>
                </a:solidFill>
                <a:latin typeface="+mn-lt"/>
              </a:rPr>
              <a:t>Male vs Female CXR</a:t>
            </a:r>
          </a:p>
        </p:txBody>
      </p:sp>
      <p:sp>
        <p:nvSpPr>
          <p:cNvPr id="21506" name="Content Placeholder 2">
            <a:extLst>
              <a:ext uri="{FF2B5EF4-FFF2-40B4-BE49-F238E27FC236}">
                <a16:creationId xmlns:a16="http://schemas.microsoft.com/office/drawing/2014/main" id="{727C647A-4E15-9B4D-AEFB-043BADDC0D90}"/>
              </a:ext>
            </a:extLst>
          </p:cNvPr>
          <p:cNvSpPr>
            <a:spLocks noGrp="1" noChangeArrowheads="1"/>
          </p:cNvSpPr>
          <p:nvPr>
            <p:ph idx="1"/>
          </p:nvPr>
        </p:nvSpPr>
        <p:spPr/>
        <p:txBody>
          <a:bodyPr/>
          <a:lstStyle/>
          <a:p>
            <a:r>
              <a:rPr lang="en-US" altLang="en-US" dirty="0"/>
              <a:t>nipple shadows </a:t>
            </a:r>
            <a:r>
              <a:rPr lang="en-US" altLang="en-US" dirty="0">
                <a:sym typeface="Wingdings" pitchFamily="2" charset="2"/>
              </a:rPr>
              <a:t> </a:t>
            </a:r>
            <a:r>
              <a:rPr lang="en-US" altLang="en-US" dirty="0"/>
              <a:t>men and women </a:t>
            </a:r>
          </a:p>
          <a:p>
            <a:r>
              <a:rPr lang="en-US" altLang="en-US" dirty="0">
                <a:solidFill>
                  <a:schemeClr val="accent1"/>
                </a:solidFill>
              </a:rPr>
              <a:t>compare both sides </a:t>
            </a:r>
          </a:p>
          <a:p>
            <a:r>
              <a:rPr lang="en-US" altLang="en-US" dirty="0"/>
              <a:t>overlying breast tissue </a:t>
            </a:r>
            <a:r>
              <a:rPr lang="en-US" altLang="en-US" dirty="0">
                <a:sym typeface="Wingdings" pitchFamily="2" charset="2"/>
              </a:rPr>
              <a:t> </a:t>
            </a:r>
            <a:r>
              <a:rPr lang="en-US" altLang="en-US" dirty="0"/>
              <a:t>accentuates pulmonary vasculature</a:t>
            </a:r>
          </a:p>
          <a:p>
            <a:pPr marL="0" indent="0">
              <a:buNone/>
            </a:pPr>
            <a:r>
              <a:rPr lang="en-US" altLang="en-US" dirty="0">
                <a:solidFill>
                  <a:schemeClr val="accent1"/>
                </a:solidFill>
              </a:rPr>
              <a:t>  (careful, not to dx as infiltrate)</a:t>
            </a:r>
          </a:p>
          <a:p>
            <a:r>
              <a:rPr lang="en-US" altLang="en-US" dirty="0"/>
              <a:t>can tape BB or other metal object and reshoot film</a:t>
            </a:r>
          </a:p>
        </p:txBody>
      </p:sp>
    </p:spTree>
    <p:extLst>
      <p:ext uri="{BB962C8B-B14F-4D97-AF65-F5344CB8AC3E}">
        <p14:creationId xmlns:p14="http://schemas.microsoft.com/office/powerpoint/2010/main" val="2796781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2625-8A35-CC4B-A319-0F4B9ADA675E}"/>
              </a:ext>
            </a:extLst>
          </p:cNvPr>
          <p:cNvSpPr>
            <a:spLocks noGrp="1"/>
          </p:cNvSpPr>
          <p:nvPr>
            <p:ph type="title"/>
          </p:nvPr>
        </p:nvSpPr>
        <p:spPr/>
        <p:txBody>
          <a:bodyPr/>
          <a:lstStyle/>
          <a:p>
            <a:pPr algn="ctr"/>
            <a:r>
              <a:rPr lang="en-US" dirty="0">
                <a:solidFill>
                  <a:schemeClr val="accent1"/>
                </a:solidFill>
                <a:latin typeface="+mn-lt"/>
              </a:rPr>
              <a:t>male vs female</a:t>
            </a:r>
          </a:p>
        </p:txBody>
      </p:sp>
      <p:pic>
        <p:nvPicPr>
          <p:cNvPr id="5" name="Content Placeholder 4">
            <a:extLst>
              <a:ext uri="{FF2B5EF4-FFF2-40B4-BE49-F238E27FC236}">
                <a16:creationId xmlns:a16="http://schemas.microsoft.com/office/drawing/2014/main" id="{D6D27AFD-09BD-854A-97DD-775209C82A87}"/>
              </a:ext>
            </a:extLst>
          </p:cNvPr>
          <p:cNvPicPr>
            <a:picLocks noGrp="1" noChangeAspect="1"/>
          </p:cNvPicPr>
          <p:nvPr>
            <p:ph idx="1"/>
          </p:nvPr>
        </p:nvPicPr>
        <p:blipFill>
          <a:blip r:embed="rId3"/>
          <a:stretch>
            <a:fillRect/>
          </a:stretch>
        </p:blipFill>
        <p:spPr>
          <a:xfrm>
            <a:off x="3806138" y="1825625"/>
            <a:ext cx="4579723" cy="4351338"/>
          </a:xfrm>
        </p:spPr>
      </p:pic>
    </p:spTree>
    <p:extLst>
      <p:ext uri="{BB962C8B-B14F-4D97-AF65-F5344CB8AC3E}">
        <p14:creationId xmlns:p14="http://schemas.microsoft.com/office/powerpoint/2010/main" val="2314410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F501C-3AFC-3A4D-BC39-B77460DD7C6E}"/>
              </a:ext>
            </a:extLst>
          </p:cNvPr>
          <p:cNvSpPr>
            <a:spLocks noGrp="1"/>
          </p:cNvSpPr>
          <p:nvPr>
            <p:ph type="title"/>
          </p:nvPr>
        </p:nvSpPr>
        <p:spPr/>
        <p:txBody>
          <a:bodyPr/>
          <a:lstStyle/>
          <a:p>
            <a:pPr algn="ctr"/>
            <a:r>
              <a:rPr lang="en-US" dirty="0">
                <a:solidFill>
                  <a:schemeClr val="accent1"/>
                </a:solidFill>
                <a:latin typeface="+mn-lt"/>
              </a:rPr>
              <a:t>male vs female </a:t>
            </a:r>
          </a:p>
        </p:txBody>
      </p:sp>
      <p:pic>
        <p:nvPicPr>
          <p:cNvPr id="5" name="Content Placeholder 4">
            <a:extLst>
              <a:ext uri="{FF2B5EF4-FFF2-40B4-BE49-F238E27FC236}">
                <a16:creationId xmlns:a16="http://schemas.microsoft.com/office/drawing/2014/main" id="{F47F2EF6-2ADC-FB48-8B9B-6CB16917D86D}"/>
              </a:ext>
            </a:extLst>
          </p:cNvPr>
          <p:cNvPicPr>
            <a:picLocks noGrp="1" noChangeAspect="1"/>
          </p:cNvPicPr>
          <p:nvPr>
            <p:ph idx="1"/>
          </p:nvPr>
        </p:nvPicPr>
        <p:blipFill>
          <a:blip r:embed="rId3"/>
          <a:stretch>
            <a:fillRect/>
          </a:stretch>
        </p:blipFill>
        <p:spPr>
          <a:xfrm>
            <a:off x="4061881" y="1825625"/>
            <a:ext cx="4068238" cy="4351338"/>
          </a:xfrm>
          <a:ln>
            <a:noFill/>
          </a:ln>
        </p:spPr>
      </p:pic>
    </p:spTree>
    <p:extLst>
      <p:ext uri="{BB962C8B-B14F-4D97-AF65-F5344CB8AC3E}">
        <p14:creationId xmlns:p14="http://schemas.microsoft.com/office/powerpoint/2010/main" val="30559076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FCDD6-9D7F-E741-AE38-824B0CC5E12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5B30BA1-0340-F349-BC48-67E80F7D6ABF}"/>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sz="4000" dirty="0">
                <a:solidFill>
                  <a:srgbClr val="7030A0"/>
                </a:solidFill>
              </a:rPr>
              <a:t>        </a:t>
            </a:r>
            <a:r>
              <a:rPr lang="en-US" sz="4400" dirty="0">
                <a:solidFill>
                  <a:schemeClr val="accent1"/>
                </a:solidFill>
              </a:rPr>
              <a:t>supine or upright?</a:t>
            </a:r>
          </a:p>
        </p:txBody>
      </p:sp>
      <p:pic>
        <p:nvPicPr>
          <p:cNvPr id="4" name="Picture 3">
            <a:extLst>
              <a:ext uri="{FF2B5EF4-FFF2-40B4-BE49-F238E27FC236}">
                <a16:creationId xmlns:a16="http://schemas.microsoft.com/office/drawing/2014/main" id="{5FF3D74C-8CCB-7F47-BFBB-D90197ED168E}"/>
              </a:ext>
            </a:extLst>
          </p:cNvPr>
          <p:cNvPicPr>
            <a:picLocks noChangeAspect="1"/>
          </p:cNvPicPr>
          <p:nvPr/>
        </p:nvPicPr>
        <p:blipFill>
          <a:blip r:embed="rId3"/>
          <a:stretch>
            <a:fillRect/>
          </a:stretch>
        </p:blipFill>
        <p:spPr>
          <a:xfrm>
            <a:off x="8088545" y="2729716"/>
            <a:ext cx="2857500" cy="2857500"/>
          </a:xfrm>
          <a:prstGeom prst="rect">
            <a:avLst/>
          </a:prstGeom>
        </p:spPr>
      </p:pic>
    </p:spTree>
    <p:extLst>
      <p:ext uri="{BB962C8B-B14F-4D97-AF65-F5344CB8AC3E}">
        <p14:creationId xmlns:p14="http://schemas.microsoft.com/office/powerpoint/2010/main" val="680282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73E53BA-5D4F-9043-99C8-374BB520AD31}"/>
              </a:ext>
            </a:extLst>
          </p:cNvPr>
          <p:cNvPicPr>
            <a:picLocks noGrp="1" noChangeAspect="1"/>
          </p:cNvPicPr>
          <p:nvPr>
            <p:ph idx="1"/>
          </p:nvPr>
        </p:nvPicPr>
        <p:blipFill>
          <a:blip r:embed="rId2"/>
          <a:stretch>
            <a:fillRect/>
          </a:stretch>
        </p:blipFill>
        <p:spPr>
          <a:xfrm>
            <a:off x="3124200" y="1238264"/>
            <a:ext cx="5943600" cy="5106442"/>
          </a:xfrm>
        </p:spPr>
      </p:pic>
    </p:spTree>
    <p:extLst>
      <p:ext uri="{BB962C8B-B14F-4D97-AF65-F5344CB8AC3E}">
        <p14:creationId xmlns:p14="http://schemas.microsoft.com/office/powerpoint/2010/main" val="4092833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a:extLst>
              <a:ext uri="{FF2B5EF4-FFF2-40B4-BE49-F238E27FC236}">
                <a16:creationId xmlns:a16="http://schemas.microsoft.com/office/drawing/2014/main" id="{AC19C1E9-B6D5-214E-877A-CECB9536ABA6}"/>
              </a:ext>
            </a:extLst>
          </p:cNvPr>
          <p:cNvSpPr>
            <a:spLocks noGrp="1" noChangeArrowheads="1"/>
          </p:cNvSpPr>
          <p:nvPr>
            <p:ph type="title"/>
          </p:nvPr>
        </p:nvSpPr>
        <p:spPr/>
        <p:txBody>
          <a:bodyPr/>
          <a:lstStyle/>
          <a:p>
            <a:pPr algn="ctr"/>
            <a:r>
              <a:rPr lang="en-US" altLang="en-US" dirty="0">
                <a:solidFill>
                  <a:schemeClr val="accent1"/>
                </a:solidFill>
                <a:latin typeface="+mn-lt"/>
              </a:rPr>
              <a:t>Supine</a:t>
            </a:r>
            <a:r>
              <a:rPr lang="en-US" altLang="en-US" dirty="0">
                <a:solidFill>
                  <a:schemeClr val="accent1"/>
                </a:solidFill>
              </a:rPr>
              <a:t> </a:t>
            </a:r>
          </a:p>
        </p:txBody>
      </p:sp>
      <p:sp>
        <p:nvSpPr>
          <p:cNvPr id="25602" name="Content Placeholder 2">
            <a:extLst>
              <a:ext uri="{FF2B5EF4-FFF2-40B4-BE49-F238E27FC236}">
                <a16:creationId xmlns:a16="http://schemas.microsoft.com/office/drawing/2014/main" id="{5D8C8FAB-BFB1-0E4E-B92F-DE193F27BA31}"/>
              </a:ext>
            </a:extLst>
          </p:cNvPr>
          <p:cNvSpPr>
            <a:spLocks noGrp="1" noChangeArrowheads="1"/>
          </p:cNvSpPr>
          <p:nvPr>
            <p:ph idx="1"/>
          </p:nvPr>
        </p:nvSpPr>
        <p:spPr/>
        <p:txBody>
          <a:bodyPr>
            <a:normAutofit/>
          </a:bodyPr>
          <a:lstStyle/>
          <a:p>
            <a:r>
              <a:rPr lang="en-US" altLang="en-US" dirty="0"/>
              <a:t>supine position limits full inspiration</a:t>
            </a:r>
          </a:p>
          <a:p>
            <a:pPr marL="0" indent="0">
              <a:buNone/>
            </a:pPr>
            <a:endParaRPr lang="en-US" altLang="en-US" dirty="0"/>
          </a:p>
          <a:p>
            <a:r>
              <a:rPr lang="en-US" altLang="en-US" dirty="0"/>
              <a:t>cephalic push is noted- (liver and abdominal contents)</a:t>
            </a:r>
          </a:p>
          <a:p>
            <a:pPr marL="0" indent="0">
              <a:buNone/>
            </a:pPr>
            <a:endParaRPr lang="en-US" altLang="en-US" dirty="0"/>
          </a:p>
          <a:p>
            <a:r>
              <a:rPr lang="en-US" altLang="en-US" dirty="0"/>
              <a:t>small pleural effusions will layer posterior </a:t>
            </a:r>
            <a:r>
              <a:rPr lang="en-US" altLang="en-US" dirty="0">
                <a:solidFill>
                  <a:schemeClr val="accent1"/>
                </a:solidFill>
              </a:rPr>
              <a:t>(can easily be missed)</a:t>
            </a:r>
          </a:p>
          <a:p>
            <a:r>
              <a:rPr lang="en-US" altLang="en-US" dirty="0"/>
              <a:t>small pneumothoraxes will go anterior </a:t>
            </a:r>
            <a:r>
              <a:rPr lang="en-US" altLang="en-US" dirty="0">
                <a:solidFill>
                  <a:schemeClr val="accent1"/>
                </a:solidFill>
              </a:rPr>
              <a:t>(can easily be missed)</a:t>
            </a:r>
          </a:p>
          <a:p>
            <a:pPr marL="0" indent="0">
              <a:buNone/>
            </a:pPr>
            <a:r>
              <a:rPr lang="en-US" altLang="en-US" dirty="0">
                <a:solidFill>
                  <a:schemeClr val="accent1"/>
                </a:solidFill>
              </a:rPr>
              <a:t> </a:t>
            </a:r>
          </a:p>
          <a:p>
            <a:r>
              <a:rPr lang="en-US" altLang="en-US" dirty="0">
                <a:solidFill>
                  <a:srgbClr val="7030A0"/>
                </a:solidFill>
              </a:rPr>
              <a:t>Be </a:t>
            </a:r>
            <a:r>
              <a:rPr lang="en-US" altLang="en-US" b="1" dirty="0">
                <a:solidFill>
                  <a:srgbClr val="7030A0"/>
                </a:solidFill>
              </a:rPr>
              <a:t>careful</a:t>
            </a:r>
            <a:r>
              <a:rPr lang="en-US" altLang="en-US" dirty="0">
                <a:solidFill>
                  <a:srgbClr val="7030A0"/>
                </a:solidFill>
              </a:rPr>
              <a:t> interpreting supine films!</a:t>
            </a:r>
          </a:p>
          <a:p>
            <a:pPr marL="0" indent="0">
              <a:buNone/>
            </a:pPr>
            <a:endParaRPr lang="en-US" altLang="en-US" dirty="0"/>
          </a:p>
        </p:txBody>
      </p:sp>
    </p:spTree>
    <p:extLst>
      <p:ext uri="{BB962C8B-B14F-4D97-AF65-F5344CB8AC3E}">
        <p14:creationId xmlns:p14="http://schemas.microsoft.com/office/powerpoint/2010/main" val="27868671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E5F9E-088A-DF4C-B975-4B7628EF8189}"/>
              </a:ext>
            </a:extLst>
          </p:cNvPr>
          <p:cNvSpPr>
            <a:spLocks noGrp="1"/>
          </p:cNvSpPr>
          <p:nvPr>
            <p:ph type="title"/>
          </p:nvPr>
        </p:nvSpPr>
        <p:spPr/>
        <p:txBody>
          <a:bodyPr/>
          <a:lstStyle/>
          <a:p>
            <a:r>
              <a:rPr lang="en-US" dirty="0">
                <a:solidFill>
                  <a:schemeClr val="accent1"/>
                </a:solidFill>
                <a:latin typeface="+mn-lt"/>
              </a:rPr>
              <a:t>Upright</a:t>
            </a:r>
          </a:p>
        </p:txBody>
      </p:sp>
      <p:pic>
        <p:nvPicPr>
          <p:cNvPr id="4" name="Content Placeholder 4" descr="upright view chest.jpg">
            <a:extLst>
              <a:ext uri="{FF2B5EF4-FFF2-40B4-BE49-F238E27FC236}">
                <a16:creationId xmlns:a16="http://schemas.microsoft.com/office/drawing/2014/main" id="{F3FF720F-FF88-8E43-B736-00D07C80B18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7158039" y="1543050"/>
            <a:ext cx="4195762" cy="4580751"/>
          </a:xfrm>
        </p:spPr>
      </p:pic>
      <p:sp>
        <p:nvSpPr>
          <p:cNvPr id="5" name="TextBox 4">
            <a:extLst>
              <a:ext uri="{FF2B5EF4-FFF2-40B4-BE49-F238E27FC236}">
                <a16:creationId xmlns:a16="http://schemas.microsoft.com/office/drawing/2014/main" id="{81C959EF-F8EF-E040-9B31-F9E8F620C585}"/>
              </a:ext>
            </a:extLst>
          </p:cNvPr>
          <p:cNvSpPr txBox="1"/>
          <p:nvPr/>
        </p:nvSpPr>
        <p:spPr>
          <a:xfrm>
            <a:off x="655355" y="2368361"/>
            <a:ext cx="6091810" cy="3754874"/>
          </a:xfrm>
          <a:prstGeom prst="rect">
            <a:avLst/>
          </a:prstGeom>
          <a:noFill/>
        </p:spPr>
        <p:txBody>
          <a:bodyPr wrap="square" rtlCol="0">
            <a:spAutoFit/>
          </a:bodyPr>
          <a:lstStyle/>
          <a:p>
            <a:r>
              <a:rPr lang="en-US" altLang="en-US" sz="4400" dirty="0">
                <a:solidFill>
                  <a:srgbClr val="7030A0"/>
                </a:solidFill>
                <a:latin typeface="+mj-lt"/>
              </a:rPr>
              <a:t>inspiration is greater</a:t>
            </a:r>
          </a:p>
          <a:p>
            <a:pPr lvl="1"/>
            <a:endParaRPr lang="en-US" altLang="en-US" sz="4400" dirty="0">
              <a:solidFill>
                <a:srgbClr val="7030A0"/>
              </a:solidFill>
              <a:latin typeface="+mj-lt"/>
            </a:endParaRPr>
          </a:p>
          <a:p>
            <a:r>
              <a:rPr lang="en-US" altLang="en-US" sz="4400" dirty="0">
                <a:solidFill>
                  <a:srgbClr val="7030A0"/>
                </a:solidFill>
                <a:latin typeface="+mj-lt"/>
              </a:rPr>
              <a:t>domes of hemidiaphragm at what level?</a:t>
            </a:r>
          </a:p>
          <a:p>
            <a:pPr lvl="1"/>
            <a:endParaRPr lang="en-US" altLang="en-US" sz="4400" dirty="0">
              <a:solidFill>
                <a:srgbClr val="7030A0"/>
              </a:solidFill>
            </a:endParaRPr>
          </a:p>
          <a:p>
            <a:endParaRPr lang="en-US" dirty="0"/>
          </a:p>
        </p:txBody>
      </p:sp>
    </p:spTree>
    <p:extLst>
      <p:ext uri="{BB962C8B-B14F-4D97-AF65-F5344CB8AC3E}">
        <p14:creationId xmlns:p14="http://schemas.microsoft.com/office/powerpoint/2010/main" val="25360571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a:extLst>
              <a:ext uri="{FF2B5EF4-FFF2-40B4-BE49-F238E27FC236}">
                <a16:creationId xmlns:a16="http://schemas.microsoft.com/office/drawing/2014/main" id="{22A852D3-9695-2942-9CB0-C04520E9BB7D}"/>
              </a:ext>
            </a:extLst>
          </p:cNvPr>
          <p:cNvSpPr>
            <a:spLocks noGrp="1" noChangeArrowheads="1"/>
          </p:cNvSpPr>
          <p:nvPr>
            <p:ph type="title"/>
          </p:nvPr>
        </p:nvSpPr>
        <p:spPr/>
        <p:txBody>
          <a:bodyPr/>
          <a:lstStyle/>
          <a:p>
            <a:r>
              <a:rPr lang="en-US" altLang="en-US" dirty="0">
                <a:solidFill>
                  <a:schemeClr val="accent1"/>
                </a:solidFill>
                <a:latin typeface="+mn-lt"/>
              </a:rPr>
              <a:t>Inspiration and Expiration</a:t>
            </a:r>
          </a:p>
        </p:txBody>
      </p:sp>
      <p:sp>
        <p:nvSpPr>
          <p:cNvPr id="26626" name="Content Placeholder 2">
            <a:extLst>
              <a:ext uri="{FF2B5EF4-FFF2-40B4-BE49-F238E27FC236}">
                <a16:creationId xmlns:a16="http://schemas.microsoft.com/office/drawing/2014/main" id="{740B64AF-D20C-5847-AC9E-0D948F6513DE}"/>
              </a:ext>
            </a:extLst>
          </p:cNvPr>
          <p:cNvSpPr>
            <a:spLocks noGrp="1" noChangeArrowheads="1"/>
          </p:cNvSpPr>
          <p:nvPr>
            <p:ph sz="half" idx="1"/>
          </p:nvPr>
        </p:nvSpPr>
        <p:spPr>
          <a:xfrm>
            <a:off x="120315" y="1825625"/>
            <a:ext cx="6653463" cy="4351338"/>
          </a:xfrm>
        </p:spPr>
        <p:txBody>
          <a:bodyPr>
            <a:normAutofit/>
          </a:bodyPr>
          <a:lstStyle/>
          <a:p>
            <a:endParaRPr lang="en-US" altLang="en-US" dirty="0"/>
          </a:p>
          <a:p>
            <a:endParaRPr lang="en-US" altLang="en-US" dirty="0"/>
          </a:p>
          <a:p>
            <a:pPr marL="0" indent="0">
              <a:buNone/>
            </a:pPr>
            <a:r>
              <a:rPr lang="en-US" altLang="en-US" sz="4000" dirty="0">
                <a:solidFill>
                  <a:srgbClr val="7030A0"/>
                </a:solidFill>
                <a:latin typeface="+mj-lt"/>
              </a:rPr>
              <a:t>Good inspiration = hemidiaphragm down to level of posterior 10</a:t>
            </a:r>
            <a:r>
              <a:rPr lang="en-US" altLang="en-US" sz="4000" baseline="30000" dirty="0">
                <a:solidFill>
                  <a:srgbClr val="7030A0"/>
                </a:solidFill>
                <a:latin typeface="+mj-lt"/>
              </a:rPr>
              <a:t>th</a:t>
            </a:r>
            <a:r>
              <a:rPr lang="en-US" altLang="en-US" sz="4000" dirty="0">
                <a:solidFill>
                  <a:srgbClr val="7030A0"/>
                </a:solidFill>
                <a:latin typeface="+mj-lt"/>
              </a:rPr>
              <a:t> rib. </a:t>
            </a:r>
          </a:p>
          <a:p>
            <a:pPr marL="0" indent="0">
              <a:buNone/>
            </a:pPr>
            <a:endParaRPr lang="en-US" altLang="en-US" sz="4000" dirty="0">
              <a:solidFill>
                <a:srgbClr val="7030A0"/>
              </a:solidFill>
              <a:latin typeface="+mj-lt"/>
            </a:endParaRPr>
          </a:p>
          <a:p>
            <a:pPr marL="0" indent="0">
              <a:buNone/>
            </a:pPr>
            <a:r>
              <a:rPr lang="en-US" altLang="en-US" sz="4000" dirty="0" err="1">
                <a:solidFill>
                  <a:srgbClr val="7030A0"/>
                </a:solidFill>
                <a:latin typeface="+mj-lt"/>
              </a:rPr>
              <a:t>Hypoinflation</a:t>
            </a:r>
            <a:r>
              <a:rPr lang="en-US" altLang="en-US" sz="4000" dirty="0">
                <a:solidFill>
                  <a:srgbClr val="7030A0"/>
                </a:solidFill>
                <a:latin typeface="+mj-lt"/>
              </a:rPr>
              <a:t> = dome at 7th rib</a:t>
            </a:r>
          </a:p>
        </p:txBody>
      </p:sp>
      <p:pic>
        <p:nvPicPr>
          <p:cNvPr id="26627" name="Content Placeholder 4" descr="upright view chest.jpg">
            <a:extLst>
              <a:ext uri="{FF2B5EF4-FFF2-40B4-BE49-F238E27FC236}">
                <a16:creationId xmlns:a16="http://schemas.microsoft.com/office/drawing/2014/main" id="{1F60CAC1-79AB-554C-B649-F9F26DEBFA31}"/>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7078580" y="1676400"/>
            <a:ext cx="4229100" cy="4572000"/>
          </a:xfrm>
        </p:spPr>
      </p:pic>
    </p:spTree>
    <p:extLst>
      <p:ext uri="{BB962C8B-B14F-4D97-AF65-F5344CB8AC3E}">
        <p14:creationId xmlns:p14="http://schemas.microsoft.com/office/powerpoint/2010/main" val="8647341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8AFDA-8688-4A4B-A50C-601A2ED7D6C6}"/>
              </a:ext>
            </a:extLst>
          </p:cNvPr>
          <p:cNvSpPr>
            <a:spLocks noGrp="1"/>
          </p:cNvSpPr>
          <p:nvPr>
            <p:ph type="title"/>
          </p:nvPr>
        </p:nvSpPr>
        <p:spPr/>
        <p:txBody>
          <a:bodyPr/>
          <a:lstStyle/>
          <a:p>
            <a:pPr algn="ctr"/>
            <a:r>
              <a:rPr lang="en-US" dirty="0">
                <a:solidFill>
                  <a:schemeClr val="accent1"/>
                </a:solidFill>
                <a:latin typeface="+mn-lt"/>
              </a:rPr>
              <a:t>Counting Ribs</a:t>
            </a:r>
          </a:p>
        </p:txBody>
      </p:sp>
      <p:pic>
        <p:nvPicPr>
          <p:cNvPr id="5" name="Content Placeholder 4">
            <a:extLst>
              <a:ext uri="{FF2B5EF4-FFF2-40B4-BE49-F238E27FC236}">
                <a16:creationId xmlns:a16="http://schemas.microsoft.com/office/drawing/2014/main" id="{E5954E2E-4FCB-5B4A-89FE-B1C3B2E2E8C7}"/>
              </a:ext>
            </a:extLst>
          </p:cNvPr>
          <p:cNvPicPr>
            <a:picLocks noGrp="1" noChangeAspect="1"/>
          </p:cNvPicPr>
          <p:nvPr>
            <p:ph idx="1"/>
          </p:nvPr>
        </p:nvPicPr>
        <p:blipFill>
          <a:blip r:embed="rId2"/>
          <a:stretch>
            <a:fillRect/>
          </a:stretch>
        </p:blipFill>
        <p:spPr>
          <a:xfrm>
            <a:off x="2881745" y="1343949"/>
            <a:ext cx="5993822" cy="4756886"/>
          </a:xfrm>
        </p:spPr>
      </p:pic>
    </p:spTree>
    <p:extLst>
      <p:ext uri="{BB962C8B-B14F-4D97-AF65-F5344CB8AC3E}">
        <p14:creationId xmlns:p14="http://schemas.microsoft.com/office/powerpoint/2010/main" val="28183410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EE5B6-77C7-7949-9220-DA325CA8B324}"/>
              </a:ext>
            </a:extLst>
          </p:cNvPr>
          <p:cNvSpPr>
            <a:spLocks noGrp="1"/>
          </p:cNvSpPr>
          <p:nvPr>
            <p:ph type="title"/>
          </p:nvPr>
        </p:nvSpPr>
        <p:spPr/>
        <p:txBody>
          <a:bodyPr/>
          <a:lstStyle/>
          <a:p>
            <a:pPr algn="ctr"/>
            <a:r>
              <a:rPr lang="en-US" dirty="0">
                <a:solidFill>
                  <a:schemeClr val="accent1"/>
                </a:solidFill>
                <a:latin typeface="+mn-lt"/>
              </a:rPr>
              <a:t>Question?</a:t>
            </a:r>
          </a:p>
        </p:txBody>
      </p:sp>
      <p:sp>
        <p:nvSpPr>
          <p:cNvPr id="3" name="Content Placeholder 2">
            <a:extLst>
              <a:ext uri="{FF2B5EF4-FFF2-40B4-BE49-F238E27FC236}">
                <a16:creationId xmlns:a16="http://schemas.microsoft.com/office/drawing/2014/main" id="{4418F674-2930-924B-B82A-E8EB7EF12B02}"/>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sz="4000" dirty="0">
                <a:solidFill>
                  <a:schemeClr val="accent1"/>
                </a:solidFill>
              </a:rPr>
              <a:t>Why is the right  </a:t>
            </a:r>
          </a:p>
          <a:p>
            <a:pPr marL="0" indent="0">
              <a:buNone/>
            </a:pPr>
            <a:r>
              <a:rPr lang="en-US" sz="4000" dirty="0">
                <a:solidFill>
                  <a:schemeClr val="accent1"/>
                </a:solidFill>
              </a:rPr>
              <a:t>hemidiaphragm</a:t>
            </a:r>
          </a:p>
          <a:p>
            <a:pPr marL="0" indent="0">
              <a:buNone/>
            </a:pPr>
            <a:r>
              <a:rPr lang="en-US" sz="4000" dirty="0">
                <a:solidFill>
                  <a:schemeClr val="accent1"/>
                </a:solidFill>
              </a:rPr>
              <a:t>higher than the</a:t>
            </a:r>
          </a:p>
          <a:p>
            <a:pPr marL="0" indent="0">
              <a:buNone/>
            </a:pPr>
            <a:r>
              <a:rPr lang="en-US" sz="4000">
                <a:solidFill>
                  <a:schemeClr val="accent1"/>
                </a:solidFill>
              </a:rPr>
              <a:t>the left hemidiaphragm?</a:t>
            </a:r>
          </a:p>
          <a:p>
            <a:pPr marL="0" indent="0">
              <a:buNone/>
            </a:pPr>
            <a:endParaRPr lang="en-US" sz="4000" dirty="0">
              <a:solidFill>
                <a:schemeClr val="accent1"/>
              </a:solidFill>
            </a:endParaRPr>
          </a:p>
        </p:txBody>
      </p:sp>
      <p:pic>
        <p:nvPicPr>
          <p:cNvPr id="4" name="Picture 3">
            <a:extLst>
              <a:ext uri="{FF2B5EF4-FFF2-40B4-BE49-F238E27FC236}">
                <a16:creationId xmlns:a16="http://schemas.microsoft.com/office/drawing/2014/main" id="{C5601206-3589-5547-AEB8-0F80DCD29F90}"/>
              </a:ext>
            </a:extLst>
          </p:cNvPr>
          <p:cNvPicPr>
            <a:picLocks noChangeAspect="1"/>
          </p:cNvPicPr>
          <p:nvPr/>
        </p:nvPicPr>
        <p:blipFill>
          <a:blip r:embed="rId3"/>
          <a:stretch>
            <a:fillRect/>
          </a:stretch>
        </p:blipFill>
        <p:spPr>
          <a:xfrm>
            <a:off x="8492836" y="3734987"/>
            <a:ext cx="2467064" cy="2441976"/>
          </a:xfrm>
          <a:prstGeom prst="rect">
            <a:avLst/>
          </a:prstGeom>
        </p:spPr>
      </p:pic>
    </p:spTree>
    <p:extLst>
      <p:ext uri="{BB962C8B-B14F-4D97-AF65-F5344CB8AC3E}">
        <p14:creationId xmlns:p14="http://schemas.microsoft.com/office/powerpoint/2010/main" val="14369420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1F0E2-68BC-A947-A2CA-19BE60E11E42}"/>
              </a:ext>
            </a:extLst>
          </p:cNvPr>
          <p:cNvSpPr>
            <a:spLocks noGrp="1"/>
          </p:cNvSpPr>
          <p:nvPr>
            <p:ph type="title"/>
          </p:nvPr>
        </p:nvSpPr>
        <p:spPr/>
        <p:txBody>
          <a:bodyPr/>
          <a:lstStyle/>
          <a:p>
            <a:pPr algn="ctr"/>
            <a:r>
              <a:rPr lang="en-US" dirty="0">
                <a:solidFill>
                  <a:schemeClr val="accent1"/>
                </a:solidFill>
                <a:latin typeface="+mn-lt"/>
              </a:rPr>
              <a:t>CXR Projections</a:t>
            </a:r>
          </a:p>
        </p:txBody>
      </p:sp>
      <p:sp>
        <p:nvSpPr>
          <p:cNvPr id="3" name="Content Placeholder 2">
            <a:extLst>
              <a:ext uri="{FF2B5EF4-FFF2-40B4-BE49-F238E27FC236}">
                <a16:creationId xmlns:a16="http://schemas.microsoft.com/office/drawing/2014/main" id="{8283C84E-52CF-2043-8088-A7C727319AAF}"/>
              </a:ext>
            </a:extLst>
          </p:cNvPr>
          <p:cNvSpPr>
            <a:spLocks noGrp="1"/>
          </p:cNvSpPr>
          <p:nvPr>
            <p:ph idx="1"/>
          </p:nvPr>
        </p:nvSpPr>
        <p:spPr/>
        <p:txBody>
          <a:bodyPr/>
          <a:lstStyle/>
          <a:p>
            <a:endParaRPr lang="en-US" dirty="0"/>
          </a:p>
          <a:p>
            <a:r>
              <a:rPr lang="en-US" dirty="0">
                <a:latin typeface="+mj-lt"/>
              </a:rPr>
              <a:t>PA (posteroanterior)</a:t>
            </a:r>
          </a:p>
          <a:p>
            <a:r>
              <a:rPr lang="en-US" dirty="0">
                <a:latin typeface="+mj-lt"/>
              </a:rPr>
              <a:t>AP (anteroposterior)</a:t>
            </a:r>
          </a:p>
          <a:p>
            <a:pPr marL="0" indent="0">
              <a:buNone/>
            </a:pPr>
            <a:endParaRPr lang="en-US" dirty="0">
              <a:latin typeface="+mj-lt"/>
            </a:endParaRPr>
          </a:p>
          <a:p>
            <a:pPr marL="0" indent="0" algn="ctr">
              <a:buNone/>
            </a:pPr>
            <a:r>
              <a:rPr lang="en-US" sz="4000" dirty="0">
                <a:solidFill>
                  <a:schemeClr val="accent1"/>
                </a:solidFill>
                <a:latin typeface="+mj-lt"/>
              </a:rPr>
              <a:t>Can you explain the two terms?</a:t>
            </a:r>
          </a:p>
        </p:txBody>
      </p:sp>
    </p:spTree>
    <p:extLst>
      <p:ext uri="{BB962C8B-B14F-4D97-AF65-F5344CB8AC3E}">
        <p14:creationId xmlns:p14="http://schemas.microsoft.com/office/powerpoint/2010/main" val="1576907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F8C4-5A9F-4148-A6E6-FFECACB51441}"/>
              </a:ext>
            </a:extLst>
          </p:cNvPr>
          <p:cNvSpPr>
            <a:spLocks noGrp="1"/>
          </p:cNvSpPr>
          <p:nvPr>
            <p:ph type="title"/>
          </p:nvPr>
        </p:nvSpPr>
        <p:spPr/>
        <p:txBody>
          <a:bodyPr/>
          <a:lstStyle/>
          <a:p>
            <a:pPr algn="ctr"/>
            <a:r>
              <a:rPr lang="en-US" dirty="0">
                <a:solidFill>
                  <a:schemeClr val="accent1"/>
                </a:solidFill>
                <a:latin typeface="+mn-lt"/>
              </a:rPr>
              <a:t>Terminology</a:t>
            </a:r>
          </a:p>
        </p:txBody>
      </p:sp>
      <p:sp>
        <p:nvSpPr>
          <p:cNvPr id="3" name="Content Placeholder 2">
            <a:extLst>
              <a:ext uri="{FF2B5EF4-FFF2-40B4-BE49-F238E27FC236}">
                <a16:creationId xmlns:a16="http://schemas.microsoft.com/office/drawing/2014/main" id="{43508EB9-F258-AE48-AEF6-598C9CB2DCF4}"/>
              </a:ext>
            </a:extLst>
          </p:cNvPr>
          <p:cNvSpPr>
            <a:spLocks noGrp="1"/>
          </p:cNvSpPr>
          <p:nvPr>
            <p:ph idx="1"/>
          </p:nvPr>
        </p:nvSpPr>
        <p:spPr/>
        <p:txBody>
          <a:bodyPr/>
          <a:lstStyle/>
          <a:p>
            <a:pPr marL="0" indent="0">
              <a:buNone/>
            </a:pPr>
            <a:r>
              <a:rPr lang="en-US" dirty="0"/>
              <a:t>Why is terminology so important for the interpreter?</a:t>
            </a:r>
          </a:p>
          <a:p>
            <a:pPr marL="0" indent="0">
              <a:buNone/>
            </a:pPr>
            <a:endParaRPr lang="en-US" dirty="0"/>
          </a:p>
          <a:p>
            <a:pPr lvl="1"/>
            <a:r>
              <a:rPr lang="en-US" dirty="0"/>
              <a:t>upright</a:t>
            </a:r>
          </a:p>
          <a:p>
            <a:pPr lvl="1"/>
            <a:r>
              <a:rPr lang="en-US" dirty="0"/>
              <a:t>supine</a:t>
            </a:r>
          </a:p>
          <a:p>
            <a:pPr lvl="1"/>
            <a:r>
              <a:rPr lang="en-US" dirty="0"/>
              <a:t>PA</a:t>
            </a:r>
          </a:p>
          <a:p>
            <a:pPr lvl="1"/>
            <a:r>
              <a:rPr lang="en-US" dirty="0"/>
              <a:t>AP</a:t>
            </a:r>
          </a:p>
          <a:p>
            <a:pPr lvl="1"/>
            <a:r>
              <a:rPr lang="en-US" dirty="0"/>
              <a:t>lateral</a:t>
            </a:r>
          </a:p>
          <a:p>
            <a:pPr lvl="1"/>
            <a:endParaRPr lang="en-US" dirty="0"/>
          </a:p>
        </p:txBody>
      </p:sp>
      <p:pic>
        <p:nvPicPr>
          <p:cNvPr id="4" name="Picture 3">
            <a:extLst>
              <a:ext uri="{FF2B5EF4-FFF2-40B4-BE49-F238E27FC236}">
                <a16:creationId xmlns:a16="http://schemas.microsoft.com/office/drawing/2014/main" id="{CE75BDF5-3D5D-EB4A-9646-0DAAF94FA16B}"/>
              </a:ext>
            </a:extLst>
          </p:cNvPr>
          <p:cNvPicPr>
            <a:picLocks noChangeAspect="1"/>
          </p:cNvPicPr>
          <p:nvPr/>
        </p:nvPicPr>
        <p:blipFill>
          <a:blip r:embed="rId3"/>
          <a:stretch>
            <a:fillRect/>
          </a:stretch>
        </p:blipFill>
        <p:spPr>
          <a:xfrm>
            <a:off x="5500687" y="3200400"/>
            <a:ext cx="4191000" cy="1943100"/>
          </a:xfrm>
          <a:prstGeom prst="rect">
            <a:avLst/>
          </a:prstGeom>
        </p:spPr>
      </p:pic>
    </p:spTree>
    <p:extLst>
      <p:ext uri="{BB962C8B-B14F-4D97-AF65-F5344CB8AC3E}">
        <p14:creationId xmlns:p14="http://schemas.microsoft.com/office/powerpoint/2010/main" val="11687805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A4F33-C3E1-4141-AD8C-55D9C9F865A5}"/>
              </a:ext>
            </a:extLst>
          </p:cNvPr>
          <p:cNvSpPr>
            <a:spLocks noGrp="1"/>
          </p:cNvSpPr>
          <p:nvPr>
            <p:ph type="title"/>
          </p:nvPr>
        </p:nvSpPr>
        <p:spPr/>
        <p:txBody>
          <a:bodyPr/>
          <a:lstStyle/>
          <a:p>
            <a:pPr algn="ctr"/>
            <a:r>
              <a:rPr lang="en-US" dirty="0">
                <a:solidFill>
                  <a:schemeClr val="accent1"/>
                </a:solidFill>
                <a:latin typeface="+mn-lt"/>
              </a:rPr>
              <a:t>Terminology</a:t>
            </a:r>
          </a:p>
        </p:txBody>
      </p:sp>
      <p:sp>
        <p:nvSpPr>
          <p:cNvPr id="3" name="Content Placeholder 2">
            <a:extLst>
              <a:ext uri="{FF2B5EF4-FFF2-40B4-BE49-F238E27FC236}">
                <a16:creationId xmlns:a16="http://schemas.microsoft.com/office/drawing/2014/main" id="{BF973E16-06D9-B24B-BB95-2F5D2F5D2432}"/>
              </a:ext>
            </a:extLst>
          </p:cNvPr>
          <p:cNvSpPr>
            <a:spLocks noGrp="1"/>
          </p:cNvSpPr>
          <p:nvPr>
            <p:ph idx="1"/>
          </p:nvPr>
        </p:nvSpPr>
        <p:spPr/>
        <p:txBody>
          <a:bodyPr/>
          <a:lstStyle/>
          <a:p>
            <a:pPr marL="0" indent="0">
              <a:buNone/>
            </a:pPr>
            <a:r>
              <a:rPr lang="en-US" dirty="0">
                <a:latin typeface="+mj-lt"/>
              </a:rPr>
              <a:t>Position is </a:t>
            </a:r>
            <a:r>
              <a:rPr lang="en-US" dirty="0">
                <a:solidFill>
                  <a:schemeClr val="accent1"/>
                </a:solidFill>
                <a:latin typeface="+mj-lt"/>
              </a:rPr>
              <a:t>TREMENDOUSLY</a:t>
            </a:r>
            <a:r>
              <a:rPr lang="en-US" dirty="0">
                <a:latin typeface="+mj-lt"/>
              </a:rPr>
              <a:t> important because the following might be affected:</a:t>
            </a:r>
          </a:p>
          <a:p>
            <a:pPr marL="0" indent="0">
              <a:buNone/>
            </a:pPr>
            <a:r>
              <a:rPr lang="en-US" dirty="0">
                <a:latin typeface="+mj-lt"/>
              </a:rPr>
              <a:t> </a:t>
            </a:r>
          </a:p>
          <a:p>
            <a:pPr lvl="1"/>
            <a:r>
              <a:rPr lang="en-US" dirty="0">
                <a:latin typeface="+mj-lt"/>
              </a:rPr>
              <a:t>	</a:t>
            </a:r>
            <a:r>
              <a:rPr lang="en-US" sz="2800" dirty="0">
                <a:latin typeface="+mj-lt"/>
              </a:rPr>
              <a:t>magnification</a:t>
            </a:r>
          </a:p>
          <a:p>
            <a:pPr lvl="1"/>
            <a:r>
              <a:rPr lang="en-US" dirty="0">
                <a:latin typeface="+mj-lt"/>
              </a:rPr>
              <a:t>	</a:t>
            </a:r>
            <a:r>
              <a:rPr lang="en-US" sz="2800" dirty="0">
                <a:latin typeface="+mj-lt"/>
              </a:rPr>
              <a:t>organ position</a:t>
            </a:r>
          </a:p>
          <a:p>
            <a:pPr lvl="1"/>
            <a:r>
              <a:rPr lang="en-US" sz="2800" dirty="0">
                <a:latin typeface="+mj-lt"/>
              </a:rPr>
              <a:t>	blood flow</a:t>
            </a:r>
          </a:p>
          <a:p>
            <a:pPr lvl="1"/>
            <a:r>
              <a:rPr lang="en-US" sz="2800" dirty="0">
                <a:latin typeface="+mj-lt"/>
              </a:rPr>
              <a:t>   </a:t>
            </a:r>
            <a:r>
              <a:rPr lang="en-US" sz="2800" dirty="0">
                <a:solidFill>
                  <a:schemeClr val="accent1"/>
                </a:solidFill>
                <a:latin typeface="+mj-lt"/>
              </a:rPr>
              <a:t>gravitational pull</a:t>
            </a:r>
          </a:p>
        </p:txBody>
      </p:sp>
      <p:pic>
        <p:nvPicPr>
          <p:cNvPr id="4" name="Picture 3">
            <a:extLst>
              <a:ext uri="{FF2B5EF4-FFF2-40B4-BE49-F238E27FC236}">
                <a16:creationId xmlns:a16="http://schemas.microsoft.com/office/drawing/2014/main" id="{9957776E-B681-874D-8078-9AF6FB6145E4}"/>
              </a:ext>
            </a:extLst>
          </p:cNvPr>
          <p:cNvPicPr>
            <a:picLocks noChangeAspect="1"/>
          </p:cNvPicPr>
          <p:nvPr/>
        </p:nvPicPr>
        <p:blipFill>
          <a:blip r:embed="rId3"/>
          <a:stretch>
            <a:fillRect/>
          </a:stretch>
        </p:blipFill>
        <p:spPr>
          <a:xfrm>
            <a:off x="5500687" y="3200400"/>
            <a:ext cx="4191000" cy="1943100"/>
          </a:xfrm>
          <a:prstGeom prst="rect">
            <a:avLst/>
          </a:prstGeom>
        </p:spPr>
      </p:pic>
    </p:spTree>
    <p:extLst>
      <p:ext uri="{BB962C8B-B14F-4D97-AF65-F5344CB8AC3E}">
        <p14:creationId xmlns:p14="http://schemas.microsoft.com/office/powerpoint/2010/main" val="4214115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376FF-BB36-E241-8F45-DCACCF578A12}"/>
              </a:ext>
            </a:extLst>
          </p:cNvPr>
          <p:cNvSpPr>
            <a:spLocks noGrp="1"/>
          </p:cNvSpPr>
          <p:nvPr>
            <p:ph type="title"/>
          </p:nvPr>
        </p:nvSpPr>
        <p:spPr/>
        <p:txBody>
          <a:bodyPr/>
          <a:lstStyle/>
          <a:p>
            <a:pPr algn="ctr"/>
            <a:r>
              <a:rPr lang="en-US" dirty="0">
                <a:solidFill>
                  <a:schemeClr val="accent1"/>
                </a:solidFill>
                <a:latin typeface="+mn-lt"/>
              </a:rPr>
              <a:t>AP vs PA</a:t>
            </a:r>
          </a:p>
        </p:txBody>
      </p:sp>
      <p:sp>
        <p:nvSpPr>
          <p:cNvPr id="3" name="Content Placeholder 2">
            <a:extLst>
              <a:ext uri="{FF2B5EF4-FFF2-40B4-BE49-F238E27FC236}">
                <a16:creationId xmlns:a16="http://schemas.microsoft.com/office/drawing/2014/main" id="{F0AF68F3-7D67-2147-B5D1-03A06A82FE69}"/>
              </a:ext>
            </a:extLst>
          </p:cNvPr>
          <p:cNvSpPr>
            <a:spLocks noGrp="1"/>
          </p:cNvSpPr>
          <p:nvPr>
            <p:ph idx="1"/>
          </p:nvPr>
        </p:nvSpPr>
        <p:spPr/>
        <p:txBody>
          <a:bodyPr/>
          <a:lstStyle/>
          <a:p>
            <a:pPr marL="0" indent="0">
              <a:buNone/>
            </a:pPr>
            <a:r>
              <a:rPr lang="en-US" sz="4000" dirty="0"/>
              <a:t>         </a:t>
            </a:r>
            <a:r>
              <a:rPr lang="en-US" sz="4000" dirty="0">
                <a:solidFill>
                  <a:schemeClr val="accent1"/>
                </a:solidFill>
              </a:rPr>
              <a:t>AP					    PA</a:t>
            </a:r>
          </a:p>
          <a:p>
            <a:pPr marL="0" indent="0">
              <a:buNone/>
            </a:pPr>
            <a:r>
              <a:rPr lang="en-US" sz="4000" dirty="0">
                <a:latin typeface="+mj-lt"/>
              </a:rPr>
              <a:t>	</a:t>
            </a:r>
            <a:r>
              <a:rPr lang="en-US" dirty="0">
                <a:latin typeface="+mj-lt"/>
              </a:rPr>
              <a:t>			                        </a:t>
            </a:r>
            <a:endParaRPr lang="en-US" sz="4000" dirty="0">
              <a:latin typeface="+mj-lt"/>
            </a:endParaRPr>
          </a:p>
          <a:p>
            <a:pPr marL="0" indent="0">
              <a:buNone/>
            </a:pPr>
            <a:r>
              <a:rPr lang="en-US" dirty="0">
                <a:latin typeface="+mj-lt"/>
              </a:rPr>
              <a:t>X-ray beam is entering/exiting		      X-ray beam is entering/exiting</a:t>
            </a:r>
          </a:p>
          <a:p>
            <a:pPr marL="0" indent="0">
              <a:buNone/>
            </a:pPr>
            <a:r>
              <a:rPr lang="en-US" dirty="0" err="1">
                <a:latin typeface="+mj-lt"/>
              </a:rPr>
              <a:t>pt</a:t>
            </a:r>
            <a:r>
              <a:rPr lang="en-US" dirty="0">
                <a:latin typeface="+mj-lt"/>
              </a:rPr>
              <a:t> position					      </a:t>
            </a:r>
            <a:r>
              <a:rPr lang="en-US" dirty="0" err="1">
                <a:latin typeface="+mj-lt"/>
              </a:rPr>
              <a:t>pt</a:t>
            </a:r>
            <a:r>
              <a:rPr lang="en-US" dirty="0">
                <a:latin typeface="+mj-lt"/>
              </a:rPr>
              <a:t> position</a:t>
            </a:r>
          </a:p>
          <a:p>
            <a:pPr marL="0" indent="0">
              <a:buNone/>
            </a:pPr>
            <a:r>
              <a:rPr lang="en-US" dirty="0">
                <a:latin typeface="+mj-lt"/>
              </a:rPr>
              <a:t>detector plate position		                 detector plate position</a:t>
            </a:r>
          </a:p>
          <a:p>
            <a:pPr marL="0" indent="0">
              <a:buNone/>
            </a:pPr>
            <a:r>
              <a:rPr lang="en-US" dirty="0">
                <a:latin typeface="+mj-lt"/>
              </a:rPr>
              <a:t>heart size					      heart size</a:t>
            </a:r>
          </a:p>
          <a:p>
            <a:pPr marL="0" indent="0">
              <a:buNone/>
            </a:pPr>
            <a:r>
              <a:rPr lang="en-US" dirty="0">
                <a:latin typeface="+mj-lt"/>
              </a:rPr>
              <a:t>diaphragm 					      diaphragm</a:t>
            </a:r>
          </a:p>
        </p:txBody>
      </p:sp>
    </p:spTree>
    <p:extLst>
      <p:ext uri="{BB962C8B-B14F-4D97-AF65-F5344CB8AC3E}">
        <p14:creationId xmlns:p14="http://schemas.microsoft.com/office/powerpoint/2010/main" val="18972031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5AB54-E698-9E47-A3CD-DF156B26BABF}"/>
              </a:ext>
            </a:extLst>
          </p:cNvPr>
          <p:cNvSpPr>
            <a:spLocks noGrp="1"/>
          </p:cNvSpPr>
          <p:nvPr>
            <p:ph type="title"/>
          </p:nvPr>
        </p:nvSpPr>
        <p:spPr/>
        <p:txBody>
          <a:bodyPr/>
          <a:lstStyle/>
          <a:p>
            <a:r>
              <a:rPr lang="en-US"/>
              <a:t>Considering what </a:t>
            </a:r>
            <a:r>
              <a:rPr lang="en-US" dirty="0"/>
              <a:t>we know….</a:t>
            </a:r>
          </a:p>
        </p:txBody>
      </p:sp>
      <p:sp>
        <p:nvSpPr>
          <p:cNvPr id="3" name="Content Placeholder 2">
            <a:extLst>
              <a:ext uri="{FF2B5EF4-FFF2-40B4-BE49-F238E27FC236}">
                <a16:creationId xmlns:a16="http://schemas.microsoft.com/office/drawing/2014/main" id="{48531CB5-7419-7F4F-A62B-C5BDB007E5A4}"/>
              </a:ext>
            </a:extLst>
          </p:cNvPr>
          <p:cNvSpPr>
            <a:spLocks noGrp="1"/>
          </p:cNvSpPr>
          <p:nvPr>
            <p:ph idx="1"/>
          </p:nvPr>
        </p:nvSpPr>
        <p:spPr/>
        <p:txBody>
          <a:bodyPr>
            <a:normAutofit/>
          </a:bodyPr>
          <a:lstStyle/>
          <a:p>
            <a:pPr marL="0" indent="0">
              <a:buNone/>
            </a:pPr>
            <a:r>
              <a:rPr lang="en-US" sz="4000" dirty="0">
                <a:solidFill>
                  <a:schemeClr val="accent1"/>
                </a:solidFill>
                <a:latin typeface="+mj-lt"/>
              </a:rPr>
              <a:t>Before documenting that a patient has cardiomegaly, make sure that you are looking at which view? (PA)</a:t>
            </a:r>
          </a:p>
          <a:p>
            <a:pPr marL="0" indent="0">
              <a:buNone/>
            </a:pPr>
            <a:endParaRPr lang="en-US" sz="4000" dirty="0">
              <a:solidFill>
                <a:schemeClr val="accent1"/>
              </a:solidFill>
              <a:latin typeface="+mj-lt"/>
            </a:endParaRPr>
          </a:p>
        </p:txBody>
      </p:sp>
      <p:pic>
        <p:nvPicPr>
          <p:cNvPr id="4" name="Picture 3">
            <a:extLst>
              <a:ext uri="{FF2B5EF4-FFF2-40B4-BE49-F238E27FC236}">
                <a16:creationId xmlns:a16="http://schemas.microsoft.com/office/drawing/2014/main" id="{D790BDEA-52E4-FD47-86EC-74B51D7EA90D}"/>
              </a:ext>
            </a:extLst>
          </p:cNvPr>
          <p:cNvPicPr>
            <a:picLocks noChangeAspect="1"/>
          </p:cNvPicPr>
          <p:nvPr/>
        </p:nvPicPr>
        <p:blipFill>
          <a:blip r:embed="rId2"/>
          <a:stretch>
            <a:fillRect/>
          </a:stretch>
        </p:blipFill>
        <p:spPr>
          <a:xfrm>
            <a:off x="8465127" y="3543188"/>
            <a:ext cx="2467064" cy="2441976"/>
          </a:xfrm>
          <a:prstGeom prst="rect">
            <a:avLst/>
          </a:prstGeom>
        </p:spPr>
      </p:pic>
    </p:spTree>
    <p:extLst>
      <p:ext uri="{BB962C8B-B14F-4D97-AF65-F5344CB8AC3E}">
        <p14:creationId xmlns:p14="http://schemas.microsoft.com/office/powerpoint/2010/main" val="27164001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AF20748-3C1D-454B-8362-BBD8DA2D98F2}"/>
              </a:ext>
            </a:extLst>
          </p:cNvPr>
          <p:cNvPicPr>
            <a:picLocks noChangeAspect="1"/>
          </p:cNvPicPr>
          <p:nvPr/>
        </p:nvPicPr>
        <p:blipFill>
          <a:blip r:embed="rId3"/>
          <a:stretch>
            <a:fillRect/>
          </a:stretch>
        </p:blipFill>
        <p:spPr>
          <a:xfrm>
            <a:off x="0" y="723900"/>
            <a:ext cx="5473700" cy="5410200"/>
          </a:xfrm>
          <a:prstGeom prst="rect">
            <a:avLst/>
          </a:prstGeom>
        </p:spPr>
      </p:pic>
      <p:pic>
        <p:nvPicPr>
          <p:cNvPr id="7" name="Picture 6">
            <a:extLst>
              <a:ext uri="{FF2B5EF4-FFF2-40B4-BE49-F238E27FC236}">
                <a16:creationId xmlns:a16="http://schemas.microsoft.com/office/drawing/2014/main" id="{3AAEE66B-9305-A040-B6F6-DD1D2F77F502}"/>
              </a:ext>
            </a:extLst>
          </p:cNvPr>
          <p:cNvPicPr>
            <a:picLocks noChangeAspect="1"/>
          </p:cNvPicPr>
          <p:nvPr/>
        </p:nvPicPr>
        <p:blipFill>
          <a:blip r:embed="rId4"/>
          <a:stretch>
            <a:fillRect/>
          </a:stretch>
        </p:blipFill>
        <p:spPr>
          <a:xfrm>
            <a:off x="5877246" y="723900"/>
            <a:ext cx="5410200" cy="5537200"/>
          </a:xfrm>
          <a:prstGeom prst="rect">
            <a:avLst/>
          </a:prstGeom>
        </p:spPr>
      </p:pic>
    </p:spTree>
    <p:extLst>
      <p:ext uri="{BB962C8B-B14F-4D97-AF65-F5344CB8AC3E}">
        <p14:creationId xmlns:p14="http://schemas.microsoft.com/office/powerpoint/2010/main" val="9477394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1F0E2-68BC-A947-A2CA-19BE60E11E42}"/>
              </a:ext>
            </a:extLst>
          </p:cNvPr>
          <p:cNvSpPr>
            <a:spLocks noGrp="1"/>
          </p:cNvSpPr>
          <p:nvPr>
            <p:ph type="title"/>
          </p:nvPr>
        </p:nvSpPr>
        <p:spPr>
          <a:xfrm>
            <a:off x="838200" y="1825625"/>
            <a:ext cx="10515600" cy="1325563"/>
          </a:xfrm>
        </p:spPr>
        <p:txBody>
          <a:bodyPr/>
          <a:lstStyle/>
          <a:p>
            <a:pPr algn="ctr"/>
            <a:r>
              <a:rPr lang="en-US" dirty="0">
                <a:solidFill>
                  <a:schemeClr val="accent1"/>
                </a:solidFill>
                <a:latin typeface="+mn-lt"/>
              </a:rPr>
              <a:t>So, </a:t>
            </a:r>
          </a:p>
        </p:txBody>
      </p:sp>
      <p:sp>
        <p:nvSpPr>
          <p:cNvPr id="3" name="Content Placeholder 2">
            <a:extLst>
              <a:ext uri="{FF2B5EF4-FFF2-40B4-BE49-F238E27FC236}">
                <a16:creationId xmlns:a16="http://schemas.microsoft.com/office/drawing/2014/main" id="{8283C84E-52CF-2043-8088-A7C727319AAF}"/>
              </a:ext>
            </a:extLst>
          </p:cNvPr>
          <p:cNvSpPr>
            <a:spLocks noGrp="1"/>
          </p:cNvSpPr>
          <p:nvPr>
            <p:ph idx="1"/>
          </p:nvPr>
        </p:nvSpPr>
        <p:spPr/>
        <p:txBody>
          <a:bodyPr/>
          <a:lstStyle/>
          <a:p>
            <a:endParaRPr lang="en-US" dirty="0"/>
          </a:p>
          <a:p>
            <a:endParaRPr lang="en-US" dirty="0"/>
          </a:p>
          <a:p>
            <a:endParaRPr lang="en-US" dirty="0"/>
          </a:p>
          <a:p>
            <a:pPr marL="0" indent="0" algn="ctr">
              <a:buNone/>
            </a:pPr>
            <a:r>
              <a:rPr lang="en-US" sz="4000" dirty="0">
                <a:solidFill>
                  <a:srgbClr val="7030A0"/>
                </a:solidFill>
                <a:latin typeface="+mj-lt"/>
              </a:rPr>
              <a:t>Which view is most preferred?</a:t>
            </a:r>
          </a:p>
          <a:p>
            <a:pPr marL="0" indent="0" algn="ctr">
              <a:buNone/>
            </a:pPr>
            <a:r>
              <a:rPr lang="en-US" sz="4000" dirty="0">
                <a:solidFill>
                  <a:srgbClr val="7030A0"/>
                </a:solidFill>
                <a:latin typeface="+mj-lt"/>
              </a:rPr>
              <a:t>Why?</a:t>
            </a:r>
          </a:p>
          <a:p>
            <a:pPr marL="0" indent="0" algn="ctr">
              <a:buNone/>
            </a:pPr>
            <a:r>
              <a:rPr lang="en-US" sz="4000" dirty="0">
                <a:solidFill>
                  <a:srgbClr val="7030A0"/>
                </a:solidFill>
                <a:latin typeface="+mj-lt"/>
              </a:rPr>
              <a:t>So what about expiration?</a:t>
            </a:r>
          </a:p>
        </p:txBody>
      </p:sp>
    </p:spTree>
    <p:extLst>
      <p:ext uri="{BB962C8B-B14F-4D97-AF65-F5344CB8AC3E}">
        <p14:creationId xmlns:p14="http://schemas.microsoft.com/office/powerpoint/2010/main" val="19476740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37398-3ACA-EC4F-A789-B0C24042602C}"/>
              </a:ext>
            </a:extLst>
          </p:cNvPr>
          <p:cNvSpPr>
            <a:spLocks noGrp="1"/>
          </p:cNvSpPr>
          <p:nvPr>
            <p:ph type="title"/>
          </p:nvPr>
        </p:nvSpPr>
        <p:spPr/>
        <p:txBody>
          <a:bodyPr/>
          <a:lstStyle/>
          <a:p>
            <a:pPr algn="ctr"/>
            <a:r>
              <a:rPr lang="en-US" dirty="0">
                <a:solidFill>
                  <a:schemeClr val="accent1"/>
                </a:solidFill>
                <a:latin typeface="+mn-lt"/>
              </a:rPr>
              <a:t>Expiration usefulness</a:t>
            </a:r>
          </a:p>
        </p:txBody>
      </p:sp>
      <p:sp>
        <p:nvSpPr>
          <p:cNvPr id="3" name="Content Placeholder 2">
            <a:extLst>
              <a:ext uri="{FF2B5EF4-FFF2-40B4-BE49-F238E27FC236}">
                <a16:creationId xmlns:a16="http://schemas.microsoft.com/office/drawing/2014/main" id="{8ECD98F0-46DF-784E-8340-987BF3828BDB}"/>
              </a:ext>
            </a:extLst>
          </p:cNvPr>
          <p:cNvSpPr>
            <a:spLocks noGrp="1"/>
          </p:cNvSpPr>
          <p:nvPr>
            <p:ph idx="1"/>
          </p:nvPr>
        </p:nvSpPr>
        <p:spPr/>
        <p:txBody>
          <a:bodyPr/>
          <a:lstStyle/>
          <a:p>
            <a:pPr marL="0" indent="0">
              <a:buNone/>
            </a:pPr>
            <a:r>
              <a:rPr lang="en-US" dirty="0">
                <a:solidFill>
                  <a:schemeClr val="accent1"/>
                </a:solidFill>
                <a:latin typeface="+mj-lt"/>
              </a:rPr>
              <a:t>small pneumothorax:  </a:t>
            </a:r>
            <a:r>
              <a:rPr lang="en-US" dirty="0">
                <a:latin typeface="+mj-lt"/>
              </a:rPr>
              <a:t>expiration will make the lung smaller and 			           denser, and at the same time will relatively make the 			pneumothorax appear larger</a:t>
            </a:r>
          </a:p>
          <a:p>
            <a:pPr marL="0" indent="0">
              <a:buNone/>
            </a:pPr>
            <a:endParaRPr lang="en-US" dirty="0">
              <a:latin typeface="+mj-lt"/>
            </a:endParaRPr>
          </a:p>
          <a:p>
            <a:pPr marL="0" indent="0">
              <a:buNone/>
            </a:pPr>
            <a:r>
              <a:rPr lang="en-US" dirty="0">
                <a:solidFill>
                  <a:schemeClr val="accent1"/>
                </a:solidFill>
                <a:latin typeface="+mj-lt"/>
              </a:rPr>
              <a:t>lodged foreign body:  </a:t>
            </a:r>
            <a:r>
              <a:rPr lang="en-US" dirty="0">
                <a:latin typeface="+mj-lt"/>
              </a:rPr>
              <a:t>“ball-valve phenomenon” – air can move past the 		object during inspiration, but during expiration (the 			bronchus gets smaller) and air can not exit around the obj.  		As a result, the expiration image will show air trapping in 		           the affected lung and a mediastinal shift will occur.</a:t>
            </a:r>
          </a:p>
        </p:txBody>
      </p:sp>
    </p:spTree>
    <p:extLst>
      <p:ext uri="{BB962C8B-B14F-4D97-AF65-F5344CB8AC3E}">
        <p14:creationId xmlns:p14="http://schemas.microsoft.com/office/powerpoint/2010/main" val="36610538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0A811-EF40-E14F-9ACE-1C8E4C36B9EC}"/>
              </a:ext>
            </a:extLst>
          </p:cNvPr>
          <p:cNvSpPr>
            <a:spLocks noGrp="1"/>
          </p:cNvSpPr>
          <p:nvPr>
            <p:ph type="title"/>
          </p:nvPr>
        </p:nvSpPr>
        <p:spPr/>
        <p:txBody>
          <a:bodyPr/>
          <a:lstStyle/>
          <a:p>
            <a:pPr algn="ctr"/>
            <a:r>
              <a:rPr lang="en-US" dirty="0">
                <a:solidFill>
                  <a:schemeClr val="accent1"/>
                </a:solidFill>
                <a:latin typeface="+mn-lt"/>
              </a:rPr>
              <a:t>Pneumothorax</a:t>
            </a:r>
          </a:p>
        </p:txBody>
      </p:sp>
      <p:sp>
        <p:nvSpPr>
          <p:cNvPr id="3" name="Content Placeholder 2">
            <a:extLst>
              <a:ext uri="{FF2B5EF4-FFF2-40B4-BE49-F238E27FC236}">
                <a16:creationId xmlns:a16="http://schemas.microsoft.com/office/drawing/2014/main" id="{5B52B154-534B-D948-8598-B3F23685AA77}"/>
              </a:ext>
            </a:extLst>
          </p:cNvPr>
          <p:cNvSpPr>
            <a:spLocks noGrp="1"/>
          </p:cNvSpPr>
          <p:nvPr>
            <p:ph idx="1"/>
          </p:nvPr>
        </p:nvSpPr>
        <p:spPr/>
        <p:txBody>
          <a:bodyPr>
            <a:normAutofit fontScale="40000" lnSpcReduction="20000"/>
          </a:bodyPr>
          <a:lstStyle/>
          <a:p>
            <a:pPr marL="0" indent="0">
              <a:buNone/>
            </a:pPr>
            <a:r>
              <a:rPr lang="en-US" sz="8400" dirty="0">
                <a:latin typeface="+mj-lt"/>
              </a:rPr>
              <a:t>Pneumothorax—air positioned between the visceral and parietal pleura</a:t>
            </a:r>
          </a:p>
          <a:p>
            <a:pPr marL="0" indent="0">
              <a:buNone/>
            </a:pPr>
            <a:endParaRPr lang="en-US" sz="8400" dirty="0">
              <a:latin typeface="+mj-lt"/>
            </a:endParaRPr>
          </a:p>
          <a:p>
            <a:pPr marL="0" indent="0">
              <a:buNone/>
            </a:pPr>
            <a:r>
              <a:rPr lang="en-US" sz="8400" dirty="0">
                <a:latin typeface="+mj-lt"/>
              </a:rPr>
              <a:t>	*trauma, subclavian venous catheter, liver     	  	   	  biopsy </a:t>
            </a:r>
            <a:r>
              <a:rPr lang="en-US" sz="8400" dirty="0">
                <a:solidFill>
                  <a:schemeClr val="accent1"/>
                </a:solidFill>
                <a:latin typeface="+mj-lt"/>
              </a:rPr>
              <a:t>(remember, the pleural space extends down   	  quite far b/t the liver and lat. and post. abd wall)</a:t>
            </a:r>
          </a:p>
          <a:p>
            <a:pPr marL="0" indent="0">
              <a:buNone/>
            </a:pPr>
            <a:r>
              <a:rPr lang="en-US" sz="8400" dirty="0">
                <a:latin typeface="+mj-lt"/>
              </a:rPr>
              <a:t>	*spontaneous (bleb rupture)</a:t>
            </a:r>
          </a:p>
          <a:p>
            <a:pPr marL="0" indent="0">
              <a:buNone/>
            </a:pPr>
            <a:r>
              <a:rPr lang="en-US" sz="8400" dirty="0">
                <a:latin typeface="+mj-lt"/>
              </a:rPr>
              <a:t>	*metastatic tumors (osteogenic sarcomas)</a:t>
            </a:r>
          </a:p>
          <a:p>
            <a:pPr marL="0" indent="0">
              <a:buNone/>
            </a:pPr>
            <a:endParaRPr lang="en-US" sz="5900" dirty="0">
              <a:latin typeface="+mj-lt"/>
            </a:endParaRPr>
          </a:p>
          <a:p>
            <a:pPr marL="0" indent="0">
              <a:buNone/>
            </a:pPr>
            <a:r>
              <a:rPr lang="en-US" sz="5900" dirty="0">
                <a:solidFill>
                  <a:srgbClr val="7030A0"/>
                </a:solidFill>
                <a:latin typeface="+mj-lt"/>
              </a:rPr>
              <a:t> </a:t>
            </a:r>
          </a:p>
        </p:txBody>
      </p:sp>
    </p:spTree>
    <p:extLst>
      <p:ext uri="{BB962C8B-B14F-4D97-AF65-F5344CB8AC3E}">
        <p14:creationId xmlns:p14="http://schemas.microsoft.com/office/powerpoint/2010/main" val="2189300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7576F-FF35-1A47-BF98-B10B8FF3B5C4}"/>
              </a:ext>
            </a:extLst>
          </p:cNvPr>
          <p:cNvSpPr>
            <a:spLocks noGrp="1"/>
          </p:cNvSpPr>
          <p:nvPr>
            <p:ph type="title"/>
          </p:nvPr>
        </p:nvSpPr>
        <p:spPr/>
        <p:txBody>
          <a:bodyPr/>
          <a:lstStyle/>
          <a:p>
            <a:r>
              <a:rPr lang="en-US" dirty="0"/>
              <a:t>Signs of a tension pneumothorax</a:t>
            </a:r>
          </a:p>
        </p:txBody>
      </p:sp>
      <p:sp>
        <p:nvSpPr>
          <p:cNvPr id="3" name="Content Placeholder 2">
            <a:extLst>
              <a:ext uri="{FF2B5EF4-FFF2-40B4-BE49-F238E27FC236}">
                <a16:creationId xmlns:a16="http://schemas.microsoft.com/office/drawing/2014/main" id="{B409D5DC-CF14-E34E-9378-9A54FEF08DEB}"/>
              </a:ext>
            </a:extLst>
          </p:cNvPr>
          <p:cNvSpPr>
            <a:spLocks noGrp="1"/>
          </p:cNvSpPr>
          <p:nvPr>
            <p:ph idx="1"/>
          </p:nvPr>
        </p:nvSpPr>
        <p:spPr/>
        <p:txBody>
          <a:bodyPr>
            <a:normAutofit lnSpcReduction="10000"/>
          </a:bodyPr>
          <a:lstStyle/>
          <a:p>
            <a:pPr marL="0" indent="0" algn="ctr">
              <a:buNone/>
            </a:pPr>
            <a:endParaRPr lang="en-US" dirty="0"/>
          </a:p>
          <a:p>
            <a:pPr marL="0" indent="0" algn="ctr">
              <a:buNone/>
            </a:pPr>
            <a:endParaRPr lang="en-US" dirty="0"/>
          </a:p>
          <a:p>
            <a:r>
              <a:rPr lang="en-US" dirty="0"/>
              <a:t>lung compression</a:t>
            </a:r>
          </a:p>
          <a:p>
            <a:r>
              <a:rPr lang="en-US" dirty="0"/>
              <a:t>tracheal deviation</a:t>
            </a:r>
          </a:p>
          <a:p>
            <a:r>
              <a:rPr lang="en-US" dirty="0"/>
              <a:t>cardiac shifting</a:t>
            </a:r>
          </a:p>
          <a:p>
            <a:r>
              <a:rPr lang="en-US" dirty="0"/>
              <a:t>hemidiaphragm flattening or depression</a:t>
            </a:r>
          </a:p>
          <a:p>
            <a:endParaRPr lang="en-US" dirty="0"/>
          </a:p>
          <a:p>
            <a:pPr marL="0" indent="0">
              <a:buNone/>
            </a:pPr>
            <a:r>
              <a:rPr lang="en-US" dirty="0">
                <a:solidFill>
                  <a:srgbClr val="7030A0"/>
                </a:solidFill>
              </a:rPr>
              <a:t>If you diagnoses a tension pneumothorax clinically, do not request an CXR—TREAT THE PATIENT</a:t>
            </a:r>
          </a:p>
        </p:txBody>
      </p:sp>
    </p:spTree>
    <p:extLst>
      <p:ext uri="{BB962C8B-B14F-4D97-AF65-F5344CB8AC3E}">
        <p14:creationId xmlns:p14="http://schemas.microsoft.com/office/powerpoint/2010/main" val="18912686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5E7E6-0408-F144-8343-1EEA6327F1D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4A71E08-E54D-F94D-AF94-DC95EF12371B}"/>
              </a:ext>
            </a:extLst>
          </p:cNvPr>
          <p:cNvSpPr>
            <a:spLocks noGrp="1"/>
          </p:cNvSpPr>
          <p:nvPr>
            <p:ph idx="1"/>
          </p:nvPr>
        </p:nvSpPr>
        <p:spPr/>
        <p:txBody>
          <a:bodyPr/>
          <a:lstStyle/>
          <a:p>
            <a:pPr marL="0" indent="0">
              <a:buNone/>
            </a:pPr>
            <a:r>
              <a:rPr lang="en-US" dirty="0">
                <a:solidFill>
                  <a:srgbClr val="7030A0"/>
                </a:solidFill>
              </a:rPr>
              <a:t>costophrenic </a:t>
            </a:r>
          </a:p>
          <a:p>
            <a:pPr marL="0" indent="0">
              <a:buNone/>
            </a:pPr>
            <a:r>
              <a:rPr lang="en-US" dirty="0">
                <a:solidFill>
                  <a:srgbClr val="7030A0"/>
                </a:solidFill>
              </a:rPr>
              <a:t>angles (sulcus)=</a:t>
            </a:r>
          </a:p>
          <a:p>
            <a:pPr marL="0" indent="0">
              <a:buNone/>
            </a:pPr>
            <a:r>
              <a:rPr lang="en-US" dirty="0"/>
              <a:t>formed by the lateral</a:t>
            </a:r>
          </a:p>
          <a:p>
            <a:pPr marL="0" indent="0">
              <a:buNone/>
            </a:pPr>
            <a:r>
              <a:rPr lang="en-US" dirty="0"/>
              <a:t>chest wall &amp; domes </a:t>
            </a:r>
          </a:p>
          <a:p>
            <a:pPr marL="0" indent="0">
              <a:buNone/>
            </a:pPr>
            <a:r>
              <a:rPr lang="en-US" dirty="0"/>
              <a:t>of each diaphragm</a:t>
            </a:r>
          </a:p>
        </p:txBody>
      </p:sp>
      <p:pic>
        <p:nvPicPr>
          <p:cNvPr id="4" name="Content Placeholder 4" descr="upright view chest.jpg">
            <a:extLst>
              <a:ext uri="{FF2B5EF4-FFF2-40B4-BE49-F238E27FC236}">
                <a16:creationId xmlns:a16="http://schemas.microsoft.com/office/drawing/2014/main" id="{44E6CF1C-7887-2E47-B820-A11AABE391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3982636" y="590550"/>
            <a:ext cx="5602977" cy="5959276"/>
          </a:xfrm>
          <a:prstGeom prst="rect">
            <a:avLst/>
          </a:prstGeom>
        </p:spPr>
      </p:pic>
    </p:spTree>
    <p:extLst>
      <p:ext uri="{BB962C8B-B14F-4D97-AF65-F5344CB8AC3E}">
        <p14:creationId xmlns:p14="http://schemas.microsoft.com/office/powerpoint/2010/main" val="29098244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3DE8F-1FDB-D140-A1E8-9896B4DC785D}"/>
              </a:ext>
            </a:extLst>
          </p:cNvPr>
          <p:cNvSpPr>
            <a:spLocks noGrp="1"/>
          </p:cNvSpPr>
          <p:nvPr>
            <p:ph type="title"/>
          </p:nvPr>
        </p:nvSpPr>
        <p:spPr/>
        <p:txBody>
          <a:bodyPr/>
          <a:lstStyle/>
          <a:p>
            <a:pPr algn="ctr"/>
            <a:r>
              <a:rPr lang="en-US" dirty="0">
                <a:solidFill>
                  <a:schemeClr val="accent5"/>
                </a:solidFill>
                <a:latin typeface="+mn-lt"/>
              </a:rPr>
              <a:t>Pneumothorax</a:t>
            </a:r>
          </a:p>
        </p:txBody>
      </p:sp>
      <p:sp>
        <p:nvSpPr>
          <p:cNvPr id="3" name="Content Placeholder 2">
            <a:extLst>
              <a:ext uri="{FF2B5EF4-FFF2-40B4-BE49-F238E27FC236}">
                <a16:creationId xmlns:a16="http://schemas.microsoft.com/office/drawing/2014/main" id="{902A1B34-E5DF-1042-BD87-0D0E1029611D}"/>
              </a:ext>
            </a:extLst>
          </p:cNvPr>
          <p:cNvSpPr>
            <a:spLocks noGrp="1"/>
          </p:cNvSpPr>
          <p:nvPr>
            <p:ph idx="1"/>
          </p:nvPr>
        </p:nvSpPr>
        <p:spPr/>
        <p:txBody>
          <a:bodyPr>
            <a:normAutofit fontScale="92500" lnSpcReduction="10000"/>
          </a:bodyPr>
          <a:lstStyle/>
          <a:p>
            <a:pPr marL="0" indent="0">
              <a:buNone/>
            </a:pPr>
            <a:r>
              <a:rPr lang="en-US" sz="4000" dirty="0">
                <a:latin typeface="+mj-lt"/>
              </a:rPr>
              <a:t>supine or upright?</a:t>
            </a:r>
          </a:p>
          <a:p>
            <a:pPr marL="0" indent="0">
              <a:buNone/>
            </a:pPr>
            <a:endParaRPr lang="en-US" sz="4000" dirty="0">
              <a:latin typeface="+mj-lt"/>
            </a:endParaRPr>
          </a:p>
          <a:p>
            <a:pPr marL="0" indent="0">
              <a:buNone/>
            </a:pPr>
            <a:r>
              <a:rPr lang="en-US" sz="4000" dirty="0">
                <a:solidFill>
                  <a:schemeClr val="accent1"/>
                </a:solidFill>
                <a:latin typeface="+mj-lt"/>
              </a:rPr>
              <a:t>Where is the first place to look for pneumothorax?</a:t>
            </a:r>
          </a:p>
          <a:p>
            <a:pPr marL="0" indent="0">
              <a:buNone/>
            </a:pPr>
            <a:endParaRPr lang="en-US" sz="4000" dirty="0">
              <a:latin typeface="+mj-lt"/>
            </a:endParaRPr>
          </a:p>
          <a:p>
            <a:pPr marL="0" indent="0">
              <a:buNone/>
            </a:pPr>
            <a:r>
              <a:rPr lang="en-US" sz="4000" i="1" dirty="0">
                <a:solidFill>
                  <a:srgbClr val="7030A0"/>
                </a:solidFill>
                <a:latin typeface="+mj-lt"/>
              </a:rPr>
              <a:t>deep sulcus sign</a:t>
            </a:r>
            <a:r>
              <a:rPr lang="en-US" sz="4000" dirty="0">
                <a:solidFill>
                  <a:schemeClr val="accent1"/>
                </a:solidFill>
                <a:latin typeface="+mj-lt"/>
              </a:rPr>
              <a:t>: one of the most reliable signs </a:t>
            </a:r>
            <a:r>
              <a:rPr lang="en-US" sz="4000" dirty="0">
                <a:solidFill>
                  <a:schemeClr val="accent1"/>
                </a:solidFill>
                <a:latin typeface="+mj-lt"/>
                <a:sym typeface="Wingdings" pitchFamily="2" charset="2"/>
              </a:rPr>
              <a:t> AP</a:t>
            </a:r>
            <a:endParaRPr lang="en-US" sz="4000" i="1" dirty="0">
              <a:solidFill>
                <a:schemeClr val="accent1"/>
              </a:solidFill>
              <a:latin typeface="+mj-lt"/>
            </a:endParaRPr>
          </a:p>
          <a:p>
            <a:pPr marL="0" indent="0">
              <a:buNone/>
            </a:pPr>
            <a:endParaRPr lang="en-US" sz="4000" i="1" dirty="0">
              <a:solidFill>
                <a:schemeClr val="accent1"/>
              </a:solidFill>
              <a:latin typeface="+mj-lt"/>
            </a:endParaRPr>
          </a:p>
          <a:p>
            <a:pPr marL="0" indent="0">
              <a:buNone/>
            </a:pPr>
            <a:r>
              <a:rPr lang="en-US" sz="4000" dirty="0">
                <a:solidFill>
                  <a:schemeClr val="accent1"/>
                </a:solidFill>
                <a:latin typeface="+mj-lt"/>
              </a:rPr>
              <a:t>action?</a:t>
            </a:r>
          </a:p>
        </p:txBody>
      </p:sp>
    </p:spTree>
    <p:extLst>
      <p:ext uri="{BB962C8B-B14F-4D97-AF65-F5344CB8AC3E}">
        <p14:creationId xmlns:p14="http://schemas.microsoft.com/office/powerpoint/2010/main" val="26440083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7C0A1-5AAE-1B43-9FB6-6F0F0697B62C}"/>
              </a:ext>
            </a:extLst>
          </p:cNvPr>
          <p:cNvSpPr>
            <a:spLocks noGrp="1"/>
          </p:cNvSpPr>
          <p:nvPr>
            <p:ph type="title"/>
          </p:nvPr>
        </p:nvSpPr>
        <p:spPr/>
        <p:txBody>
          <a:bodyPr/>
          <a:lstStyle/>
          <a:p>
            <a:pPr algn="ctr"/>
            <a:r>
              <a:rPr lang="en-US" dirty="0">
                <a:solidFill>
                  <a:schemeClr val="accent1"/>
                </a:solidFill>
                <a:latin typeface="+mn-lt"/>
              </a:rPr>
              <a:t>Deep Sulcus Sign</a:t>
            </a:r>
          </a:p>
        </p:txBody>
      </p:sp>
      <p:pic>
        <p:nvPicPr>
          <p:cNvPr id="5" name="Content Placeholder 4">
            <a:extLst>
              <a:ext uri="{FF2B5EF4-FFF2-40B4-BE49-F238E27FC236}">
                <a16:creationId xmlns:a16="http://schemas.microsoft.com/office/drawing/2014/main" id="{D188C1BF-7599-6146-9F1B-A9772D8BE2A7}"/>
              </a:ext>
            </a:extLst>
          </p:cNvPr>
          <p:cNvPicPr>
            <a:picLocks noGrp="1" noChangeAspect="1"/>
          </p:cNvPicPr>
          <p:nvPr>
            <p:ph idx="1"/>
          </p:nvPr>
        </p:nvPicPr>
        <p:blipFill>
          <a:blip r:embed="rId3"/>
          <a:stretch>
            <a:fillRect/>
          </a:stretch>
        </p:blipFill>
        <p:spPr>
          <a:xfrm>
            <a:off x="838200" y="1857583"/>
            <a:ext cx="10515600" cy="4287421"/>
          </a:xfrm>
        </p:spPr>
      </p:pic>
    </p:spTree>
    <p:extLst>
      <p:ext uri="{BB962C8B-B14F-4D97-AF65-F5344CB8AC3E}">
        <p14:creationId xmlns:p14="http://schemas.microsoft.com/office/powerpoint/2010/main" val="32260604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110CA-30F9-4D45-83A0-8540EAFDFFE7}"/>
              </a:ext>
            </a:extLst>
          </p:cNvPr>
          <p:cNvSpPr>
            <a:spLocks noGrp="1"/>
          </p:cNvSpPr>
          <p:nvPr>
            <p:ph type="title"/>
          </p:nvPr>
        </p:nvSpPr>
        <p:spPr>
          <a:xfrm>
            <a:off x="838200" y="365125"/>
            <a:ext cx="10515600" cy="1325563"/>
          </a:xfrm>
        </p:spPr>
        <p:txBody>
          <a:bodyPr/>
          <a:lstStyle/>
          <a:p>
            <a:pPr algn="ctr"/>
            <a:r>
              <a:rPr lang="en-US" dirty="0">
                <a:solidFill>
                  <a:schemeClr val="accent1"/>
                </a:solidFill>
                <a:latin typeface="+mn-lt"/>
              </a:rPr>
              <a:t>Pleural effusion</a:t>
            </a:r>
          </a:p>
        </p:txBody>
      </p:sp>
      <p:sp>
        <p:nvSpPr>
          <p:cNvPr id="3" name="Content Placeholder 2">
            <a:extLst>
              <a:ext uri="{FF2B5EF4-FFF2-40B4-BE49-F238E27FC236}">
                <a16:creationId xmlns:a16="http://schemas.microsoft.com/office/drawing/2014/main" id="{A39DFD56-C4B1-B045-9A80-8229C9A973A7}"/>
              </a:ext>
            </a:extLst>
          </p:cNvPr>
          <p:cNvSpPr>
            <a:spLocks noGrp="1"/>
          </p:cNvSpPr>
          <p:nvPr>
            <p:ph idx="1"/>
          </p:nvPr>
        </p:nvSpPr>
        <p:spPr/>
        <p:txBody>
          <a:bodyPr>
            <a:normAutofit/>
          </a:bodyPr>
          <a:lstStyle/>
          <a:p>
            <a:pPr marL="0" indent="0">
              <a:buNone/>
            </a:pPr>
            <a:r>
              <a:rPr lang="en-US" dirty="0">
                <a:solidFill>
                  <a:schemeClr val="accent1"/>
                </a:solidFill>
                <a:latin typeface="+mj-lt"/>
              </a:rPr>
              <a:t>Pleural effusion—collection of fluid between the visceral and parietal 			         pleura (~100 </a:t>
            </a:r>
            <a:r>
              <a:rPr lang="en-US" dirty="0" err="1">
                <a:solidFill>
                  <a:schemeClr val="accent1"/>
                </a:solidFill>
                <a:latin typeface="+mj-lt"/>
              </a:rPr>
              <a:t>mLs</a:t>
            </a:r>
            <a:r>
              <a:rPr lang="en-US" dirty="0">
                <a:solidFill>
                  <a:schemeClr val="accent1"/>
                </a:solidFill>
                <a:latin typeface="+mj-lt"/>
              </a:rPr>
              <a:t> to be detected on upright CXR)</a:t>
            </a:r>
          </a:p>
          <a:p>
            <a:pPr marL="0" indent="0">
              <a:buNone/>
            </a:pPr>
            <a:r>
              <a:rPr lang="en-US" dirty="0">
                <a:solidFill>
                  <a:schemeClr val="accent1"/>
                </a:solidFill>
                <a:latin typeface="+mj-lt"/>
              </a:rPr>
              <a:t>Look for:  blunting of costophrenic angles</a:t>
            </a:r>
          </a:p>
          <a:p>
            <a:pPr marL="0" indent="0">
              <a:buNone/>
            </a:pPr>
            <a:r>
              <a:rPr lang="en-US" dirty="0">
                <a:solidFill>
                  <a:schemeClr val="accent1"/>
                </a:solidFill>
                <a:latin typeface="+mj-lt"/>
              </a:rPr>
              <a:t>	      increased basilar density (whiteness)</a:t>
            </a:r>
          </a:p>
          <a:p>
            <a:pPr marL="0" indent="0">
              <a:buNone/>
            </a:pPr>
            <a:r>
              <a:rPr lang="en-US" dirty="0">
                <a:solidFill>
                  <a:schemeClr val="accent1"/>
                </a:solidFill>
                <a:latin typeface="+mj-lt"/>
              </a:rPr>
              <a:t>	      loss of normal lung-hemidiaphragm is noted</a:t>
            </a:r>
          </a:p>
          <a:p>
            <a:pPr marL="0" indent="0">
              <a:buNone/>
            </a:pPr>
            <a:r>
              <a:rPr lang="en-US" dirty="0">
                <a:solidFill>
                  <a:schemeClr val="accent1"/>
                </a:solidFill>
                <a:latin typeface="+mj-lt"/>
              </a:rPr>
              <a:t>Causes:  malignancies, pancreatitis (left-sided), cirrhosis (right-sided), 	  	    CHF (bilateral), pneumonias</a:t>
            </a:r>
          </a:p>
          <a:p>
            <a:pPr marL="0" indent="0">
              <a:buNone/>
            </a:pPr>
            <a:endParaRPr lang="en-US" dirty="0">
              <a:solidFill>
                <a:schemeClr val="accent1"/>
              </a:solidFill>
              <a:latin typeface="+mj-lt"/>
            </a:endParaRPr>
          </a:p>
          <a:p>
            <a:pPr marL="0" indent="0">
              <a:buNone/>
            </a:pPr>
            <a:r>
              <a:rPr lang="en-US" dirty="0">
                <a:solidFill>
                  <a:schemeClr val="accent1"/>
                </a:solidFill>
                <a:latin typeface="+mj-lt"/>
              </a:rPr>
              <a:t>What is the preferred X-ray position? upright or supine</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7217675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a:extLst>
              <a:ext uri="{FF2B5EF4-FFF2-40B4-BE49-F238E27FC236}">
                <a16:creationId xmlns:a16="http://schemas.microsoft.com/office/drawing/2014/main" id="{385D6967-A60C-FE4E-A29C-605E5423BD83}"/>
              </a:ext>
            </a:extLst>
          </p:cNvPr>
          <p:cNvSpPr>
            <a:spLocks noGrp="1" noChangeArrowheads="1"/>
          </p:cNvSpPr>
          <p:nvPr>
            <p:ph type="title"/>
          </p:nvPr>
        </p:nvSpPr>
        <p:spPr/>
        <p:txBody>
          <a:bodyPr>
            <a:normAutofit/>
          </a:bodyPr>
          <a:lstStyle/>
          <a:p>
            <a:pPr algn="ctr"/>
            <a:r>
              <a:rPr lang="en-US" altLang="en-US" sz="4000" dirty="0">
                <a:solidFill>
                  <a:schemeClr val="accent1"/>
                </a:solidFill>
                <a:latin typeface="+mn-lt"/>
              </a:rPr>
              <a:t>Costophrenic angle? </a:t>
            </a:r>
          </a:p>
        </p:txBody>
      </p:sp>
      <p:pic>
        <p:nvPicPr>
          <p:cNvPr id="24578" name="Content Placeholder 3" descr="costophrenic angle.jpg">
            <a:extLst>
              <a:ext uri="{FF2B5EF4-FFF2-40B4-BE49-F238E27FC236}">
                <a16:creationId xmlns:a16="http://schemas.microsoft.com/office/drawing/2014/main" id="{464CF8B9-C88A-2844-9B3A-04BE587C943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952279" y="1440873"/>
            <a:ext cx="6428027" cy="4918829"/>
          </a:xfrm>
        </p:spPr>
      </p:pic>
    </p:spTree>
    <p:extLst>
      <p:ext uri="{BB962C8B-B14F-4D97-AF65-F5344CB8AC3E}">
        <p14:creationId xmlns:p14="http://schemas.microsoft.com/office/powerpoint/2010/main" val="5486422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E5230-8BA7-E24B-883A-B90F6F47178D}"/>
              </a:ext>
            </a:extLst>
          </p:cNvPr>
          <p:cNvSpPr>
            <a:spLocks noGrp="1"/>
          </p:cNvSpPr>
          <p:nvPr>
            <p:ph type="title"/>
          </p:nvPr>
        </p:nvSpPr>
        <p:spPr/>
        <p:txBody>
          <a:bodyPr/>
          <a:lstStyle/>
          <a:p>
            <a:r>
              <a:rPr lang="en-US" dirty="0">
                <a:solidFill>
                  <a:schemeClr val="accent1"/>
                </a:solidFill>
                <a:latin typeface="+mn-lt"/>
              </a:rPr>
              <a:t>Decubitus </a:t>
            </a:r>
            <a:br>
              <a:rPr lang="en-US" dirty="0">
                <a:solidFill>
                  <a:schemeClr val="accent1"/>
                </a:solidFill>
                <a:latin typeface="+mn-lt"/>
              </a:rPr>
            </a:br>
            <a:r>
              <a:rPr lang="en-US" dirty="0">
                <a:solidFill>
                  <a:schemeClr val="accent1"/>
                </a:solidFill>
                <a:latin typeface="+mn-lt"/>
              </a:rPr>
              <a:t>view</a:t>
            </a:r>
          </a:p>
        </p:txBody>
      </p:sp>
      <p:pic>
        <p:nvPicPr>
          <p:cNvPr id="4" name="Content Placeholder 3">
            <a:extLst>
              <a:ext uri="{FF2B5EF4-FFF2-40B4-BE49-F238E27FC236}">
                <a16:creationId xmlns:a16="http://schemas.microsoft.com/office/drawing/2014/main" id="{E399DCDD-1181-614E-8834-CCBCDA0852BC}"/>
              </a:ext>
            </a:extLst>
          </p:cNvPr>
          <p:cNvPicPr>
            <a:picLocks noGrp="1" noChangeAspect="1"/>
          </p:cNvPicPr>
          <p:nvPr>
            <p:ph idx="1"/>
          </p:nvPr>
        </p:nvPicPr>
        <p:blipFill>
          <a:blip r:embed="rId3"/>
          <a:stretch>
            <a:fillRect/>
          </a:stretch>
        </p:blipFill>
        <p:spPr>
          <a:xfrm>
            <a:off x="3422073" y="1077954"/>
            <a:ext cx="5481111" cy="5292973"/>
          </a:xfrm>
          <a:prstGeom prst="rect">
            <a:avLst/>
          </a:prstGeom>
        </p:spPr>
      </p:pic>
    </p:spTree>
    <p:extLst>
      <p:ext uri="{BB962C8B-B14F-4D97-AF65-F5344CB8AC3E}">
        <p14:creationId xmlns:p14="http://schemas.microsoft.com/office/powerpoint/2010/main" val="38652201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B6ADC-0F60-024E-A3EC-D2C539E73E68}"/>
              </a:ext>
            </a:extLst>
          </p:cNvPr>
          <p:cNvSpPr>
            <a:spLocks noGrp="1"/>
          </p:cNvSpPr>
          <p:nvPr>
            <p:ph type="title"/>
          </p:nvPr>
        </p:nvSpPr>
        <p:spPr>
          <a:xfrm>
            <a:off x="838200" y="18255"/>
            <a:ext cx="10515600" cy="1325563"/>
          </a:xfrm>
        </p:spPr>
        <p:txBody>
          <a:bodyPr/>
          <a:lstStyle/>
          <a:p>
            <a:pPr algn="ctr"/>
            <a:r>
              <a:rPr lang="en-US" dirty="0">
                <a:solidFill>
                  <a:schemeClr val="accent1"/>
                </a:solidFill>
                <a:latin typeface="+mn-lt"/>
              </a:rPr>
              <a:t>Mediastinal shifts: </a:t>
            </a:r>
            <a:r>
              <a:rPr lang="en-US" dirty="0">
                <a:solidFill>
                  <a:srgbClr val="7030A0"/>
                </a:solidFill>
                <a:latin typeface="+mn-lt"/>
              </a:rPr>
              <a:t>push or pull</a:t>
            </a:r>
          </a:p>
        </p:txBody>
      </p:sp>
      <p:sp>
        <p:nvSpPr>
          <p:cNvPr id="3" name="Content Placeholder 2">
            <a:extLst>
              <a:ext uri="{FF2B5EF4-FFF2-40B4-BE49-F238E27FC236}">
                <a16:creationId xmlns:a16="http://schemas.microsoft.com/office/drawing/2014/main" id="{FCB805EC-FDD9-F84F-B113-46443091D045}"/>
              </a:ext>
            </a:extLst>
          </p:cNvPr>
          <p:cNvSpPr>
            <a:spLocks noGrp="1"/>
          </p:cNvSpPr>
          <p:nvPr>
            <p:ph idx="1"/>
          </p:nvPr>
        </p:nvSpPr>
        <p:spPr>
          <a:xfrm>
            <a:off x="108284" y="1825625"/>
            <a:ext cx="12083716" cy="4351338"/>
          </a:xfrm>
        </p:spPr>
        <p:txBody>
          <a:bodyPr>
            <a:normAutofit fontScale="92500" lnSpcReduction="20000"/>
          </a:bodyPr>
          <a:lstStyle/>
          <a:p>
            <a:r>
              <a:rPr lang="en-US" dirty="0">
                <a:solidFill>
                  <a:schemeClr val="accent1"/>
                </a:solidFill>
                <a:latin typeface="+mj-lt"/>
              </a:rPr>
              <a:t>Tension pneumothorax: </a:t>
            </a:r>
            <a:r>
              <a:rPr lang="en-US" dirty="0"/>
              <a:t>the mediastinum is shifted toward the unaffected side.</a:t>
            </a:r>
          </a:p>
          <a:p>
            <a:endParaRPr lang="en-US" dirty="0"/>
          </a:p>
          <a:p>
            <a:r>
              <a:rPr lang="en-US" dirty="0">
                <a:solidFill>
                  <a:schemeClr val="accent1"/>
                </a:solidFill>
                <a:latin typeface="+mj-lt"/>
              </a:rPr>
              <a:t>Atelectasis: </a:t>
            </a:r>
            <a:r>
              <a:rPr lang="en-US" dirty="0"/>
              <a:t>collapse of entire lung segment might result in severe volume loss. The mediastinal is shifted toward the affected side</a:t>
            </a:r>
          </a:p>
          <a:p>
            <a:endParaRPr lang="en-US" dirty="0">
              <a:solidFill>
                <a:schemeClr val="accent1"/>
              </a:solidFill>
              <a:latin typeface="+mj-lt"/>
            </a:endParaRPr>
          </a:p>
          <a:p>
            <a:r>
              <a:rPr lang="en-US" dirty="0">
                <a:solidFill>
                  <a:schemeClr val="accent1"/>
                </a:solidFill>
                <a:latin typeface="+mj-lt"/>
              </a:rPr>
              <a:t>Tumor or mucous plug: </a:t>
            </a:r>
            <a:r>
              <a:rPr lang="en-US" dirty="0">
                <a:latin typeface="+mj-lt"/>
              </a:rPr>
              <a:t>affected side</a:t>
            </a:r>
          </a:p>
          <a:p>
            <a:endParaRPr lang="en-US" dirty="0">
              <a:solidFill>
                <a:schemeClr val="accent1"/>
              </a:solidFill>
              <a:latin typeface="+mj-lt"/>
            </a:endParaRPr>
          </a:p>
          <a:p>
            <a:r>
              <a:rPr lang="en-US" dirty="0">
                <a:solidFill>
                  <a:schemeClr val="accent1"/>
                </a:solidFill>
                <a:latin typeface="+mj-lt"/>
              </a:rPr>
              <a:t>Airway obstruction (ball-valve phenomenon): </a:t>
            </a:r>
            <a:r>
              <a:rPr lang="en-US" dirty="0"/>
              <a:t>mediastinum is shifted toward the unaffected side</a:t>
            </a:r>
          </a:p>
          <a:p>
            <a:pPr marL="0" indent="0">
              <a:buNone/>
            </a:pPr>
            <a:endParaRPr lang="en-US" dirty="0"/>
          </a:p>
          <a:p>
            <a:r>
              <a:rPr lang="en-US" dirty="0">
                <a:solidFill>
                  <a:schemeClr val="accent1"/>
                </a:solidFill>
                <a:latin typeface="+mj-lt"/>
              </a:rPr>
              <a:t>Pleural effusion: unaffected side</a:t>
            </a:r>
          </a:p>
        </p:txBody>
      </p:sp>
    </p:spTree>
    <p:extLst>
      <p:ext uri="{BB962C8B-B14F-4D97-AF65-F5344CB8AC3E}">
        <p14:creationId xmlns:p14="http://schemas.microsoft.com/office/powerpoint/2010/main" val="12976353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382A3-B9F1-9E4A-82EC-60931E56461B}"/>
              </a:ext>
            </a:extLst>
          </p:cNvPr>
          <p:cNvSpPr>
            <a:spLocks noGrp="1"/>
          </p:cNvSpPr>
          <p:nvPr>
            <p:ph type="title"/>
          </p:nvPr>
        </p:nvSpPr>
        <p:spPr/>
        <p:txBody>
          <a:bodyPr/>
          <a:lstStyle/>
          <a:p>
            <a:r>
              <a:rPr lang="en-US" dirty="0">
                <a:solidFill>
                  <a:schemeClr val="accent1"/>
                </a:solidFill>
              </a:rPr>
              <a:t>        Overexposure</a:t>
            </a:r>
            <a:r>
              <a:rPr lang="en-US" dirty="0"/>
              <a:t>            </a:t>
            </a:r>
            <a:r>
              <a:rPr lang="en-US" dirty="0">
                <a:solidFill>
                  <a:schemeClr val="accent1"/>
                </a:solidFill>
              </a:rPr>
              <a:t>Underexposure</a:t>
            </a:r>
          </a:p>
        </p:txBody>
      </p:sp>
      <p:pic>
        <p:nvPicPr>
          <p:cNvPr id="4" name="Content Placeholder 3">
            <a:extLst>
              <a:ext uri="{FF2B5EF4-FFF2-40B4-BE49-F238E27FC236}">
                <a16:creationId xmlns:a16="http://schemas.microsoft.com/office/drawing/2014/main" id="{32C8656D-E0AA-3047-AABC-2E82CB50A758}"/>
              </a:ext>
            </a:extLst>
          </p:cNvPr>
          <p:cNvPicPr>
            <a:picLocks noGrp="1" noChangeAspect="1"/>
          </p:cNvPicPr>
          <p:nvPr>
            <p:ph idx="1"/>
          </p:nvPr>
        </p:nvPicPr>
        <p:blipFill>
          <a:blip r:embed="rId3"/>
          <a:stretch>
            <a:fillRect/>
          </a:stretch>
        </p:blipFill>
        <p:spPr>
          <a:xfrm>
            <a:off x="2032250" y="1825625"/>
            <a:ext cx="8127499" cy="4351338"/>
          </a:xfrm>
          <a:prstGeom prst="rect">
            <a:avLst/>
          </a:prstGeom>
        </p:spPr>
      </p:pic>
    </p:spTree>
    <p:extLst>
      <p:ext uri="{BB962C8B-B14F-4D97-AF65-F5344CB8AC3E}">
        <p14:creationId xmlns:p14="http://schemas.microsoft.com/office/powerpoint/2010/main" val="4352256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01ADEDD4-63CE-0B41-AF7D-05D030E93C36}"/>
              </a:ext>
            </a:extLst>
          </p:cNvPr>
          <p:cNvSpPr>
            <a:spLocks noGrp="1" noChangeArrowheads="1"/>
          </p:cNvSpPr>
          <p:nvPr>
            <p:ph type="title"/>
          </p:nvPr>
        </p:nvSpPr>
        <p:spPr/>
        <p:txBody>
          <a:bodyPr/>
          <a:lstStyle/>
          <a:p>
            <a:pPr algn="ctr"/>
            <a:r>
              <a:rPr lang="en-US" altLang="en-US" dirty="0">
                <a:solidFill>
                  <a:schemeClr val="accent5"/>
                </a:solidFill>
                <a:latin typeface="+mn-lt"/>
              </a:rPr>
              <a:t>Exposure</a:t>
            </a:r>
          </a:p>
        </p:txBody>
      </p:sp>
      <p:sp>
        <p:nvSpPr>
          <p:cNvPr id="19458" name="Text Placeholder 2">
            <a:extLst>
              <a:ext uri="{FF2B5EF4-FFF2-40B4-BE49-F238E27FC236}">
                <a16:creationId xmlns:a16="http://schemas.microsoft.com/office/drawing/2014/main" id="{0D0EBF73-8F4F-2045-A989-02A66855732C}"/>
              </a:ext>
            </a:extLst>
          </p:cNvPr>
          <p:cNvSpPr>
            <a:spLocks noGrp="1" noChangeArrowheads="1"/>
          </p:cNvSpPr>
          <p:nvPr>
            <p:ph type="body" idx="1"/>
          </p:nvPr>
        </p:nvSpPr>
        <p:spPr>
          <a:xfrm>
            <a:off x="1077087" y="1541462"/>
            <a:ext cx="5095113" cy="639763"/>
          </a:xfrm>
        </p:spPr>
        <p:txBody>
          <a:bodyPr/>
          <a:lstStyle/>
          <a:p>
            <a:r>
              <a:rPr lang="en-US" altLang="en-US" dirty="0"/>
              <a:t>Overexposure</a:t>
            </a:r>
          </a:p>
        </p:txBody>
      </p:sp>
      <p:sp>
        <p:nvSpPr>
          <p:cNvPr id="19459" name="Content Placeholder 3">
            <a:extLst>
              <a:ext uri="{FF2B5EF4-FFF2-40B4-BE49-F238E27FC236}">
                <a16:creationId xmlns:a16="http://schemas.microsoft.com/office/drawing/2014/main" id="{2E2E5C05-39E5-A244-A11F-C79C4265ED75}"/>
              </a:ext>
            </a:extLst>
          </p:cNvPr>
          <p:cNvSpPr>
            <a:spLocks noGrp="1" noChangeArrowheads="1"/>
          </p:cNvSpPr>
          <p:nvPr>
            <p:ph sz="half" idx="2"/>
          </p:nvPr>
        </p:nvSpPr>
        <p:spPr/>
        <p:txBody>
          <a:bodyPr>
            <a:normAutofit/>
          </a:bodyPr>
          <a:lstStyle/>
          <a:p>
            <a:r>
              <a:rPr lang="en-US" altLang="en-US" dirty="0">
                <a:solidFill>
                  <a:srgbClr val="7030A0"/>
                </a:solidFill>
              </a:rPr>
              <a:t>Image is dark</a:t>
            </a:r>
          </a:p>
          <a:p>
            <a:r>
              <a:rPr lang="en-US" altLang="en-US" dirty="0">
                <a:solidFill>
                  <a:srgbClr val="7030A0"/>
                </a:solidFill>
              </a:rPr>
              <a:t>Easy to see</a:t>
            </a:r>
            <a:r>
              <a:rPr lang="en-US" altLang="en-US" dirty="0"/>
              <a:t>: Thoracic spine, clavicles, behind the heart, NG &amp; ET tube placement</a:t>
            </a:r>
          </a:p>
          <a:p>
            <a:r>
              <a:rPr lang="en-US" altLang="en-US" dirty="0">
                <a:solidFill>
                  <a:srgbClr val="7030A0"/>
                </a:solidFill>
              </a:rPr>
              <a:t>Cannot see</a:t>
            </a:r>
            <a:r>
              <a:rPr lang="en-US" altLang="en-US" dirty="0"/>
              <a:t>: pulmonary vessels in the periphery, small nodules, or fine structures</a:t>
            </a:r>
          </a:p>
        </p:txBody>
      </p:sp>
      <p:sp>
        <p:nvSpPr>
          <p:cNvPr id="19460" name="Text Placeholder 4">
            <a:extLst>
              <a:ext uri="{FF2B5EF4-FFF2-40B4-BE49-F238E27FC236}">
                <a16:creationId xmlns:a16="http://schemas.microsoft.com/office/drawing/2014/main" id="{C91F09F5-D532-5D46-8213-A17B506D94ED}"/>
              </a:ext>
            </a:extLst>
          </p:cNvPr>
          <p:cNvSpPr>
            <a:spLocks noGrp="1" noChangeArrowheads="1"/>
          </p:cNvSpPr>
          <p:nvPr>
            <p:ph type="body" sz="quarter" idx="3"/>
          </p:nvPr>
        </p:nvSpPr>
        <p:spPr>
          <a:xfrm>
            <a:off x="6172200" y="1339852"/>
            <a:ext cx="5183188" cy="823912"/>
          </a:xfrm>
        </p:spPr>
        <p:txBody>
          <a:bodyPr/>
          <a:lstStyle/>
          <a:p>
            <a:r>
              <a:rPr lang="en-US" altLang="en-US" dirty="0"/>
              <a:t>Underexposure</a:t>
            </a:r>
          </a:p>
        </p:txBody>
      </p:sp>
      <p:sp>
        <p:nvSpPr>
          <p:cNvPr id="19461" name="Content Placeholder 5">
            <a:extLst>
              <a:ext uri="{FF2B5EF4-FFF2-40B4-BE49-F238E27FC236}">
                <a16:creationId xmlns:a16="http://schemas.microsoft.com/office/drawing/2014/main" id="{F911D305-0F48-DA4B-BB3D-D794D256518C}"/>
              </a:ext>
            </a:extLst>
          </p:cNvPr>
          <p:cNvSpPr>
            <a:spLocks noGrp="1" noChangeArrowheads="1"/>
          </p:cNvSpPr>
          <p:nvPr>
            <p:ph sz="quarter" idx="4"/>
          </p:nvPr>
        </p:nvSpPr>
        <p:spPr/>
        <p:txBody>
          <a:bodyPr>
            <a:normAutofit/>
          </a:bodyPr>
          <a:lstStyle/>
          <a:p>
            <a:r>
              <a:rPr lang="en-US" altLang="en-US" dirty="0">
                <a:solidFill>
                  <a:srgbClr val="7030A0"/>
                </a:solidFill>
              </a:rPr>
              <a:t>Image is white</a:t>
            </a:r>
          </a:p>
          <a:p>
            <a:r>
              <a:rPr lang="en-US" altLang="en-US" dirty="0">
                <a:solidFill>
                  <a:srgbClr val="7030A0"/>
                </a:solidFill>
              </a:rPr>
              <a:t>Easy to see</a:t>
            </a:r>
            <a:r>
              <a:rPr lang="en-US" altLang="en-US" dirty="0"/>
              <a:t>:  pulmonary vasculature (don’t mistake for infiltrate)</a:t>
            </a:r>
          </a:p>
          <a:p>
            <a:r>
              <a:rPr lang="en-US" altLang="en-US" dirty="0">
                <a:solidFill>
                  <a:srgbClr val="7030A0"/>
                </a:solidFill>
              </a:rPr>
              <a:t>Cannot see:</a:t>
            </a:r>
            <a:r>
              <a:rPr lang="en-US" altLang="en-US" dirty="0"/>
              <a:t> behind the heart, spinal anatomy, or behind hemidiaphragms </a:t>
            </a:r>
          </a:p>
        </p:txBody>
      </p:sp>
    </p:spTree>
    <p:extLst>
      <p:ext uri="{BB962C8B-B14F-4D97-AF65-F5344CB8AC3E}">
        <p14:creationId xmlns:p14="http://schemas.microsoft.com/office/powerpoint/2010/main" val="11881535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7E3DF-D09B-2B4E-AD40-2CA12F68A9E3}"/>
              </a:ext>
            </a:extLst>
          </p:cNvPr>
          <p:cNvSpPr>
            <a:spLocks noGrp="1"/>
          </p:cNvSpPr>
          <p:nvPr>
            <p:ph type="title"/>
          </p:nvPr>
        </p:nvSpPr>
        <p:spPr>
          <a:xfrm>
            <a:off x="838200" y="18255"/>
            <a:ext cx="10515600" cy="1016461"/>
          </a:xfrm>
        </p:spPr>
        <p:txBody>
          <a:bodyPr/>
          <a:lstStyle/>
          <a:p>
            <a:pPr algn="ctr"/>
            <a:r>
              <a:rPr lang="en-US" b="1" dirty="0">
                <a:solidFill>
                  <a:schemeClr val="accent1"/>
                </a:solidFill>
              </a:rPr>
              <a:t>Correct exposure</a:t>
            </a:r>
          </a:p>
        </p:txBody>
      </p:sp>
      <p:sp>
        <p:nvSpPr>
          <p:cNvPr id="3" name="Content Placeholder 2">
            <a:extLst>
              <a:ext uri="{FF2B5EF4-FFF2-40B4-BE49-F238E27FC236}">
                <a16:creationId xmlns:a16="http://schemas.microsoft.com/office/drawing/2014/main" id="{FB85D9C8-B0CF-B745-A208-703F32228532}"/>
              </a:ext>
            </a:extLst>
          </p:cNvPr>
          <p:cNvSpPr>
            <a:spLocks noGrp="1"/>
          </p:cNvSpPr>
          <p:nvPr>
            <p:ph sz="half" idx="1"/>
          </p:nvPr>
        </p:nvSpPr>
        <p:spPr/>
        <p:txBody>
          <a:bodyPr/>
          <a:lstStyle/>
          <a:p>
            <a:pPr marL="514350" indent="-514350">
              <a:buAutoNum type="arabicPeriod"/>
            </a:pPr>
            <a:r>
              <a:rPr lang="en-US" dirty="0"/>
              <a:t>vessels to at least the peripheral 1/3</a:t>
            </a:r>
            <a:r>
              <a:rPr lang="en-US" baseline="30000" dirty="0"/>
              <a:t>rd</a:t>
            </a:r>
            <a:r>
              <a:rPr lang="en-US" dirty="0"/>
              <a:t> of the lung</a:t>
            </a:r>
          </a:p>
          <a:p>
            <a:pPr marL="514350" indent="-514350">
              <a:buAutoNum type="arabicPeriod"/>
            </a:pPr>
            <a:r>
              <a:rPr lang="en-US" dirty="0"/>
              <a:t>visualization of paraspinous margins</a:t>
            </a:r>
          </a:p>
          <a:p>
            <a:pPr marL="514350" indent="-514350">
              <a:buAutoNum type="arabicPeriod"/>
            </a:pPr>
            <a:r>
              <a:rPr lang="en-US" dirty="0"/>
              <a:t>visualization of the hemidiaphragm behind the heart</a:t>
            </a:r>
          </a:p>
          <a:p>
            <a:pPr marL="0" indent="0">
              <a:buNone/>
            </a:pPr>
            <a:endParaRPr lang="en-US" dirty="0"/>
          </a:p>
        </p:txBody>
      </p:sp>
      <p:pic>
        <p:nvPicPr>
          <p:cNvPr id="5" name="Content Placeholder 4">
            <a:extLst>
              <a:ext uri="{FF2B5EF4-FFF2-40B4-BE49-F238E27FC236}">
                <a16:creationId xmlns:a16="http://schemas.microsoft.com/office/drawing/2014/main" id="{7E72A30E-8971-2F44-A1A0-660BF1901720}"/>
              </a:ext>
            </a:extLst>
          </p:cNvPr>
          <p:cNvPicPr>
            <a:picLocks noGrp="1" noChangeAspect="1"/>
          </p:cNvPicPr>
          <p:nvPr>
            <p:ph sz="half" idx="2"/>
          </p:nvPr>
        </p:nvPicPr>
        <p:blipFill>
          <a:blip r:embed="rId2"/>
          <a:stretch>
            <a:fillRect/>
          </a:stretch>
        </p:blipFill>
        <p:spPr>
          <a:xfrm>
            <a:off x="5994129" y="1167063"/>
            <a:ext cx="5359671" cy="5486188"/>
          </a:xfrm>
        </p:spPr>
      </p:pic>
    </p:spTree>
    <p:extLst>
      <p:ext uri="{BB962C8B-B14F-4D97-AF65-F5344CB8AC3E}">
        <p14:creationId xmlns:p14="http://schemas.microsoft.com/office/powerpoint/2010/main" val="18006523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2AD62-6431-1741-97DE-49297615E1C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E50DF48-287F-E945-B862-55249212B358}"/>
              </a:ext>
            </a:extLst>
          </p:cNvPr>
          <p:cNvSpPr>
            <a:spLocks noGrp="1"/>
          </p:cNvSpPr>
          <p:nvPr>
            <p:ph idx="1"/>
          </p:nvPr>
        </p:nvSpPr>
        <p:spPr/>
        <p:txBody>
          <a:bodyPr/>
          <a:lstStyle/>
          <a:p>
            <a:pPr marL="0" indent="0" algn="ctr">
              <a:buNone/>
            </a:pPr>
            <a:endParaRPr lang="en-US" dirty="0">
              <a:solidFill>
                <a:srgbClr val="7030A0"/>
              </a:solidFill>
            </a:endParaRPr>
          </a:p>
          <a:p>
            <a:pPr marL="0" indent="0">
              <a:buNone/>
            </a:pPr>
            <a:r>
              <a:rPr lang="en-US" sz="4400" dirty="0">
                <a:solidFill>
                  <a:srgbClr val="7030A0"/>
                </a:solidFill>
              </a:rPr>
              <a:t>      </a:t>
            </a:r>
            <a:r>
              <a:rPr lang="en-US" sz="4400" dirty="0">
                <a:solidFill>
                  <a:schemeClr val="accent1"/>
                </a:solidFill>
              </a:rPr>
              <a:t>Know </a:t>
            </a:r>
          </a:p>
          <a:p>
            <a:pPr marL="0" indent="0">
              <a:buNone/>
            </a:pPr>
            <a:r>
              <a:rPr lang="en-US" sz="4400" dirty="0">
                <a:solidFill>
                  <a:schemeClr val="accent1"/>
                </a:solidFill>
              </a:rPr>
              <a:t>      the </a:t>
            </a:r>
          </a:p>
          <a:p>
            <a:pPr marL="0" indent="0">
              <a:buNone/>
            </a:pPr>
            <a:r>
              <a:rPr lang="en-US" sz="4400" dirty="0">
                <a:solidFill>
                  <a:schemeClr val="accent1"/>
                </a:solidFill>
              </a:rPr>
              <a:t>      major </a:t>
            </a:r>
          </a:p>
          <a:p>
            <a:pPr marL="0" indent="0">
              <a:buNone/>
            </a:pPr>
            <a:r>
              <a:rPr lang="en-US" sz="4400" dirty="0">
                <a:solidFill>
                  <a:schemeClr val="accent1"/>
                </a:solidFill>
              </a:rPr>
              <a:t>      landmarks</a:t>
            </a:r>
          </a:p>
        </p:txBody>
      </p:sp>
      <p:pic>
        <p:nvPicPr>
          <p:cNvPr id="4" name="Picture 3">
            <a:extLst>
              <a:ext uri="{FF2B5EF4-FFF2-40B4-BE49-F238E27FC236}">
                <a16:creationId xmlns:a16="http://schemas.microsoft.com/office/drawing/2014/main" id="{5557A5B2-239D-6D47-83A1-9506F6BE9DB6}"/>
              </a:ext>
            </a:extLst>
          </p:cNvPr>
          <p:cNvPicPr>
            <a:picLocks noChangeAspect="1"/>
          </p:cNvPicPr>
          <p:nvPr/>
        </p:nvPicPr>
        <p:blipFill>
          <a:blip r:embed="rId3"/>
          <a:stretch>
            <a:fillRect/>
          </a:stretch>
        </p:blipFill>
        <p:spPr>
          <a:xfrm>
            <a:off x="7069333" y="2502694"/>
            <a:ext cx="2701390" cy="2997200"/>
          </a:xfrm>
          <a:prstGeom prst="rect">
            <a:avLst/>
          </a:prstGeom>
          <a:effectLst>
            <a:glow rad="254000">
              <a:schemeClr val="accent1">
                <a:alpha val="40000"/>
              </a:schemeClr>
            </a:glow>
            <a:softEdge rad="38100"/>
          </a:effectLst>
        </p:spPr>
      </p:pic>
    </p:spTree>
    <p:extLst>
      <p:ext uri="{BB962C8B-B14F-4D97-AF65-F5344CB8AC3E}">
        <p14:creationId xmlns:p14="http://schemas.microsoft.com/office/powerpoint/2010/main" val="37278072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Placeholder 4" descr="Chest_labeled_heart.jpg">
            <a:extLst>
              <a:ext uri="{FF2B5EF4-FFF2-40B4-BE49-F238E27FC236}">
                <a16:creationId xmlns:a16="http://schemas.microsoft.com/office/drawing/2014/main" id="{C87369E0-FA39-574C-8890-08D3AF9ABED9}"/>
              </a:ext>
            </a:extLst>
          </p:cNvPr>
          <p:cNvPicPr>
            <a:picLocks noGrp="1" noChangeAspect="1" noChangeArrowheads="1"/>
          </p:cNvPicPr>
          <p:nvPr>
            <p:ph type="pic" idx="1"/>
          </p:nvPr>
        </p:nvPicPr>
        <p:blipFill>
          <a:blip r:embed="rId3">
            <a:extLst>
              <a:ext uri="{28A0092B-C50C-407E-A947-70E740481C1C}">
                <a14:useLocalDpi xmlns:a14="http://schemas.microsoft.com/office/drawing/2010/main" val="0"/>
              </a:ext>
            </a:extLst>
          </a:blip>
          <a:srcRect l="6876" r="6876"/>
          <a:stretch>
            <a:fillRect/>
          </a:stretch>
        </p:blipFill>
        <p:spPr>
          <a:xfrm>
            <a:off x="2286000" y="533400"/>
            <a:ext cx="7924800" cy="6172200"/>
          </a:xfrm>
        </p:spPr>
      </p:pic>
    </p:spTree>
    <p:extLst>
      <p:ext uri="{BB962C8B-B14F-4D97-AF65-F5344CB8AC3E}">
        <p14:creationId xmlns:p14="http://schemas.microsoft.com/office/powerpoint/2010/main" val="24680636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C4C05-977B-AB47-B02A-A74B37743210}"/>
              </a:ext>
            </a:extLst>
          </p:cNvPr>
          <p:cNvSpPr>
            <a:spLocks noGrp="1"/>
          </p:cNvSpPr>
          <p:nvPr>
            <p:ph type="title"/>
          </p:nvPr>
        </p:nvSpPr>
        <p:spPr>
          <a:xfrm>
            <a:off x="838200" y="18255"/>
            <a:ext cx="10515600" cy="1325563"/>
          </a:xfrm>
        </p:spPr>
        <p:txBody>
          <a:bodyPr>
            <a:noAutofit/>
          </a:bodyPr>
          <a:lstStyle/>
          <a:p>
            <a:pPr algn="ctr"/>
            <a:r>
              <a:rPr lang="en-US" sz="2400" dirty="0">
                <a:solidFill>
                  <a:schemeClr val="accent1"/>
                </a:solidFill>
              </a:rPr>
              <a:t>How many structures can you name?</a:t>
            </a:r>
          </a:p>
        </p:txBody>
      </p:sp>
      <p:pic>
        <p:nvPicPr>
          <p:cNvPr id="5" name="Picture 4">
            <a:extLst>
              <a:ext uri="{FF2B5EF4-FFF2-40B4-BE49-F238E27FC236}">
                <a16:creationId xmlns:a16="http://schemas.microsoft.com/office/drawing/2014/main" id="{47160D5A-6284-E94E-884A-62CEF9B360D3}"/>
              </a:ext>
            </a:extLst>
          </p:cNvPr>
          <p:cNvPicPr>
            <a:picLocks noChangeAspect="1"/>
          </p:cNvPicPr>
          <p:nvPr/>
        </p:nvPicPr>
        <p:blipFill>
          <a:blip r:embed="rId3"/>
          <a:stretch>
            <a:fillRect/>
          </a:stretch>
        </p:blipFill>
        <p:spPr>
          <a:xfrm>
            <a:off x="2558265" y="1276352"/>
            <a:ext cx="6446035" cy="5468634"/>
          </a:xfrm>
          <a:prstGeom prst="rect">
            <a:avLst/>
          </a:prstGeom>
        </p:spPr>
      </p:pic>
    </p:spTree>
    <p:extLst>
      <p:ext uri="{BB962C8B-B14F-4D97-AF65-F5344CB8AC3E}">
        <p14:creationId xmlns:p14="http://schemas.microsoft.com/office/powerpoint/2010/main" val="18237296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DA478-E7C0-754B-A5B7-4ACE7C77DF9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DC0F4F78-CDAE-D343-8A7A-51A8C8F2504A}"/>
              </a:ext>
            </a:extLst>
          </p:cNvPr>
          <p:cNvPicPr>
            <a:picLocks noGrp="1" noChangeAspect="1"/>
          </p:cNvPicPr>
          <p:nvPr>
            <p:ph idx="1"/>
          </p:nvPr>
        </p:nvPicPr>
        <p:blipFill>
          <a:blip r:embed="rId2"/>
          <a:stretch>
            <a:fillRect/>
          </a:stretch>
        </p:blipFill>
        <p:spPr>
          <a:xfrm>
            <a:off x="1094148" y="1825625"/>
            <a:ext cx="10003704" cy="4351338"/>
          </a:xfrm>
        </p:spPr>
      </p:pic>
    </p:spTree>
    <p:extLst>
      <p:ext uri="{BB962C8B-B14F-4D97-AF65-F5344CB8AC3E}">
        <p14:creationId xmlns:p14="http://schemas.microsoft.com/office/powerpoint/2010/main" val="34260683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22767-DCDB-FB43-A393-61F8467B611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18B5E8B-41FD-6D42-AD59-FD7351C38728}"/>
              </a:ext>
            </a:extLst>
          </p:cNvPr>
          <p:cNvSpPr>
            <a:spLocks noGrp="1"/>
          </p:cNvSpPr>
          <p:nvPr>
            <p:ph idx="1"/>
          </p:nvPr>
        </p:nvSpPr>
        <p:spPr/>
        <p:txBody>
          <a:bodyPr/>
          <a:lstStyle/>
          <a:p>
            <a:pPr marL="0" indent="0">
              <a:buNone/>
            </a:pPr>
            <a:endParaRPr lang="en-US" dirty="0"/>
          </a:p>
          <a:p>
            <a:pPr marL="0" indent="0">
              <a:buNone/>
            </a:pPr>
            <a:r>
              <a:rPr lang="en-US" sz="4000" dirty="0">
                <a:solidFill>
                  <a:schemeClr val="accent1"/>
                </a:solidFill>
                <a:latin typeface="+mj-lt"/>
              </a:rPr>
              <a:t>The heart is the easiest structure to see!</a:t>
            </a:r>
          </a:p>
          <a:p>
            <a:pPr marL="0" indent="0">
              <a:buNone/>
            </a:pPr>
            <a:endParaRPr lang="en-US" dirty="0">
              <a:solidFill>
                <a:schemeClr val="accent1"/>
              </a:solidFill>
            </a:endParaRPr>
          </a:p>
          <a:p>
            <a:pPr marL="0" indent="0">
              <a:buNone/>
            </a:pPr>
            <a:endParaRPr lang="en-US" dirty="0"/>
          </a:p>
          <a:p>
            <a:pPr marL="0" indent="0">
              <a:buNone/>
            </a:pPr>
            <a:r>
              <a:rPr lang="en-US" sz="4000" dirty="0">
                <a:solidFill>
                  <a:schemeClr val="accent1"/>
                </a:solidFill>
                <a:latin typeface="+mj-lt"/>
              </a:rPr>
              <a:t>How big is too big?</a:t>
            </a:r>
          </a:p>
        </p:txBody>
      </p:sp>
      <p:pic>
        <p:nvPicPr>
          <p:cNvPr id="4" name="Picture 3">
            <a:extLst>
              <a:ext uri="{FF2B5EF4-FFF2-40B4-BE49-F238E27FC236}">
                <a16:creationId xmlns:a16="http://schemas.microsoft.com/office/drawing/2014/main" id="{AC4F6752-24B8-574F-BDD1-3211369D7316}"/>
              </a:ext>
            </a:extLst>
          </p:cNvPr>
          <p:cNvPicPr>
            <a:picLocks noChangeAspect="1"/>
          </p:cNvPicPr>
          <p:nvPr/>
        </p:nvPicPr>
        <p:blipFill>
          <a:blip r:embed="rId3"/>
          <a:stretch>
            <a:fillRect/>
          </a:stretch>
        </p:blipFill>
        <p:spPr>
          <a:xfrm>
            <a:off x="6907306" y="3370263"/>
            <a:ext cx="2895600" cy="2806700"/>
          </a:xfrm>
          <a:prstGeom prst="rect">
            <a:avLst/>
          </a:prstGeom>
        </p:spPr>
      </p:pic>
    </p:spTree>
    <p:extLst>
      <p:ext uri="{BB962C8B-B14F-4D97-AF65-F5344CB8AC3E}">
        <p14:creationId xmlns:p14="http://schemas.microsoft.com/office/powerpoint/2010/main" val="31255639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5974031-BDE8-2A4C-A681-D393A56D527A}"/>
              </a:ext>
            </a:extLst>
          </p:cNvPr>
          <p:cNvPicPr>
            <a:picLocks noChangeAspect="1"/>
          </p:cNvPicPr>
          <p:nvPr/>
        </p:nvPicPr>
        <p:blipFill>
          <a:blip r:embed="rId3"/>
          <a:stretch>
            <a:fillRect/>
          </a:stretch>
        </p:blipFill>
        <p:spPr>
          <a:xfrm>
            <a:off x="2984500" y="285750"/>
            <a:ext cx="6223000" cy="6286500"/>
          </a:xfrm>
          <a:prstGeom prst="rect">
            <a:avLst/>
          </a:prstGeom>
        </p:spPr>
      </p:pic>
    </p:spTree>
    <p:extLst>
      <p:ext uri="{BB962C8B-B14F-4D97-AF65-F5344CB8AC3E}">
        <p14:creationId xmlns:p14="http://schemas.microsoft.com/office/powerpoint/2010/main" val="21538986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4F7EF06-4BC1-9443-B8DD-43575F9B1BF1}"/>
              </a:ext>
            </a:extLst>
          </p:cNvPr>
          <p:cNvPicPr>
            <a:picLocks noChangeAspect="1"/>
          </p:cNvPicPr>
          <p:nvPr/>
        </p:nvPicPr>
        <p:blipFill>
          <a:blip r:embed="rId3"/>
          <a:stretch>
            <a:fillRect/>
          </a:stretch>
        </p:blipFill>
        <p:spPr>
          <a:xfrm>
            <a:off x="2514600" y="285750"/>
            <a:ext cx="7162800" cy="6286500"/>
          </a:xfrm>
          <a:prstGeom prst="rect">
            <a:avLst/>
          </a:prstGeom>
        </p:spPr>
      </p:pic>
    </p:spTree>
    <p:extLst>
      <p:ext uri="{BB962C8B-B14F-4D97-AF65-F5344CB8AC3E}">
        <p14:creationId xmlns:p14="http://schemas.microsoft.com/office/powerpoint/2010/main" val="7241882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87C3C-28E8-E845-8C85-C9E6DC9F6E40}"/>
              </a:ext>
            </a:extLst>
          </p:cNvPr>
          <p:cNvSpPr>
            <a:spLocks noGrp="1"/>
          </p:cNvSpPr>
          <p:nvPr>
            <p:ph type="title"/>
          </p:nvPr>
        </p:nvSpPr>
        <p:spPr/>
        <p:txBody>
          <a:bodyPr/>
          <a:lstStyle/>
          <a:p>
            <a:pPr algn="ctr"/>
            <a:r>
              <a:rPr lang="en-US" dirty="0">
                <a:solidFill>
                  <a:schemeClr val="accent1"/>
                </a:solidFill>
                <a:latin typeface="+mn-lt"/>
              </a:rPr>
              <a:t>Aspiration pneumonia</a:t>
            </a:r>
          </a:p>
        </p:txBody>
      </p:sp>
      <p:sp>
        <p:nvSpPr>
          <p:cNvPr id="3" name="Content Placeholder 2">
            <a:extLst>
              <a:ext uri="{FF2B5EF4-FFF2-40B4-BE49-F238E27FC236}">
                <a16:creationId xmlns:a16="http://schemas.microsoft.com/office/drawing/2014/main" id="{5A6B5F2C-A3D7-C94D-B4DF-1994E3FE95F1}"/>
              </a:ext>
            </a:extLst>
          </p:cNvPr>
          <p:cNvSpPr>
            <a:spLocks noGrp="1"/>
          </p:cNvSpPr>
          <p:nvPr>
            <p:ph idx="1"/>
          </p:nvPr>
        </p:nvSpPr>
        <p:spPr>
          <a:xfrm>
            <a:off x="0" y="1825625"/>
            <a:ext cx="12192000" cy="4351338"/>
          </a:xfrm>
        </p:spPr>
        <p:txBody>
          <a:bodyPr/>
          <a:lstStyle/>
          <a:p>
            <a:pPr marL="0" indent="0">
              <a:buNone/>
            </a:pPr>
            <a:r>
              <a:rPr lang="en-US" dirty="0">
                <a:latin typeface="+mj-lt"/>
              </a:rPr>
              <a:t>Aspiration: the inhalation of gastric contents</a:t>
            </a:r>
          </a:p>
          <a:p>
            <a:pPr marL="0" indent="0">
              <a:buNone/>
            </a:pPr>
            <a:r>
              <a:rPr lang="en-US" dirty="0">
                <a:latin typeface="+mj-lt"/>
              </a:rPr>
              <a:t>	*following seizure, cardiac resuscitation, anesthesia-related complication</a:t>
            </a:r>
          </a:p>
          <a:p>
            <a:pPr marL="0" indent="0">
              <a:buNone/>
            </a:pPr>
            <a:endParaRPr lang="en-US" dirty="0">
              <a:latin typeface="+mj-lt"/>
            </a:endParaRPr>
          </a:p>
          <a:p>
            <a:pPr marL="0" indent="0">
              <a:buNone/>
            </a:pPr>
            <a:r>
              <a:rPr lang="en-US" dirty="0">
                <a:latin typeface="+mj-lt"/>
              </a:rPr>
              <a:t>CXR usually performed immediately after incidence</a:t>
            </a:r>
          </a:p>
          <a:p>
            <a:pPr marL="0" indent="0">
              <a:buNone/>
            </a:pPr>
            <a:endParaRPr lang="en-US" dirty="0">
              <a:solidFill>
                <a:schemeClr val="accent1"/>
              </a:solidFill>
              <a:latin typeface="+mj-lt"/>
            </a:endParaRPr>
          </a:p>
          <a:p>
            <a:pPr marL="0" indent="0">
              <a:buNone/>
            </a:pPr>
            <a:r>
              <a:rPr lang="en-US" dirty="0">
                <a:solidFill>
                  <a:schemeClr val="accent1"/>
                </a:solidFill>
                <a:latin typeface="+mj-lt"/>
              </a:rPr>
              <a:t>F/U should be performed within 12 hours (it may take several hours for the gastric contents to react with the lung to cause fluid exudate and an alveolar infiltrate)</a:t>
            </a:r>
          </a:p>
        </p:txBody>
      </p:sp>
    </p:spTree>
    <p:extLst>
      <p:ext uri="{BB962C8B-B14F-4D97-AF65-F5344CB8AC3E}">
        <p14:creationId xmlns:p14="http://schemas.microsoft.com/office/powerpoint/2010/main" val="23388861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FB56E-07C9-6D4C-8387-0B7F8435C80C}"/>
              </a:ext>
            </a:extLst>
          </p:cNvPr>
          <p:cNvSpPr>
            <a:spLocks noGrp="1"/>
          </p:cNvSpPr>
          <p:nvPr>
            <p:ph type="title"/>
          </p:nvPr>
        </p:nvSpPr>
        <p:spPr/>
        <p:txBody>
          <a:bodyPr/>
          <a:lstStyle/>
          <a:p>
            <a:pPr algn="ctr"/>
            <a:r>
              <a:rPr lang="en-US" dirty="0">
                <a:solidFill>
                  <a:schemeClr val="accent1"/>
                </a:solidFill>
                <a:latin typeface="+mn-lt"/>
              </a:rPr>
              <a:t>Mediastinal masses</a:t>
            </a:r>
          </a:p>
        </p:txBody>
      </p:sp>
      <p:sp>
        <p:nvSpPr>
          <p:cNvPr id="3" name="Content Placeholder 2">
            <a:extLst>
              <a:ext uri="{FF2B5EF4-FFF2-40B4-BE49-F238E27FC236}">
                <a16:creationId xmlns:a16="http://schemas.microsoft.com/office/drawing/2014/main" id="{04CBCD50-8CAD-DE44-BDB0-0CEB3A8ABE06}"/>
              </a:ext>
            </a:extLst>
          </p:cNvPr>
          <p:cNvSpPr>
            <a:spLocks noGrp="1"/>
          </p:cNvSpPr>
          <p:nvPr>
            <p:ph idx="1"/>
          </p:nvPr>
        </p:nvSpPr>
        <p:spPr/>
        <p:txBody>
          <a:bodyPr>
            <a:normAutofit fontScale="92500"/>
          </a:bodyPr>
          <a:lstStyle/>
          <a:p>
            <a:pPr marL="0" indent="0">
              <a:buNone/>
            </a:pPr>
            <a:r>
              <a:rPr lang="en-US" dirty="0">
                <a:solidFill>
                  <a:schemeClr val="accent1"/>
                </a:solidFill>
                <a:latin typeface="+mj-lt"/>
              </a:rPr>
              <a:t>Mediastinal mass </a:t>
            </a:r>
            <a:r>
              <a:rPr lang="en-US" dirty="0">
                <a:latin typeface="+mj-lt"/>
                <a:sym typeface="Wingdings" pitchFamily="2" charset="2"/>
              </a:rPr>
              <a:t> widening or bulge in the central soft tissue of the chest</a:t>
            </a:r>
          </a:p>
          <a:p>
            <a:pPr marL="0" indent="0">
              <a:buNone/>
            </a:pPr>
            <a:r>
              <a:rPr lang="en-US" dirty="0">
                <a:latin typeface="+mj-lt"/>
                <a:sym typeface="Wingdings" pitchFamily="2" charset="2"/>
              </a:rPr>
              <a:t> </a:t>
            </a:r>
          </a:p>
          <a:p>
            <a:pPr marL="0" indent="0">
              <a:buNone/>
            </a:pPr>
            <a:r>
              <a:rPr lang="en-US" u="sng" dirty="0">
                <a:solidFill>
                  <a:schemeClr val="accent1"/>
                </a:solidFill>
                <a:latin typeface="+mj-lt"/>
                <a:sym typeface="Wingdings" pitchFamily="2" charset="2"/>
              </a:rPr>
              <a:t>Anterior</a:t>
            </a:r>
            <a:r>
              <a:rPr lang="en-US" dirty="0">
                <a:solidFill>
                  <a:schemeClr val="accent1"/>
                </a:solidFill>
                <a:latin typeface="+mj-lt"/>
                <a:sym typeface="Wingdings" pitchFamily="2" charset="2"/>
              </a:rPr>
              <a:t> 			</a:t>
            </a:r>
            <a:r>
              <a:rPr lang="en-US" u="sng" dirty="0">
                <a:solidFill>
                  <a:schemeClr val="accent1"/>
                </a:solidFill>
                <a:latin typeface="+mj-lt"/>
                <a:sym typeface="Wingdings" pitchFamily="2" charset="2"/>
              </a:rPr>
              <a:t>Middle</a:t>
            </a:r>
            <a:r>
              <a:rPr lang="en-US" dirty="0">
                <a:solidFill>
                  <a:schemeClr val="accent1"/>
                </a:solidFill>
                <a:latin typeface="+mj-lt"/>
                <a:sym typeface="Wingdings" pitchFamily="2" charset="2"/>
              </a:rPr>
              <a:t>			</a:t>
            </a:r>
            <a:r>
              <a:rPr lang="en-US" u="sng" dirty="0">
                <a:solidFill>
                  <a:schemeClr val="accent1"/>
                </a:solidFill>
                <a:latin typeface="+mj-lt"/>
                <a:sym typeface="Wingdings" pitchFamily="2" charset="2"/>
              </a:rPr>
              <a:t>Posterior (lateral view)</a:t>
            </a:r>
            <a:r>
              <a:rPr lang="en-US" dirty="0">
                <a:solidFill>
                  <a:schemeClr val="accent1"/>
                </a:solidFill>
                <a:latin typeface="+mj-lt"/>
                <a:sym typeface="Wingdings" pitchFamily="2" charset="2"/>
              </a:rPr>
              <a:t> </a:t>
            </a:r>
          </a:p>
          <a:p>
            <a:pPr marL="0" indent="0">
              <a:lnSpc>
                <a:spcPct val="120000"/>
              </a:lnSpc>
              <a:buNone/>
            </a:pPr>
            <a:r>
              <a:rPr lang="en-US" dirty="0">
                <a:latin typeface="+mj-lt"/>
                <a:sym typeface="Wingdings" pitchFamily="2" charset="2"/>
              </a:rPr>
              <a:t>thymoma			t. aortic aneurysms	            neurogenic (90%)</a:t>
            </a:r>
          </a:p>
          <a:p>
            <a:pPr marL="0" indent="0">
              <a:lnSpc>
                <a:spcPct val="120000"/>
              </a:lnSpc>
              <a:buNone/>
            </a:pPr>
            <a:r>
              <a:rPr lang="en-US" dirty="0">
                <a:latin typeface="+mj-lt"/>
                <a:sym typeface="Wingdings" pitchFamily="2" charset="2"/>
              </a:rPr>
              <a:t>thyroid lesions		neoplasms			neuroblastomas          teratoma			adenopathy			schwannomas	   T cell lymphoma		diaphragmatic hernias	ganglioneuromas</a:t>
            </a:r>
          </a:p>
          <a:p>
            <a:pPr marL="0" indent="0">
              <a:lnSpc>
                <a:spcPct val="120000"/>
              </a:lnSpc>
              <a:buNone/>
            </a:pPr>
            <a:r>
              <a:rPr lang="en-US" dirty="0">
                <a:solidFill>
                  <a:srgbClr val="7030A0"/>
                </a:solidFill>
                <a:latin typeface="+mj-lt"/>
              </a:rPr>
              <a:t>The 4 </a:t>
            </a:r>
            <a:r>
              <a:rPr lang="en-US" dirty="0" err="1">
                <a:solidFill>
                  <a:srgbClr val="7030A0"/>
                </a:solidFill>
                <a:latin typeface="+mj-lt"/>
              </a:rPr>
              <a:t>Ts</a:t>
            </a:r>
            <a:endParaRPr lang="en-US" dirty="0">
              <a:solidFill>
                <a:srgbClr val="7030A0"/>
              </a:solidFill>
              <a:latin typeface="+mj-lt"/>
            </a:endParaRPr>
          </a:p>
        </p:txBody>
      </p:sp>
    </p:spTree>
    <p:extLst>
      <p:ext uri="{BB962C8B-B14F-4D97-AF65-F5344CB8AC3E}">
        <p14:creationId xmlns:p14="http://schemas.microsoft.com/office/powerpoint/2010/main" val="15986944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C8609-84D9-A148-B606-C58F75AE6D54}"/>
              </a:ext>
            </a:extLst>
          </p:cNvPr>
          <p:cNvSpPr>
            <a:spLocks noGrp="1"/>
          </p:cNvSpPr>
          <p:nvPr>
            <p:ph type="title"/>
          </p:nvPr>
        </p:nvSpPr>
        <p:spPr/>
        <p:txBody>
          <a:bodyPr/>
          <a:lstStyle/>
          <a:p>
            <a:r>
              <a:rPr lang="en-US" dirty="0">
                <a:solidFill>
                  <a:schemeClr val="accent1"/>
                </a:solidFill>
                <a:latin typeface="+mn-lt"/>
              </a:rPr>
              <a:t>28 y/o healthy male –c/o difficulty breathing</a:t>
            </a:r>
          </a:p>
        </p:txBody>
      </p:sp>
      <p:pic>
        <p:nvPicPr>
          <p:cNvPr id="5" name="Content Placeholder 4">
            <a:extLst>
              <a:ext uri="{FF2B5EF4-FFF2-40B4-BE49-F238E27FC236}">
                <a16:creationId xmlns:a16="http://schemas.microsoft.com/office/drawing/2014/main" id="{7097426B-937C-7F4B-BD15-507FA4AE65AD}"/>
              </a:ext>
            </a:extLst>
          </p:cNvPr>
          <p:cNvPicPr>
            <a:picLocks noGrp="1" noChangeAspect="1"/>
          </p:cNvPicPr>
          <p:nvPr>
            <p:ph idx="1"/>
          </p:nvPr>
        </p:nvPicPr>
        <p:blipFill>
          <a:blip r:embed="rId3"/>
          <a:stretch>
            <a:fillRect/>
          </a:stretch>
        </p:blipFill>
        <p:spPr>
          <a:xfrm>
            <a:off x="3904181" y="1825625"/>
            <a:ext cx="4309242" cy="4351338"/>
          </a:xfrm>
        </p:spPr>
      </p:pic>
    </p:spTree>
    <p:extLst>
      <p:ext uri="{BB962C8B-B14F-4D97-AF65-F5344CB8AC3E}">
        <p14:creationId xmlns:p14="http://schemas.microsoft.com/office/powerpoint/2010/main" val="17877618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0E257-B9BF-504C-AAD4-23E61D1B2DA8}"/>
              </a:ext>
            </a:extLst>
          </p:cNvPr>
          <p:cNvSpPr>
            <a:spLocks noGrp="1"/>
          </p:cNvSpPr>
          <p:nvPr>
            <p:ph type="title"/>
          </p:nvPr>
        </p:nvSpPr>
        <p:spPr/>
        <p:txBody>
          <a:bodyPr/>
          <a:lstStyle/>
          <a:p>
            <a:pPr algn="ctr"/>
            <a:r>
              <a:rPr lang="en-US" dirty="0">
                <a:solidFill>
                  <a:schemeClr val="accent1"/>
                </a:solidFill>
                <a:latin typeface="+mn-lt"/>
              </a:rPr>
              <a:t>Systematic approach</a:t>
            </a:r>
          </a:p>
        </p:txBody>
      </p:sp>
      <p:sp>
        <p:nvSpPr>
          <p:cNvPr id="3" name="Content Placeholder 2">
            <a:extLst>
              <a:ext uri="{FF2B5EF4-FFF2-40B4-BE49-F238E27FC236}">
                <a16:creationId xmlns:a16="http://schemas.microsoft.com/office/drawing/2014/main" id="{9071CA82-9221-0745-AE50-73B8827D3FA5}"/>
              </a:ext>
            </a:extLst>
          </p:cNvPr>
          <p:cNvSpPr>
            <a:spLocks noGrp="1"/>
          </p:cNvSpPr>
          <p:nvPr>
            <p:ph idx="1"/>
          </p:nvPr>
        </p:nvSpPr>
        <p:spPr/>
        <p:txBody>
          <a:bodyPr/>
          <a:lstStyle/>
          <a:p>
            <a:pPr marL="514350" indent="-514350">
              <a:buAutoNum type="arabicPeriod"/>
            </a:pPr>
            <a:r>
              <a:rPr lang="en-US" dirty="0">
                <a:latin typeface="+mj-lt"/>
              </a:rPr>
              <a:t>Who (correct patient)</a:t>
            </a:r>
          </a:p>
          <a:p>
            <a:pPr marL="514350" indent="-514350">
              <a:buAutoNum type="arabicPeriod"/>
            </a:pPr>
            <a:r>
              <a:rPr lang="en-US" dirty="0">
                <a:latin typeface="+mj-lt"/>
              </a:rPr>
              <a:t>What (film orientation) </a:t>
            </a:r>
            <a:r>
              <a:rPr lang="en-US" dirty="0">
                <a:latin typeface="+mj-lt"/>
                <a:sym typeface="Wingdings" pitchFamily="2" charset="2"/>
              </a:rPr>
              <a:t> AP, PA, supine, upright</a:t>
            </a:r>
          </a:p>
          <a:p>
            <a:pPr marL="514350" indent="-514350">
              <a:buAutoNum type="arabicPeriod"/>
            </a:pPr>
            <a:r>
              <a:rPr lang="en-US" dirty="0">
                <a:latin typeface="+mj-lt"/>
                <a:sym typeface="Wingdings" pitchFamily="2" charset="2"/>
              </a:rPr>
              <a:t>When (date)</a:t>
            </a:r>
          </a:p>
          <a:p>
            <a:pPr marL="514350" indent="-514350">
              <a:buAutoNum type="arabicPeriod"/>
            </a:pPr>
            <a:r>
              <a:rPr lang="en-US" dirty="0">
                <a:latin typeface="+mj-lt"/>
                <a:sym typeface="Wingdings" pitchFamily="2" charset="2"/>
              </a:rPr>
              <a:t>Why (reason for X-ray)  </a:t>
            </a:r>
            <a:r>
              <a:rPr lang="en-US" dirty="0">
                <a:solidFill>
                  <a:schemeClr val="accent1"/>
                </a:solidFill>
                <a:latin typeface="+mj-lt"/>
                <a:sym typeface="Wingdings" pitchFamily="2" charset="2"/>
              </a:rPr>
              <a:t>history and PE are extremely important</a:t>
            </a:r>
          </a:p>
          <a:p>
            <a:pPr marL="514350" indent="-514350">
              <a:buAutoNum type="arabicPeriod"/>
            </a:pPr>
            <a:r>
              <a:rPr lang="en-US" dirty="0">
                <a:latin typeface="+mj-lt"/>
                <a:sym typeface="Wingdings" pitchFamily="2" charset="2"/>
              </a:rPr>
              <a:t>Exposure?</a:t>
            </a:r>
          </a:p>
          <a:p>
            <a:pPr marL="0" indent="0">
              <a:buNone/>
            </a:pPr>
            <a:endParaRPr lang="en-US" dirty="0"/>
          </a:p>
        </p:txBody>
      </p:sp>
    </p:spTree>
    <p:extLst>
      <p:ext uri="{BB962C8B-B14F-4D97-AF65-F5344CB8AC3E}">
        <p14:creationId xmlns:p14="http://schemas.microsoft.com/office/powerpoint/2010/main" val="24344797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1696A-19BF-8748-AA06-7AD5955B5017}"/>
              </a:ext>
            </a:extLst>
          </p:cNvPr>
          <p:cNvSpPr>
            <a:spLocks noGrp="1"/>
          </p:cNvSpPr>
          <p:nvPr>
            <p:ph type="title"/>
          </p:nvPr>
        </p:nvSpPr>
        <p:spPr/>
        <p:txBody>
          <a:bodyPr/>
          <a:lstStyle/>
          <a:p>
            <a:r>
              <a:rPr lang="en-US" dirty="0">
                <a:solidFill>
                  <a:schemeClr val="accent1"/>
                </a:solidFill>
                <a:latin typeface="+mn-lt"/>
              </a:rPr>
              <a:t>Systematic approach</a:t>
            </a:r>
          </a:p>
        </p:txBody>
      </p:sp>
      <p:sp>
        <p:nvSpPr>
          <p:cNvPr id="3" name="Content Placeholder 2">
            <a:extLst>
              <a:ext uri="{FF2B5EF4-FFF2-40B4-BE49-F238E27FC236}">
                <a16:creationId xmlns:a16="http://schemas.microsoft.com/office/drawing/2014/main" id="{3FCC2CF2-5027-384E-B69C-B2F880C7CFEB}"/>
              </a:ext>
            </a:extLst>
          </p:cNvPr>
          <p:cNvSpPr>
            <a:spLocks noGrp="1"/>
          </p:cNvSpPr>
          <p:nvPr>
            <p:ph idx="1"/>
          </p:nvPr>
        </p:nvSpPr>
        <p:spPr/>
        <p:txBody>
          <a:bodyPr>
            <a:normAutofit/>
          </a:bodyPr>
          <a:lstStyle/>
          <a:p>
            <a:pPr marL="0" indent="0">
              <a:buNone/>
            </a:pPr>
            <a:r>
              <a:rPr lang="en-US" sz="3200" dirty="0">
                <a:solidFill>
                  <a:schemeClr val="accent5"/>
                </a:solidFill>
                <a:latin typeface="+mj-lt"/>
              </a:rPr>
              <a:t>A</a:t>
            </a:r>
            <a:r>
              <a:rPr lang="en-US" sz="3200" dirty="0">
                <a:latin typeface="+mj-lt"/>
              </a:rPr>
              <a:t>irway</a:t>
            </a:r>
          </a:p>
          <a:p>
            <a:pPr marL="0" indent="0">
              <a:buNone/>
            </a:pPr>
            <a:r>
              <a:rPr lang="en-US" sz="3200" dirty="0">
                <a:solidFill>
                  <a:schemeClr val="accent5"/>
                </a:solidFill>
                <a:latin typeface="+mj-lt"/>
              </a:rPr>
              <a:t>B</a:t>
            </a:r>
            <a:r>
              <a:rPr lang="en-US" sz="3200" dirty="0">
                <a:latin typeface="+mj-lt"/>
              </a:rPr>
              <a:t>ones</a:t>
            </a:r>
            <a:endParaRPr lang="en-US" sz="3200" dirty="0">
              <a:solidFill>
                <a:srgbClr val="7030A0"/>
              </a:solidFill>
              <a:latin typeface="+mj-lt"/>
            </a:endParaRPr>
          </a:p>
          <a:p>
            <a:pPr marL="0" indent="0">
              <a:buNone/>
            </a:pPr>
            <a:r>
              <a:rPr lang="en-US" sz="3200" dirty="0">
                <a:solidFill>
                  <a:schemeClr val="accent5"/>
                </a:solidFill>
                <a:latin typeface="+mj-lt"/>
              </a:rPr>
              <a:t>C</a:t>
            </a:r>
            <a:r>
              <a:rPr lang="en-US" sz="3200" dirty="0">
                <a:latin typeface="+mj-lt"/>
              </a:rPr>
              <a:t>ardiac</a:t>
            </a:r>
          </a:p>
          <a:p>
            <a:pPr marL="0" indent="0">
              <a:buNone/>
            </a:pPr>
            <a:r>
              <a:rPr lang="en-US" sz="3200" dirty="0">
                <a:solidFill>
                  <a:schemeClr val="accent5"/>
                </a:solidFill>
                <a:latin typeface="+mj-lt"/>
              </a:rPr>
              <a:t>D</a:t>
            </a:r>
            <a:r>
              <a:rPr lang="en-US" sz="3200" dirty="0">
                <a:latin typeface="+mj-lt"/>
              </a:rPr>
              <a:t>iaphragm/mediastinum</a:t>
            </a:r>
          </a:p>
          <a:p>
            <a:pPr marL="0" indent="0">
              <a:buNone/>
            </a:pPr>
            <a:r>
              <a:rPr lang="en-US" sz="3200" dirty="0">
                <a:solidFill>
                  <a:schemeClr val="accent5"/>
                </a:solidFill>
                <a:latin typeface="+mj-lt"/>
              </a:rPr>
              <a:t>E</a:t>
            </a:r>
            <a:r>
              <a:rPr lang="en-US" sz="3200" dirty="0">
                <a:latin typeface="+mj-lt"/>
              </a:rPr>
              <a:t>verything else</a:t>
            </a:r>
          </a:p>
        </p:txBody>
      </p:sp>
      <p:pic>
        <p:nvPicPr>
          <p:cNvPr id="4" name="Picture Placeholder 4" descr="Normal Male Chest X-ray - Bing images - Internet Explorer">
            <a:extLst>
              <a:ext uri="{FF2B5EF4-FFF2-40B4-BE49-F238E27FC236}">
                <a16:creationId xmlns:a16="http://schemas.microsoft.com/office/drawing/2014/main" id="{EC949D4E-100C-3E4E-BC65-86E9FAD8103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5820185" y="1303338"/>
            <a:ext cx="4904229" cy="4873625"/>
          </a:xfrm>
          <a:prstGeom prst="rect">
            <a:avLst/>
          </a:prstGeom>
        </p:spPr>
      </p:pic>
    </p:spTree>
    <p:extLst>
      <p:ext uri="{BB962C8B-B14F-4D97-AF65-F5344CB8AC3E}">
        <p14:creationId xmlns:p14="http://schemas.microsoft.com/office/powerpoint/2010/main" val="11203684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F5A3E-F8F2-2D47-A584-C9AA2547AC2B}"/>
              </a:ext>
            </a:extLst>
          </p:cNvPr>
          <p:cNvSpPr>
            <a:spLocks noGrp="1"/>
          </p:cNvSpPr>
          <p:nvPr>
            <p:ph type="title"/>
          </p:nvPr>
        </p:nvSpPr>
        <p:spPr/>
        <p:txBody>
          <a:bodyPr/>
          <a:lstStyle/>
          <a:p>
            <a:pPr algn="ctr"/>
            <a:r>
              <a:rPr lang="en-US" dirty="0">
                <a:solidFill>
                  <a:schemeClr val="accent1"/>
                </a:solidFill>
                <a:latin typeface="+mn-lt"/>
              </a:rPr>
              <a:t>GREAT RESOURCE!</a:t>
            </a:r>
          </a:p>
        </p:txBody>
      </p:sp>
      <p:sp>
        <p:nvSpPr>
          <p:cNvPr id="3" name="Content Placeholder 2">
            <a:extLst>
              <a:ext uri="{FF2B5EF4-FFF2-40B4-BE49-F238E27FC236}">
                <a16:creationId xmlns:a16="http://schemas.microsoft.com/office/drawing/2014/main" id="{76FCDA7C-6514-FC47-AD89-3C60C3C09A02}"/>
              </a:ext>
            </a:extLst>
          </p:cNvPr>
          <p:cNvSpPr>
            <a:spLocks noGrp="1"/>
          </p:cNvSpPr>
          <p:nvPr>
            <p:ph idx="1"/>
          </p:nvPr>
        </p:nvSpPr>
        <p:spPr/>
        <p:txBody>
          <a:bodyPr/>
          <a:lstStyle/>
          <a:p>
            <a:r>
              <a:rPr lang="en-US" dirty="0">
                <a:hlinkClick r:id="rId3"/>
              </a:rPr>
              <a:t>https://www.radiologymasterclass.co.uk</a:t>
            </a:r>
            <a:endParaRPr lang="en-US" dirty="0"/>
          </a:p>
          <a:p>
            <a:pPr marL="0" indent="0">
              <a:buNone/>
            </a:pPr>
            <a:endParaRPr lang="en-US" dirty="0"/>
          </a:p>
        </p:txBody>
      </p:sp>
    </p:spTree>
    <p:extLst>
      <p:ext uri="{BB962C8B-B14F-4D97-AF65-F5344CB8AC3E}">
        <p14:creationId xmlns:p14="http://schemas.microsoft.com/office/powerpoint/2010/main" val="15267126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4529</TotalTime>
  <Words>1580</Words>
  <Application>Microsoft Macintosh PowerPoint</Application>
  <PresentationFormat>Widescreen</PresentationFormat>
  <Paragraphs>308</Paragraphs>
  <Slides>54</Slides>
  <Notes>47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54</vt:i4>
      </vt:variant>
    </vt:vector>
  </HeadingPairs>
  <TitlesOfParts>
    <vt:vector size="61" baseType="lpstr">
      <vt:lpstr>Arial</vt:lpstr>
      <vt:lpstr>Calibri</vt:lpstr>
      <vt:lpstr>Calibri Light</vt:lpstr>
      <vt:lpstr>Times New Roman</vt:lpstr>
      <vt:lpstr>Verdana</vt:lpstr>
      <vt:lpstr>Wingdings 2</vt:lpstr>
      <vt:lpstr>Office Theme</vt:lpstr>
      <vt:lpstr>Essentials of Radiology: CXR Interpretation &amp; Application</vt:lpstr>
      <vt:lpstr>Outline</vt:lpstr>
      <vt:lpstr>I can do this…</vt:lpstr>
      <vt:lpstr>When do I request a CXR?</vt:lpstr>
      <vt:lpstr>Miller text</vt:lpstr>
      <vt:lpstr>Justification for CXR</vt:lpstr>
      <vt:lpstr>What about CXR in smokers?</vt:lpstr>
      <vt:lpstr>PowerPoint Presentation</vt:lpstr>
      <vt:lpstr>Basic Tissue Densities</vt:lpstr>
      <vt:lpstr>radiolucent vs radiodense (radiopaque)</vt:lpstr>
      <vt:lpstr>Terminology</vt:lpstr>
      <vt:lpstr>Male vs Female CXR</vt:lpstr>
      <vt:lpstr>male vs female</vt:lpstr>
      <vt:lpstr>male vs female </vt:lpstr>
      <vt:lpstr>PowerPoint Presentation</vt:lpstr>
      <vt:lpstr>PowerPoint Presentation</vt:lpstr>
      <vt:lpstr>Supine </vt:lpstr>
      <vt:lpstr>Upright</vt:lpstr>
      <vt:lpstr>Inspiration and Expiration</vt:lpstr>
      <vt:lpstr>Counting Ribs</vt:lpstr>
      <vt:lpstr>Question?</vt:lpstr>
      <vt:lpstr>CXR Projections</vt:lpstr>
      <vt:lpstr>Terminology</vt:lpstr>
      <vt:lpstr>Terminology</vt:lpstr>
      <vt:lpstr>AP vs PA</vt:lpstr>
      <vt:lpstr>Considering what we know….</vt:lpstr>
      <vt:lpstr>PowerPoint Presentation</vt:lpstr>
      <vt:lpstr>So, </vt:lpstr>
      <vt:lpstr>Expiration usefulness</vt:lpstr>
      <vt:lpstr>Pneumothorax</vt:lpstr>
      <vt:lpstr>Signs of a tension pneumothorax</vt:lpstr>
      <vt:lpstr>PowerPoint Presentation</vt:lpstr>
      <vt:lpstr>Pneumothorax</vt:lpstr>
      <vt:lpstr>Deep Sulcus Sign</vt:lpstr>
      <vt:lpstr>Pleural effusion</vt:lpstr>
      <vt:lpstr>Costophrenic angle? </vt:lpstr>
      <vt:lpstr>Decubitus  view</vt:lpstr>
      <vt:lpstr>Mediastinal shifts: push or pull</vt:lpstr>
      <vt:lpstr>        Overexposure            Underexposure</vt:lpstr>
      <vt:lpstr>Exposure</vt:lpstr>
      <vt:lpstr>Correct exposure</vt:lpstr>
      <vt:lpstr>PowerPoint Presentation</vt:lpstr>
      <vt:lpstr>PowerPoint Presentation</vt:lpstr>
      <vt:lpstr>How many structures can you name?</vt:lpstr>
      <vt:lpstr>PowerPoint Presentation</vt:lpstr>
      <vt:lpstr>PowerPoint Presentation</vt:lpstr>
      <vt:lpstr>PowerPoint Presentation</vt:lpstr>
      <vt:lpstr>PowerPoint Presentation</vt:lpstr>
      <vt:lpstr>Aspiration pneumonia</vt:lpstr>
      <vt:lpstr>Mediastinal masses</vt:lpstr>
      <vt:lpstr>28 y/o healthy male –c/o difficulty breathing</vt:lpstr>
      <vt:lpstr>Systematic approach</vt:lpstr>
      <vt:lpstr>Systematic approach</vt:lpstr>
      <vt:lpstr>GREAT RESOURCE!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Essentials of Radiology: CXR Interpretation</dc:title>
  <dc:creator>Douglas Lovern</dc:creator>
  <cp:lastModifiedBy>michael.berg</cp:lastModifiedBy>
  <cp:revision>251</cp:revision>
  <cp:lastPrinted>2021-03-20T17:10:31Z</cp:lastPrinted>
  <dcterms:created xsi:type="dcterms:W3CDTF">2020-01-25T21:23:54Z</dcterms:created>
  <dcterms:modified xsi:type="dcterms:W3CDTF">2023-03-27T16:11:31Z</dcterms:modified>
</cp:coreProperties>
</file>