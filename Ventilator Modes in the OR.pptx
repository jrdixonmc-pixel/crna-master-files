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93" r:id="rId4"/>
    <p:sldId id="267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68" r:id="rId19"/>
    <p:sldId id="285" r:id="rId20"/>
    <p:sldId id="286" r:id="rId21"/>
    <p:sldId id="287" r:id="rId22"/>
    <p:sldId id="288" r:id="rId23"/>
    <p:sldId id="289" r:id="rId24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7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66"/>
    <p:restoredTop sz="85141"/>
  </p:normalViewPr>
  <p:slideViewPr>
    <p:cSldViewPr>
      <p:cViewPr>
        <p:scale>
          <a:sx n="100" d="100"/>
          <a:sy n="100" d="100"/>
        </p:scale>
        <p:origin x="2048" y="-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B6291-1714-F94B-A94E-10FB46A47E51}" type="datetimeFigureOut">
              <a:rPr lang="en-US" smtClean="0"/>
              <a:t>3/1/22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58AC3-AC08-7743-8163-CD67C923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1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SIMV = Synchronized Intermittent Mandatory Ventilation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58AC3-AC08-7743-8163-CD67C92362F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6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twitches and PIP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58AC3-AC08-7743-8163-CD67C92362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60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flow rises quickly to a maximal value and then decreases progressively throughout the breath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58AC3-AC08-7743-8163-CD67C92362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80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58AC3-AC08-7743-8163-CD67C92362F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56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cm H2O in the cuff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58AC3-AC08-7743-8163-CD67C92362F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35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66161" y="988527"/>
            <a:ext cx="2726077" cy="726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7200" y="457200"/>
            <a:ext cx="9143999" cy="257953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6910" y="637969"/>
            <a:ext cx="7844579" cy="1427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7327" y="1572321"/>
            <a:ext cx="7943744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7200"/>
            <a:ext cx="9143999" cy="63470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1572321"/>
            <a:ext cx="9143999" cy="41755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84550" marR="5080" indent="-3371850" algn="l">
              <a:lnSpc>
                <a:spcPct val="100000"/>
              </a:lnSpc>
              <a:spcBef>
                <a:spcPts val="100"/>
              </a:spcBef>
            </a:pPr>
            <a:r>
              <a:rPr lang="en-US" spc="15" dirty="0"/>
              <a:t>   </a:t>
            </a:r>
            <a:r>
              <a:rPr spc="15" dirty="0"/>
              <a:t>Ventilator </a:t>
            </a:r>
            <a:r>
              <a:rPr spc="130" dirty="0"/>
              <a:t>Modes</a:t>
            </a:r>
            <a:r>
              <a:rPr spc="10" dirty="0"/>
              <a:t> </a:t>
            </a:r>
            <a:r>
              <a:rPr spc="110" dirty="0"/>
              <a:t>in</a:t>
            </a:r>
            <a:r>
              <a:rPr spc="35" dirty="0"/>
              <a:t> </a:t>
            </a:r>
            <a:r>
              <a:rPr spc="90" dirty="0"/>
              <a:t>the</a:t>
            </a:r>
            <a:r>
              <a:rPr lang="en-US" spc="90" dirty="0"/>
              <a:t> O.R.</a:t>
            </a:r>
          </a:p>
          <a:p>
            <a:pPr marL="3384550" marR="5080" indent="-3371850" algn="ctr">
              <a:lnSpc>
                <a:spcPct val="100000"/>
              </a:lnSpc>
              <a:spcBef>
                <a:spcPts val="100"/>
              </a:spcBef>
            </a:pPr>
            <a:r>
              <a:rPr lang="en-US" spc="90" dirty="0"/>
              <a:t>USM Clinical Prep Week</a:t>
            </a:r>
          </a:p>
          <a:p>
            <a:pPr marL="3384550" marR="5080" indent="-3371850" algn="ctr">
              <a:lnSpc>
                <a:spcPct val="100000"/>
              </a:lnSpc>
              <a:spcBef>
                <a:spcPts val="100"/>
              </a:spcBef>
            </a:pPr>
            <a:r>
              <a:rPr lang="en-US" spc="90" dirty="0"/>
              <a:t>2022</a:t>
            </a:r>
          </a:p>
          <a:p>
            <a:pPr marL="3384550" marR="5080" indent="-3371850" algn="ctr">
              <a:lnSpc>
                <a:spcPct val="100000"/>
              </a:lnSpc>
              <a:spcBef>
                <a:spcPts val="100"/>
              </a:spcBef>
            </a:pPr>
            <a:endParaRPr sz="2800" spc="11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064FC70-F16E-0F46-BA67-23C2D3578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42900"/>
            <a:ext cx="6047348" cy="708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C66546-E301-E445-9BC6-41DEBA742BA0}"/>
              </a:ext>
            </a:extLst>
          </p:cNvPr>
          <p:cNvSpPr/>
          <p:nvPr/>
        </p:nvSpPr>
        <p:spPr>
          <a:xfrm>
            <a:off x="2209800" y="6477000"/>
            <a:ext cx="6462768" cy="106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426ACA-C9C5-C345-B904-6CD275E9F79C}"/>
              </a:ext>
            </a:extLst>
          </p:cNvPr>
          <p:cNvSpPr/>
          <p:nvPr/>
        </p:nvSpPr>
        <p:spPr>
          <a:xfrm>
            <a:off x="377909" y="3424535"/>
            <a:ext cx="930261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 can learn a lot by how your patient responds</a:t>
            </a:r>
          </a:p>
          <a:p>
            <a:pPr algn="ctr"/>
            <a:r>
              <a:rPr lang="en-US" sz="3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  <a:r>
              <a:rPr 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 your ventilator settings!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2B5B39-6F15-E149-9E01-B7E4F7BC1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"/>
            <a:ext cx="2568497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ACD2D0C-CAC9-0542-A8C8-E1ACE27BDB53}"/>
              </a:ext>
            </a:extLst>
          </p:cNvPr>
          <p:cNvSpPr/>
          <p:nvPr/>
        </p:nvSpPr>
        <p:spPr>
          <a:xfrm>
            <a:off x="609600" y="2814935"/>
            <a:ext cx="35814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49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0308" y="1045463"/>
            <a:ext cx="4105910" cy="2898775"/>
            <a:chOff x="940308" y="1045463"/>
            <a:chExt cx="4105910" cy="2898775"/>
          </a:xfrm>
        </p:grpSpPr>
        <p:sp>
          <p:nvSpPr>
            <p:cNvPr id="3" name="object 3"/>
            <p:cNvSpPr/>
            <p:nvPr/>
          </p:nvSpPr>
          <p:spPr>
            <a:xfrm>
              <a:off x="957072" y="1062227"/>
              <a:ext cx="4072254" cy="2867025"/>
            </a:xfrm>
            <a:custGeom>
              <a:avLst/>
              <a:gdLst/>
              <a:ahLst/>
              <a:cxnLst/>
              <a:rect l="l" t="t" r="r" b="b"/>
              <a:pathLst>
                <a:path w="4072254" h="2867025">
                  <a:moveTo>
                    <a:pt x="4072127" y="2866644"/>
                  </a:moveTo>
                  <a:lnTo>
                    <a:pt x="0" y="2866644"/>
                  </a:lnTo>
                  <a:lnTo>
                    <a:pt x="0" y="477012"/>
                  </a:lnTo>
                  <a:lnTo>
                    <a:pt x="2460" y="428206"/>
                  </a:lnTo>
                  <a:lnTo>
                    <a:pt x="9682" y="380818"/>
                  </a:lnTo>
                  <a:lnTo>
                    <a:pt x="21427" y="335086"/>
                  </a:lnTo>
                  <a:lnTo>
                    <a:pt x="37457" y="291250"/>
                  </a:lnTo>
                  <a:lnTo>
                    <a:pt x="57531" y="249548"/>
                  </a:lnTo>
                  <a:lnTo>
                    <a:pt x="81411" y="210219"/>
                  </a:lnTo>
                  <a:lnTo>
                    <a:pt x="108859" y="173502"/>
                  </a:lnTo>
                  <a:lnTo>
                    <a:pt x="139636" y="139636"/>
                  </a:lnTo>
                  <a:lnTo>
                    <a:pt x="173502" y="108859"/>
                  </a:lnTo>
                  <a:lnTo>
                    <a:pt x="210219" y="81411"/>
                  </a:lnTo>
                  <a:lnTo>
                    <a:pt x="249548" y="57531"/>
                  </a:lnTo>
                  <a:lnTo>
                    <a:pt x="291250" y="37457"/>
                  </a:lnTo>
                  <a:lnTo>
                    <a:pt x="335086" y="21427"/>
                  </a:lnTo>
                  <a:lnTo>
                    <a:pt x="380818" y="9682"/>
                  </a:lnTo>
                  <a:lnTo>
                    <a:pt x="428206" y="2460"/>
                  </a:lnTo>
                  <a:lnTo>
                    <a:pt x="477011" y="0"/>
                  </a:lnTo>
                  <a:lnTo>
                    <a:pt x="4072127" y="0"/>
                  </a:lnTo>
                  <a:lnTo>
                    <a:pt x="4072127" y="2866644"/>
                  </a:lnTo>
                  <a:close/>
                </a:path>
              </a:pathLst>
            </a:custGeom>
            <a:solidFill>
              <a:srgbClr val="E29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0308" y="1045463"/>
              <a:ext cx="4105910" cy="2898775"/>
            </a:xfrm>
            <a:custGeom>
              <a:avLst/>
              <a:gdLst/>
              <a:ahLst/>
              <a:cxnLst/>
              <a:rect l="l" t="t" r="r" b="b"/>
              <a:pathLst>
                <a:path w="4105910" h="2898775">
                  <a:moveTo>
                    <a:pt x="4098036" y="2898648"/>
                  </a:moveTo>
                  <a:lnTo>
                    <a:pt x="7620" y="2898648"/>
                  </a:lnTo>
                  <a:lnTo>
                    <a:pt x="0" y="2892552"/>
                  </a:lnTo>
                  <a:lnTo>
                    <a:pt x="0" y="493776"/>
                  </a:lnTo>
                  <a:lnTo>
                    <a:pt x="1524" y="469392"/>
                  </a:lnTo>
                  <a:lnTo>
                    <a:pt x="3048" y="443483"/>
                  </a:lnTo>
                  <a:lnTo>
                    <a:pt x="15240" y="370332"/>
                  </a:lnTo>
                  <a:lnTo>
                    <a:pt x="30480" y="324612"/>
                  </a:lnTo>
                  <a:lnTo>
                    <a:pt x="48768" y="280416"/>
                  </a:lnTo>
                  <a:lnTo>
                    <a:pt x="71628" y="237744"/>
                  </a:lnTo>
                  <a:lnTo>
                    <a:pt x="97536" y="198120"/>
                  </a:lnTo>
                  <a:lnTo>
                    <a:pt x="128016" y="161544"/>
                  </a:lnTo>
                  <a:lnTo>
                    <a:pt x="161544" y="128016"/>
                  </a:lnTo>
                  <a:lnTo>
                    <a:pt x="198120" y="99059"/>
                  </a:lnTo>
                  <a:lnTo>
                    <a:pt x="237744" y="71628"/>
                  </a:lnTo>
                  <a:lnTo>
                    <a:pt x="278892" y="48767"/>
                  </a:lnTo>
                  <a:lnTo>
                    <a:pt x="324612" y="30480"/>
                  </a:lnTo>
                  <a:lnTo>
                    <a:pt x="370332" y="15240"/>
                  </a:lnTo>
                  <a:lnTo>
                    <a:pt x="419100" y="6096"/>
                  </a:lnTo>
                  <a:lnTo>
                    <a:pt x="493776" y="0"/>
                  </a:lnTo>
                  <a:lnTo>
                    <a:pt x="4098036" y="0"/>
                  </a:lnTo>
                  <a:lnTo>
                    <a:pt x="4105656" y="7620"/>
                  </a:lnTo>
                  <a:lnTo>
                    <a:pt x="4105656" y="16764"/>
                  </a:lnTo>
                  <a:lnTo>
                    <a:pt x="4073652" y="16764"/>
                  </a:lnTo>
                  <a:lnTo>
                    <a:pt x="4073652" y="32004"/>
                  </a:lnTo>
                  <a:lnTo>
                    <a:pt x="470916" y="32004"/>
                  </a:lnTo>
                  <a:lnTo>
                    <a:pt x="446532" y="33528"/>
                  </a:lnTo>
                  <a:lnTo>
                    <a:pt x="423672" y="36575"/>
                  </a:lnTo>
                  <a:lnTo>
                    <a:pt x="400812" y="41148"/>
                  </a:lnTo>
                  <a:lnTo>
                    <a:pt x="379476" y="45720"/>
                  </a:lnTo>
                  <a:lnTo>
                    <a:pt x="356616" y="53340"/>
                  </a:lnTo>
                  <a:lnTo>
                    <a:pt x="335280" y="59436"/>
                  </a:lnTo>
                  <a:lnTo>
                    <a:pt x="274320" y="86867"/>
                  </a:lnTo>
                  <a:lnTo>
                    <a:pt x="217932" y="123444"/>
                  </a:lnTo>
                  <a:lnTo>
                    <a:pt x="167640" y="167640"/>
                  </a:lnTo>
                  <a:lnTo>
                    <a:pt x="137160" y="199644"/>
                  </a:lnTo>
                  <a:lnTo>
                    <a:pt x="111252" y="234696"/>
                  </a:lnTo>
                  <a:lnTo>
                    <a:pt x="88392" y="272796"/>
                  </a:lnTo>
                  <a:lnTo>
                    <a:pt x="59436" y="335280"/>
                  </a:lnTo>
                  <a:lnTo>
                    <a:pt x="47244" y="377951"/>
                  </a:lnTo>
                  <a:lnTo>
                    <a:pt x="32004" y="469392"/>
                  </a:lnTo>
                  <a:lnTo>
                    <a:pt x="32004" y="2866644"/>
                  </a:lnTo>
                  <a:lnTo>
                    <a:pt x="16764" y="2866644"/>
                  </a:lnTo>
                  <a:lnTo>
                    <a:pt x="32004" y="2883408"/>
                  </a:lnTo>
                  <a:lnTo>
                    <a:pt x="4105656" y="2883408"/>
                  </a:lnTo>
                  <a:lnTo>
                    <a:pt x="4105656" y="2892552"/>
                  </a:lnTo>
                  <a:lnTo>
                    <a:pt x="4098036" y="2898648"/>
                  </a:lnTo>
                  <a:close/>
                </a:path>
                <a:path w="4105910" h="2898775">
                  <a:moveTo>
                    <a:pt x="4073652" y="2883408"/>
                  </a:moveTo>
                  <a:lnTo>
                    <a:pt x="4073652" y="16764"/>
                  </a:lnTo>
                  <a:lnTo>
                    <a:pt x="4088892" y="32004"/>
                  </a:lnTo>
                  <a:lnTo>
                    <a:pt x="4105656" y="32004"/>
                  </a:lnTo>
                  <a:lnTo>
                    <a:pt x="4105656" y="2866644"/>
                  </a:lnTo>
                  <a:lnTo>
                    <a:pt x="4088892" y="2866644"/>
                  </a:lnTo>
                  <a:lnTo>
                    <a:pt x="4073652" y="2883408"/>
                  </a:lnTo>
                  <a:close/>
                </a:path>
                <a:path w="4105910" h="2898775">
                  <a:moveTo>
                    <a:pt x="4105656" y="32004"/>
                  </a:moveTo>
                  <a:lnTo>
                    <a:pt x="4088892" y="32004"/>
                  </a:lnTo>
                  <a:lnTo>
                    <a:pt x="4073652" y="16764"/>
                  </a:lnTo>
                  <a:lnTo>
                    <a:pt x="4105656" y="16764"/>
                  </a:lnTo>
                  <a:lnTo>
                    <a:pt x="4105656" y="32004"/>
                  </a:lnTo>
                  <a:close/>
                </a:path>
                <a:path w="4105910" h="2898775">
                  <a:moveTo>
                    <a:pt x="32004" y="2883408"/>
                  </a:moveTo>
                  <a:lnTo>
                    <a:pt x="16764" y="2866644"/>
                  </a:lnTo>
                  <a:lnTo>
                    <a:pt x="32004" y="2866644"/>
                  </a:lnTo>
                  <a:lnTo>
                    <a:pt x="32004" y="2883408"/>
                  </a:lnTo>
                  <a:close/>
                </a:path>
                <a:path w="4105910" h="2898775">
                  <a:moveTo>
                    <a:pt x="4073652" y="2883408"/>
                  </a:moveTo>
                  <a:lnTo>
                    <a:pt x="32004" y="2883408"/>
                  </a:lnTo>
                  <a:lnTo>
                    <a:pt x="32004" y="2866644"/>
                  </a:lnTo>
                  <a:lnTo>
                    <a:pt x="4073652" y="2866644"/>
                  </a:lnTo>
                  <a:lnTo>
                    <a:pt x="4073652" y="2883408"/>
                  </a:lnTo>
                  <a:close/>
                </a:path>
                <a:path w="4105910" h="2898775">
                  <a:moveTo>
                    <a:pt x="4105656" y="2883408"/>
                  </a:moveTo>
                  <a:lnTo>
                    <a:pt x="4073652" y="2883408"/>
                  </a:lnTo>
                  <a:lnTo>
                    <a:pt x="4088892" y="2866644"/>
                  </a:lnTo>
                  <a:lnTo>
                    <a:pt x="4105656" y="2866644"/>
                  </a:lnTo>
                  <a:lnTo>
                    <a:pt x="4105656" y="28834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473196" y="1748974"/>
            <a:ext cx="3042920" cy="71628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64135" marR="5080" indent="-52069">
              <a:lnSpc>
                <a:spcPts val="2560"/>
              </a:lnSpc>
              <a:spcBef>
                <a:spcPts val="450"/>
              </a:spcBef>
            </a:pPr>
            <a:r>
              <a:rPr sz="240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Maintain 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Peak</a:t>
            </a:r>
            <a:r>
              <a:rPr sz="24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Airway </a:t>
            </a:r>
            <a:r>
              <a:rPr sz="2400" b="1" spc="-5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Pressure</a:t>
            </a:r>
            <a:r>
              <a:rPr sz="24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95" dirty="0">
                <a:solidFill>
                  <a:srgbClr val="FFFFFF"/>
                </a:solidFill>
                <a:latin typeface="Times New Roman"/>
                <a:cs typeface="Times New Roman"/>
              </a:rPr>
              <a:t>&lt;30</a:t>
            </a:r>
            <a:r>
              <a:rPr sz="2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cm </a:t>
            </a:r>
            <a:r>
              <a:rPr sz="24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H2O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13960" y="1045463"/>
            <a:ext cx="4105910" cy="2898775"/>
            <a:chOff x="5013960" y="1045463"/>
            <a:chExt cx="4105910" cy="2898775"/>
          </a:xfrm>
        </p:grpSpPr>
        <p:sp>
          <p:nvSpPr>
            <p:cNvPr id="7" name="object 7"/>
            <p:cNvSpPr/>
            <p:nvPr/>
          </p:nvSpPr>
          <p:spPr>
            <a:xfrm>
              <a:off x="5029200" y="1062227"/>
              <a:ext cx="4074160" cy="2867025"/>
            </a:xfrm>
            <a:custGeom>
              <a:avLst/>
              <a:gdLst/>
              <a:ahLst/>
              <a:cxnLst/>
              <a:rect l="l" t="t" r="r" b="b"/>
              <a:pathLst>
                <a:path w="4074159" h="2867025">
                  <a:moveTo>
                    <a:pt x="4073651" y="2866644"/>
                  </a:moveTo>
                  <a:lnTo>
                    <a:pt x="0" y="2866644"/>
                  </a:lnTo>
                  <a:lnTo>
                    <a:pt x="0" y="0"/>
                  </a:lnTo>
                  <a:lnTo>
                    <a:pt x="3596639" y="0"/>
                  </a:lnTo>
                  <a:lnTo>
                    <a:pt x="3645445" y="2460"/>
                  </a:lnTo>
                  <a:lnTo>
                    <a:pt x="3692833" y="9682"/>
                  </a:lnTo>
                  <a:lnTo>
                    <a:pt x="3738565" y="21427"/>
                  </a:lnTo>
                  <a:lnTo>
                    <a:pt x="3782401" y="37457"/>
                  </a:lnTo>
                  <a:lnTo>
                    <a:pt x="3824103" y="57531"/>
                  </a:lnTo>
                  <a:lnTo>
                    <a:pt x="3863432" y="81411"/>
                  </a:lnTo>
                  <a:lnTo>
                    <a:pt x="3900149" y="108859"/>
                  </a:lnTo>
                  <a:lnTo>
                    <a:pt x="3934015" y="139636"/>
                  </a:lnTo>
                  <a:lnTo>
                    <a:pt x="3964792" y="173502"/>
                  </a:lnTo>
                  <a:lnTo>
                    <a:pt x="3992240" y="210219"/>
                  </a:lnTo>
                  <a:lnTo>
                    <a:pt x="4016120" y="249548"/>
                  </a:lnTo>
                  <a:lnTo>
                    <a:pt x="4036194" y="291250"/>
                  </a:lnTo>
                  <a:lnTo>
                    <a:pt x="4052224" y="335086"/>
                  </a:lnTo>
                  <a:lnTo>
                    <a:pt x="4063969" y="380818"/>
                  </a:lnTo>
                  <a:lnTo>
                    <a:pt x="4071191" y="428206"/>
                  </a:lnTo>
                  <a:lnTo>
                    <a:pt x="4073651" y="477012"/>
                  </a:lnTo>
                  <a:lnTo>
                    <a:pt x="4073651" y="2866644"/>
                  </a:lnTo>
                  <a:close/>
                </a:path>
              </a:pathLst>
            </a:custGeom>
            <a:solidFill>
              <a:srgbClr val="72E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13960" y="1045463"/>
              <a:ext cx="4105910" cy="2898775"/>
            </a:xfrm>
            <a:custGeom>
              <a:avLst/>
              <a:gdLst/>
              <a:ahLst/>
              <a:cxnLst/>
              <a:rect l="l" t="t" r="r" b="b"/>
              <a:pathLst>
                <a:path w="4105909" h="2898775">
                  <a:moveTo>
                    <a:pt x="4098036" y="2898648"/>
                  </a:moveTo>
                  <a:lnTo>
                    <a:pt x="7620" y="2898648"/>
                  </a:lnTo>
                  <a:lnTo>
                    <a:pt x="0" y="2892552"/>
                  </a:lnTo>
                  <a:lnTo>
                    <a:pt x="0" y="7620"/>
                  </a:lnTo>
                  <a:lnTo>
                    <a:pt x="7620" y="0"/>
                  </a:lnTo>
                  <a:lnTo>
                    <a:pt x="3611880" y="0"/>
                  </a:lnTo>
                  <a:lnTo>
                    <a:pt x="3662172" y="3048"/>
                  </a:lnTo>
                  <a:lnTo>
                    <a:pt x="3686556" y="6096"/>
                  </a:lnTo>
                  <a:lnTo>
                    <a:pt x="3735324" y="15240"/>
                  </a:lnTo>
                  <a:lnTo>
                    <a:pt x="3739896" y="16764"/>
                  </a:lnTo>
                  <a:lnTo>
                    <a:pt x="32004" y="16764"/>
                  </a:lnTo>
                  <a:lnTo>
                    <a:pt x="15240" y="32004"/>
                  </a:lnTo>
                  <a:lnTo>
                    <a:pt x="32004" y="32004"/>
                  </a:lnTo>
                  <a:lnTo>
                    <a:pt x="32004" y="2866644"/>
                  </a:lnTo>
                  <a:lnTo>
                    <a:pt x="15240" y="2866644"/>
                  </a:lnTo>
                  <a:lnTo>
                    <a:pt x="32004" y="2883408"/>
                  </a:lnTo>
                  <a:lnTo>
                    <a:pt x="4105656" y="2883408"/>
                  </a:lnTo>
                  <a:lnTo>
                    <a:pt x="4105656" y="2892552"/>
                  </a:lnTo>
                  <a:lnTo>
                    <a:pt x="4098036" y="2898648"/>
                  </a:lnTo>
                  <a:close/>
                </a:path>
                <a:path w="4105909" h="2898775">
                  <a:moveTo>
                    <a:pt x="32004" y="32004"/>
                  </a:moveTo>
                  <a:lnTo>
                    <a:pt x="15240" y="32004"/>
                  </a:lnTo>
                  <a:lnTo>
                    <a:pt x="32004" y="16764"/>
                  </a:lnTo>
                  <a:lnTo>
                    <a:pt x="32004" y="32004"/>
                  </a:lnTo>
                  <a:close/>
                </a:path>
                <a:path w="4105909" h="2898775">
                  <a:moveTo>
                    <a:pt x="4073652" y="2883408"/>
                  </a:moveTo>
                  <a:lnTo>
                    <a:pt x="4073652" y="470916"/>
                  </a:lnTo>
                  <a:lnTo>
                    <a:pt x="4070603" y="446532"/>
                  </a:lnTo>
                  <a:lnTo>
                    <a:pt x="4069080" y="423672"/>
                  </a:lnTo>
                  <a:lnTo>
                    <a:pt x="4064508" y="400812"/>
                  </a:lnTo>
                  <a:lnTo>
                    <a:pt x="4059936" y="379476"/>
                  </a:lnTo>
                  <a:lnTo>
                    <a:pt x="4052316" y="356616"/>
                  </a:lnTo>
                  <a:lnTo>
                    <a:pt x="4046220" y="335280"/>
                  </a:lnTo>
                  <a:lnTo>
                    <a:pt x="4027932" y="294132"/>
                  </a:lnTo>
                  <a:lnTo>
                    <a:pt x="4006596" y="254507"/>
                  </a:lnTo>
                  <a:lnTo>
                    <a:pt x="3982211" y="217932"/>
                  </a:lnTo>
                  <a:lnTo>
                    <a:pt x="3953256" y="182880"/>
                  </a:lnTo>
                  <a:lnTo>
                    <a:pt x="3922776" y="152400"/>
                  </a:lnTo>
                  <a:lnTo>
                    <a:pt x="3887724" y="123444"/>
                  </a:lnTo>
                  <a:lnTo>
                    <a:pt x="3851148" y="99060"/>
                  </a:lnTo>
                  <a:lnTo>
                    <a:pt x="3811524" y="77724"/>
                  </a:lnTo>
                  <a:lnTo>
                    <a:pt x="3770376" y="59436"/>
                  </a:lnTo>
                  <a:lnTo>
                    <a:pt x="3727703" y="47244"/>
                  </a:lnTo>
                  <a:lnTo>
                    <a:pt x="3681984" y="36576"/>
                  </a:lnTo>
                  <a:lnTo>
                    <a:pt x="3659124" y="35052"/>
                  </a:lnTo>
                  <a:lnTo>
                    <a:pt x="3636264" y="32004"/>
                  </a:lnTo>
                  <a:lnTo>
                    <a:pt x="32004" y="32004"/>
                  </a:lnTo>
                  <a:lnTo>
                    <a:pt x="32004" y="16764"/>
                  </a:lnTo>
                  <a:lnTo>
                    <a:pt x="3739896" y="16764"/>
                  </a:lnTo>
                  <a:lnTo>
                    <a:pt x="3803903" y="38100"/>
                  </a:lnTo>
                  <a:lnTo>
                    <a:pt x="3846576" y="59436"/>
                  </a:lnTo>
                  <a:lnTo>
                    <a:pt x="3887724" y="83820"/>
                  </a:lnTo>
                  <a:lnTo>
                    <a:pt x="3925824" y="112776"/>
                  </a:lnTo>
                  <a:lnTo>
                    <a:pt x="3960876" y="144780"/>
                  </a:lnTo>
                  <a:lnTo>
                    <a:pt x="3992880" y="179832"/>
                  </a:lnTo>
                  <a:lnTo>
                    <a:pt x="4034028" y="237744"/>
                  </a:lnTo>
                  <a:lnTo>
                    <a:pt x="4056888" y="278892"/>
                  </a:lnTo>
                  <a:lnTo>
                    <a:pt x="4066032" y="301752"/>
                  </a:lnTo>
                  <a:lnTo>
                    <a:pt x="4075176" y="323088"/>
                  </a:lnTo>
                  <a:lnTo>
                    <a:pt x="4090416" y="370332"/>
                  </a:lnTo>
                  <a:lnTo>
                    <a:pt x="4099560" y="419100"/>
                  </a:lnTo>
                  <a:lnTo>
                    <a:pt x="4104132" y="467868"/>
                  </a:lnTo>
                  <a:lnTo>
                    <a:pt x="4105656" y="493776"/>
                  </a:lnTo>
                  <a:lnTo>
                    <a:pt x="4105656" y="2866644"/>
                  </a:lnTo>
                  <a:lnTo>
                    <a:pt x="4088892" y="2866644"/>
                  </a:lnTo>
                  <a:lnTo>
                    <a:pt x="4073652" y="2883408"/>
                  </a:lnTo>
                  <a:close/>
                </a:path>
                <a:path w="4105909" h="2898775">
                  <a:moveTo>
                    <a:pt x="32004" y="2883408"/>
                  </a:moveTo>
                  <a:lnTo>
                    <a:pt x="15240" y="2866644"/>
                  </a:lnTo>
                  <a:lnTo>
                    <a:pt x="32004" y="2866644"/>
                  </a:lnTo>
                  <a:lnTo>
                    <a:pt x="32004" y="2883408"/>
                  </a:lnTo>
                  <a:close/>
                </a:path>
                <a:path w="4105909" h="2898775">
                  <a:moveTo>
                    <a:pt x="4073652" y="2883408"/>
                  </a:moveTo>
                  <a:lnTo>
                    <a:pt x="32004" y="2883408"/>
                  </a:lnTo>
                  <a:lnTo>
                    <a:pt x="32004" y="2866644"/>
                  </a:lnTo>
                  <a:lnTo>
                    <a:pt x="4073652" y="2866644"/>
                  </a:lnTo>
                  <a:lnTo>
                    <a:pt x="4073652" y="2883408"/>
                  </a:lnTo>
                  <a:close/>
                </a:path>
                <a:path w="4105909" h="2898775">
                  <a:moveTo>
                    <a:pt x="4105656" y="2883408"/>
                  </a:moveTo>
                  <a:lnTo>
                    <a:pt x="4073652" y="2883408"/>
                  </a:lnTo>
                  <a:lnTo>
                    <a:pt x="4088892" y="2866644"/>
                  </a:lnTo>
                  <a:lnTo>
                    <a:pt x="4105656" y="2866644"/>
                  </a:lnTo>
                  <a:lnTo>
                    <a:pt x="4105656" y="28834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469071" y="1424380"/>
            <a:ext cx="3199765" cy="13639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7145" marR="5080" indent="-5080" algn="just">
              <a:lnSpc>
                <a:spcPct val="88500"/>
              </a:lnSpc>
              <a:spcBef>
                <a:spcPts val="430"/>
              </a:spcBef>
            </a:pPr>
            <a:r>
              <a:rPr sz="2400" b="1" spc="30" dirty="0">
                <a:latin typeface="Times New Roman"/>
                <a:cs typeface="Times New Roman"/>
              </a:rPr>
              <a:t>Maintain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spc="40" dirty="0">
                <a:latin typeface="Times New Roman"/>
                <a:cs typeface="Times New Roman"/>
              </a:rPr>
              <a:t>EtCO2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60" dirty="0">
                <a:latin typeface="Times New Roman"/>
                <a:cs typeface="Times New Roman"/>
              </a:rPr>
              <a:t>32-37. </a:t>
            </a:r>
            <a:r>
              <a:rPr sz="2400" b="1" spc="-590" dirty="0">
                <a:latin typeface="Times New Roman"/>
                <a:cs typeface="Times New Roman"/>
              </a:rPr>
              <a:t> </a:t>
            </a:r>
            <a:r>
              <a:rPr sz="2400" b="1" spc="25" dirty="0">
                <a:latin typeface="Times New Roman"/>
                <a:cs typeface="Times New Roman"/>
              </a:rPr>
              <a:t>(exception </a:t>
            </a:r>
            <a:r>
              <a:rPr sz="2400" b="1" spc="30" dirty="0">
                <a:latin typeface="Times New Roman"/>
                <a:cs typeface="Times New Roman"/>
              </a:rPr>
              <a:t>Neuro </a:t>
            </a:r>
            <a:r>
              <a:rPr sz="2400" b="1" spc="20" dirty="0">
                <a:latin typeface="Times New Roman"/>
                <a:cs typeface="Times New Roman"/>
              </a:rPr>
              <a:t>cases 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spc="30" dirty="0">
                <a:latin typeface="Times New Roman"/>
                <a:cs typeface="Times New Roman"/>
              </a:rPr>
              <a:t>where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spc="40" dirty="0">
                <a:latin typeface="Times New Roman"/>
                <a:cs typeface="Times New Roman"/>
              </a:rPr>
              <a:t>EtCO2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55" dirty="0">
                <a:latin typeface="Times New Roman"/>
                <a:cs typeface="Times New Roman"/>
              </a:rPr>
              <a:t>is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desired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ts val="2555"/>
              </a:lnSpc>
            </a:pPr>
            <a:r>
              <a:rPr sz="2400" b="1" spc="95" dirty="0">
                <a:latin typeface="Times New Roman"/>
                <a:cs typeface="Times New Roman"/>
              </a:rPr>
              <a:t>&lt;27.)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40307" y="3912108"/>
            <a:ext cx="4105910" cy="2900680"/>
            <a:chOff x="940307" y="3912108"/>
            <a:chExt cx="4105910" cy="2900680"/>
          </a:xfrm>
        </p:grpSpPr>
        <p:sp>
          <p:nvSpPr>
            <p:cNvPr id="11" name="object 11"/>
            <p:cNvSpPr/>
            <p:nvPr/>
          </p:nvSpPr>
          <p:spPr>
            <a:xfrm>
              <a:off x="957072" y="3928872"/>
              <a:ext cx="4072254" cy="2867025"/>
            </a:xfrm>
            <a:custGeom>
              <a:avLst/>
              <a:gdLst/>
              <a:ahLst/>
              <a:cxnLst/>
              <a:rect l="l" t="t" r="r" b="b"/>
              <a:pathLst>
                <a:path w="4072254" h="2867025">
                  <a:moveTo>
                    <a:pt x="4072127" y="2866643"/>
                  </a:moveTo>
                  <a:lnTo>
                    <a:pt x="477011" y="2866643"/>
                  </a:lnTo>
                  <a:lnTo>
                    <a:pt x="428206" y="2864183"/>
                  </a:lnTo>
                  <a:lnTo>
                    <a:pt x="380818" y="2856961"/>
                  </a:lnTo>
                  <a:lnTo>
                    <a:pt x="335086" y="2845215"/>
                  </a:lnTo>
                  <a:lnTo>
                    <a:pt x="291250" y="2829186"/>
                  </a:lnTo>
                  <a:lnTo>
                    <a:pt x="249548" y="2809112"/>
                  </a:lnTo>
                  <a:lnTo>
                    <a:pt x="210219" y="2785231"/>
                  </a:lnTo>
                  <a:lnTo>
                    <a:pt x="173502" y="2757783"/>
                  </a:lnTo>
                  <a:lnTo>
                    <a:pt x="139636" y="2727007"/>
                  </a:lnTo>
                  <a:lnTo>
                    <a:pt x="108859" y="2693141"/>
                  </a:lnTo>
                  <a:lnTo>
                    <a:pt x="81411" y="2656424"/>
                  </a:lnTo>
                  <a:lnTo>
                    <a:pt x="57531" y="2617095"/>
                  </a:lnTo>
                  <a:lnTo>
                    <a:pt x="37457" y="2575393"/>
                  </a:lnTo>
                  <a:lnTo>
                    <a:pt x="21427" y="2531556"/>
                  </a:lnTo>
                  <a:lnTo>
                    <a:pt x="9682" y="2485825"/>
                  </a:lnTo>
                  <a:lnTo>
                    <a:pt x="2460" y="2438437"/>
                  </a:lnTo>
                  <a:lnTo>
                    <a:pt x="0" y="2389631"/>
                  </a:lnTo>
                  <a:lnTo>
                    <a:pt x="0" y="0"/>
                  </a:lnTo>
                  <a:lnTo>
                    <a:pt x="4072127" y="0"/>
                  </a:lnTo>
                  <a:lnTo>
                    <a:pt x="4072127" y="2866643"/>
                  </a:lnTo>
                  <a:close/>
                </a:path>
              </a:pathLst>
            </a:custGeom>
            <a:solidFill>
              <a:srgbClr val="21E2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0307" y="3912108"/>
              <a:ext cx="4105910" cy="2900680"/>
            </a:xfrm>
            <a:custGeom>
              <a:avLst/>
              <a:gdLst/>
              <a:ahLst/>
              <a:cxnLst/>
              <a:rect l="l" t="t" r="r" b="b"/>
              <a:pathLst>
                <a:path w="4105910" h="2900679">
                  <a:moveTo>
                    <a:pt x="4098036" y="2900172"/>
                  </a:moveTo>
                  <a:lnTo>
                    <a:pt x="493775" y="2900172"/>
                  </a:lnTo>
                  <a:lnTo>
                    <a:pt x="443483" y="2897124"/>
                  </a:lnTo>
                  <a:lnTo>
                    <a:pt x="394716" y="2889504"/>
                  </a:lnTo>
                  <a:lnTo>
                    <a:pt x="347472" y="2877312"/>
                  </a:lnTo>
                  <a:lnTo>
                    <a:pt x="301752" y="2860548"/>
                  </a:lnTo>
                  <a:lnTo>
                    <a:pt x="259080" y="2840736"/>
                  </a:lnTo>
                  <a:lnTo>
                    <a:pt x="198120" y="2801112"/>
                  </a:lnTo>
                  <a:lnTo>
                    <a:pt x="144780" y="2755392"/>
                  </a:lnTo>
                  <a:lnTo>
                    <a:pt x="112775" y="2720340"/>
                  </a:lnTo>
                  <a:lnTo>
                    <a:pt x="71628" y="2662428"/>
                  </a:lnTo>
                  <a:lnTo>
                    <a:pt x="48767" y="2619756"/>
                  </a:lnTo>
                  <a:lnTo>
                    <a:pt x="30480" y="2575560"/>
                  </a:lnTo>
                  <a:lnTo>
                    <a:pt x="15240" y="2529840"/>
                  </a:lnTo>
                  <a:lnTo>
                    <a:pt x="6096" y="2481072"/>
                  </a:lnTo>
                  <a:lnTo>
                    <a:pt x="1428" y="2429256"/>
                  </a:lnTo>
                  <a:lnTo>
                    <a:pt x="0" y="2406396"/>
                  </a:lnTo>
                  <a:lnTo>
                    <a:pt x="0" y="7619"/>
                  </a:lnTo>
                  <a:lnTo>
                    <a:pt x="7620" y="0"/>
                  </a:lnTo>
                  <a:lnTo>
                    <a:pt x="4098036" y="0"/>
                  </a:lnTo>
                  <a:lnTo>
                    <a:pt x="4105656" y="7619"/>
                  </a:lnTo>
                  <a:lnTo>
                    <a:pt x="4105656" y="16764"/>
                  </a:lnTo>
                  <a:lnTo>
                    <a:pt x="32004" y="16764"/>
                  </a:lnTo>
                  <a:lnTo>
                    <a:pt x="16764" y="32004"/>
                  </a:lnTo>
                  <a:lnTo>
                    <a:pt x="32004" y="32004"/>
                  </a:lnTo>
                  <a:lnTo>
                    <a:pt x="32004" y="2429256"/>
                  </a:lnTo>
                  <a:lnTo>
                    <a:pt x="35052" y="2452116"/>
                  </a:lnTo>
                  <a:lnTo>
                    <a:pt x="36575" y="2474976"/>
                  </a:lnTo>
                  <a:lnTo>
                    <a:pt x="45720" y="2520696"/>
                  </a:lnTo>
                  <a:lnTo>
                    <a:pt x="53340" y="2542032"/>
                  </a:lnTo>
                  <a:lnTo>
                    <a:pt x="59436" y="2564892"/>
                  </a:lnTo>
                  <a:lnTo>
                    <a:pt x="68580" y="2584704"/>
                  </a:lnTo>
                  <a:lnTo>
                    <a:pt x="77724" y="2606040"/>
                  </a:lnTo>
                  <a:lnTo>
                    <a:pt x="86867" y="2625852"/>
                  </a:lnTo>
                  <a:lnTo>
                    <a:pt x="99059" y="2644140"/>
                  </a:lnTo>
                  <a:lnTo>
                    <a:pt x="111252" y="2663952"/>
                  </a:lnTo>
                  <a:lnTo>
                    <a:pt x="123444" y="2682240"/>
                  </a:lnTo>
                  <a:lnTo>
                    <a:pt x="167640" y="2732532"/>
                  </a:lnTo>
                  <a:lnTo>
                    <a:pt x="199644" y="2761488"/>
                  </a:lnTo>
                  <a:lnTo>
                    <a:pt x="217932" y="2775204"/>
                  </a:lnTo>
                  <a:lnTo>
                    <a:pt x="234696" y="2788920"/>
                  </a:lnTo>
                  <a:lnTo>
                    <a:pt x="272796" y="2811780"/>
                  </a:lnTo>
                  <a:lnTo>
                    <a:pt x="313944" y="2831592"/>
                  </a:lnTo>
                  <a:lnTo>
                    <a:pt x="356616" y="2846832"/>
                  </a:lnTo>
                  <a:lnTo>
                    <a:pt x="423672" y="2862072"/>
                  </a:lnTo>
                  <a:lnTo>
                    <a:pt x="493775" y="2868168"/>
                  </a:lnTo>
                  <a:lnTo>
                    <a:pt x="4073652" y="2868168"/>
                  </a:lnTo>
                  <a:lnTo>
                    <a:pt x="4073652" y="2883408"/>
                  </a:lnTo>
                  <a:lnTo>
                    <a:pt x="4105656" y="2883408"/>
                  </a:lnTo>
                  <a:lnTo>
                    <a:pt x="4105656" y="2892552"/>
                  </a:lnTo>
                  <a:lnTo>
                    <a:pt x="4098036" y="2900172"/>
                  </a:lnTo>
                  <a:close/>
                </a:path>
                <a:path w="4105910" h="2900679">
                  <a:moveTo>
                    <a:pt x="32004" y="32004"/>
                  </a:moveTo>
                  <a:lnTo>
                    <a:pt x="16764" y="32004"/>
                  </a:lnTo>
                  <a:lnTo>
                    <a:pt x="32004" y="16764"/>
                  </a:lnTo>
                  <a:lnTo>
                    <a:pt x="32004" y="32004"/>
                  </a:lnTo>
                  <a:close/>
                </a:path>
                <a:path w="4105910" h="2900679">
                  <a:moveTo>
                    <a:pt x="4073652" y="32004"/>
                  </a:moveTo>
                  <a:lnTo>
                    <a:pt x="32004" y="32004"/>
                  </a:lnTo>
                  <a:lnTo>
                    <a:pt x="32004" y="16764"/>
                  </a:lnTo>
                  <a:lnTo>
                    <a:pt x="4073652" y="16764"/>
                  </a:lnTo>
                  <a:lnTo>
                    <a:pt x="4073652" y="32004"/>
                  </a:lnTo>
                  <a:close/>
                </a:path>
                <a:path w="4105910" h="2900679">
                  <a:moveTo>
                    <a:pt x="4073652" y="2883408"/>
                  </a:moveTo>
                  <a:lnTo>
                    <a:pt x="4073652" y="16764"/>
                  </a:lnTo>
                  <a:lnTo>
                    <a:pt x="4088892" y="32004"/>
                  </a:lnTo>
                  <a:lnTo>
                    <a:pt x="4105656" y="32004"/>
                  </a:lnTo>
                  <a:lnTo>
                    <a:pt x="4105656" y="2868168"/>
                  </a:lnTo>
                  <a:lnTo>
                    <a:pt x="4088892" y="2868168"/>
                  </a:lnTo>
                  <a:lnTo>
                    <a:pt x="4073652" y="2883408"/>
                  </a:lnTo>
                  <a:close/>
                </a:path>
                <a:path w="4105910" h="2900679">
                  <a:moveTo>
                    <a:pt x="4105656" y="32004"/>
                  </a:moveTo>
                  <a:lnTo>
                    <a:pt x="4088892" y="32004"/>
                  </a:lnTo>
                  <a:lnTo>
                    <a:pt x="4073652" y="16764"/>
                  </a:lnTo>
                  <a:lnTo>
                    <a:pt x="4105656" y="16764"/>
                  </a:lnTo>
                  <a:lnTo>
                    <a:pt x="4105656" y="32004"/>
                  </a:lnTo>
                  <a:close/>
                </a:path>
                <a:path w="4105910" h="2900679">
                  <a:moveTo>
                    <a:pt x="4105656" y="2883408"/>
                  </a:moveTo>
                  <a:lnTo>
                    <a:pt x="4073652" y="2883408"/>
                  </a:lnTo>
                  <a:lnTo>
                    <a:pt x="4088892" y="2868168"/>
                  </a:lnTo>
                  <a:lnTo>
                    <a:pt x="4105656" y="2868168"/>
                  </a:lnTo>
                  <a:lnTo>
                    <a:pt x="4105656" y="28834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06682" y="5333490"/>
            <a:ext cx="2977515" cy="71628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762000" marR="5080" indent="-749935">
              <a:lnSpc>
                <a:spcPts val="2560"/>
              </a:lnSpc>
              <a:spcBef>
                <a:spcPts val="450"/>
              </a:spcBef>
            </a:pPr>
            <a:r>
              <a:rPr sz="240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Decrease</a:t>
            </a:r>
            <a:r>
              <a:rPr sz="24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potential</a:t>
            </a:r>
            <a:r>
              <a:rPr sz="24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sz="2400" b="1" spc="-5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Atelectasis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013959" y="3912108"/>
            <a:ext cx="4105910" cy="2900680"/>
            <a:chOff x="5013959" y="3912108"/>
            <a:chExt cx="4105910" cy="2900680"/>
          </a:xfrm>
        </p:grpSpPr>
        <p:sp>
          <p:nvSpPr>
            <p:cNvPr id="15" name="object 15"/>
            <p:cNvSpPr/>
            <p:nvPr/>
          </p:nvSpPr>
          <p:spPr>
            <a:xfrm>
              <a:off x="5029200" y="3928872"/>
              <a:ext cx="4074160" cy="2867025"/>
            </a:xfrm>
            <a:custGeom>
              <a:avLst/>
              <a:gdLst/>
              <a:ahLst/>
              <a:cxnLst/>
              <a:rect l="l" t="t" r="r" b="b"/>
              <a:pathLst>
                <a:path w="4074159" h="2867025">
                  <a:moveTo>
                    <a:pt x="3596639" y="2866643"/>
                  </a:moveTo>
                  <a:lnTo>
                    <a:pt x="0" y="2866643"/>
                  </a:lnTo>
                  <a:lnTo>
                    <a:pt x="0" y="0"/>
                  </a:lnTo>
                  <a:lnTo>
                    <a:pt x="4073651" y="0"/>
                  </a:lnTo>
                  <a:lnTo>
                    <a:pt x="4073651" y="2389631"/>
                  </a:lnTo>
                  <a:lnTo>
                    <a:pt x="4071191" y="2438437"/>
                  </a:lnTo>
                  <a:lnTo>
                    <a:pt x="4063969" y="2485825"/>
                  </a:lnTo>
                  <a:lnTo>
                    <a:pt x="4052224" y="2531556"/>
                  </a:lnTo>
                  <a:lnTo>
                    <a:pt x="4036194" y="2575393"/>
                  </a:lnTo>
                  <a:lnTo>
                    <a:pt x="4016120" y="2617095"/>
                  </a:lnTo>
                  <a:lnTo>
                    <a:pt x="3992240" y="2656424"/>
                  </a:lnTo>
                  <a:lnTo>
                    <a:pt x="3964792" y="2693141"/>
                  </a:lnTo>
                  <a:lnTo>
                    <a:pt x="3934015" y="2727007"/>
                  </a:lnTo>
                  <a:lnTo>
                    <a:pt x="3900149" y="2757783"/>
                  </a:lnTo>
                  <a:lnTo>
                    <a:pt x="3863432" y="2785231"/>
                  </a:lnTo>
                  <a:lnTo>
                    <a:pt x="3824103" y="2809112"/>
                  </a:lnTo>
                  <a:lnTo>
                    <a:pt x="3782401" y="2829186"/>
                  </a:lnTo>
                  <a:lnTo>
                    <a:pt x="3738565" y="2845215"/>
                  </a:lnTo>
                  <a:lnTo>
                    <a:pt x="3692833" y="2856961"/>
                  </a:lnTo>
                  <a:lnTo>
                    <a:pt x="3645445" y="2864183"/>
                  </a:lnTo>
                  <a:lnTo>
                    <a:pt x="3596639" y="2866643"/>
                  </a:lnTo>
                  <a:close/>
                </a:path>
              </a:pathLst>
            </a:custGeom>
            <a:solidFill>
              <a:srgbClr val="239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13959" y="3912108"/>
              <a:ext cx="4105910" cy="2900680"/>
            </a:xfrm>
            <a:custGeom>
              <a:avLst/>
              <a:gdLst/>
              <a:ahLst/>
              <a:cxnLst/>
              <a:rect l="l" t="t" r="r" b="b"/>
              <a:pathLst>
                <a:path w="4105909" h="2900679">
                  <a:moveTo>
                    <a:pt x="3611880" y="2900172"/>
                  </a:moveTo>
                  <a:lnTo>
                    <a:pt x="7619" y="2900172"/>
                  </a:lnTo>
                  <a:lnTo>
                    <a:pt x="0" y="2892552"/>
                  </a:lnTo>
                  <a:lnTo>
                    <a:pt x="0" y="7620"/>
                  </a:lnTo>
                  <a:lnTo>
                    <a:pt x="7619" y="0"/>
                  </a:lnTo>
                  <a:lnTo>
                    <a:pt x="4098036" y="0"/>
                  </a:lnTo>
                  <a:lnTo>
                    <a:pt x="4105656" y="7620"/>
                  </a:lnTo>
                  <a:lnTo>
                    <a:pt x="4105656" y="16764"/>
                  </a:lnTo>
                  <a:lnTo>
                    <a:pt x="32003" y="16764"/>
                  </a:lnTo>
                  <a:lnTo>
                    <a:pt x="15240" y="32004"/>
                  </a:lnTo>
                  <a:lnTo>
                    <a:pt x="32003" y="32004"/>
                  </a:lnTo>
                  <a:lnTo>
                    <a:pt x="32003" y="2868168"/>
                  </a:lnTo>
                  <a:lnTo>
                    <a:pt x="15240" y="2868168"/>
                  </a:lnTo>
                  <a:lnTo>
                    <a:pt x="32003" y="2883408"/>
                  </a:lnTo>
                  <a:lnTo>
                    <a:pt x="3735324" y="2883408"/>
                  </a:lnTo>
                  <a:lnTo>
                    <a:pt x="3710940" y="2889503"/>
                  </a:lnTo>
                  <a:lnTo>
                    <a:pt x="3686556" y="2894076"/>
                  </a:lnTo>
                  <a:lnTo>
                    <a:pt x="3662172" y="2897124"/>
                  </a:lnTo>
                  <a:lnTo>
                    <a:pt x="3611880" y="2900172"/>
                  </a:lnTo>
                  <a:close/>
                </a:path>
                <a:path w="4105909" h="2900679">
                  <a:moveTo>
                    <a:pt x="32003" y="32004"/>
                  </a:moveTo>
                  <a:lnTo>
                    <a:pt x="15240" y="32004"/>
                  </a:lnTo>
                  <a:lnTo>
                    <a:pt x="32003" y="16764"/>
                  </a:lnTo>
                  <a:lnTo>
                    <a:pt x="32003" y="32004"/>
                  </a:lnTo>
                  <a:close/>
                </a:path>
                <a:path w="4105909" h="2900679">
                  <a:moveTo>
                    <a:pt x="4073652" y="32004"/>
                  </a:moveTo>
                  <a:lnTo>
                    <a:pt x="32003" y="32004"/>
                  </a:lnTo>
                  <a:lnTo>
                    <a:pt x="32003" y="16764"/>
                  </a:lnTo>
                  <a:lnTo>
                    <a:pt x="4073652" y="16764"/>
                  </a:lnTo>
                  <a:lnTo>
                    <a:pt x="4073652" y="32004"/>
                  </a:lnTo>
                  <a:close/>
                </a:path>
                <a:path w="4105909" h="2900679">
                  <a:moveTo>
                    <a:pt x="3735324" y="2883408"/>
                  </a:moveTo>
                  <a:lnTo>
                    <a:pt x="32003" y="2883408"/>
                  </a:lnTo>
                  <a:lnTo>
                    <a:pt x="32003" y="2868168"/>
                  </a:lnTo>
                  <a:lnTo>
                    <a:pt x="3611880" y="2868168"/>
                  </a:lnTo>
                  <a:lnTo>
                    <a:pt x="3659124" y="2865119"/>
                  </a:lnTo>
                  <a:lnTo>
                    <a:pt x="3704844" y="2859024"/>
                  </a:lnTo>
                  <a:lnTo>
                    <a:pt x="3726180" y="2852927"/>
                  </a:lnTo>
                  <a:lnTo>
                    <a:pt x="3749040" y="2846832"/>
                  </a:lnTo>
                  <a:lnTo>
                    <a:pt x="3791712" y="2831592"/>
                  </a:lnTo>
                  <a:lnTo>
                    <a:pt x="3851148" y="2801111"/>
                  </a:lnTo>
                  <a:lnTo>
                    <a:pt x="3887724" y="2776727"/>
                  </a:lnTo>
                  <a:lnTo>
                    <a:pt x="3938016" y="2732532"/>
                  </a:lnTo>
                  <a:lnTo>
                    <a:pt x="3968496" y="2700527"/>
                  </a:lnTo>
                  <a:lnTo>
                    <a:pt x="4006596" y="2645664"/>
                  </a:lnTo>
                  <a:lnTo>
                    <a:pt x="4027932" y="2606040"/>
                  </a:lnTo>
                  <a:lnTo>
                    <a:pt x="4046220" y="2564892"/>
                  </a:lnTo>
                  <a:lnTo>
                    <a:pt x="4058412" y="2522219"/>
                  </a:lnTo>
                  <a:lnTo>
                    <a:pt x="4070604" y="2453640"/>
                  </a:lnTo>
                  <a:lnTo>
                    <a:pt x="4073652" y="2429256"/>
                  </a:lnTo>
                  <a:lnTo>
                    <a:pt x="4073652" y="16764"/>
                  </a:lnTo>
                  <a:lnTo>
                    <a:pt x="4088892" y="32004"/>
                  </a:lnTo>
                  <a:lnTo>
                    <a:pt x="4105656" y="32004"/>
                  </a:lnTo>
                  <a:lnTo>
                    <a:pt x="4105656" y="2406396"/>
                  </a:lnTo>
                  <a:lnTo>
                    <a:pt x="4102608" y="2455164"/>
                  </a:lnTo>
                  <a:lnTo>
                    <a:pt x="4094988" y="2505456"/>
                  </a:lnTo>
                  <a:lnTo>
                    <a:pt x="4082796" y="2552700"/>
                  </a:lnTo>
                  <a:lnTo>
                    <a:pt x="4066032" y="2596896"/>
                  </a:lnTo>
                  <a:lnTo>
                    <a:pt x="4056888" y="2619756"/>
                  </a:lnTo>
                  <a:lnTo>
                    <a:pt x="4021836" y="2680716"/>
                  </a:lnTo>
                  <a:lnTo>
                    <a:pt x="3977640" y="2737103"/>
                  </a:lnTo>
                  <a:lnTo>
                    <a:pt x="3944112" y="2770632"/>
                  </a:lnTo>
                  <a:lnTo>
                    <a:pt x="3907536" y="2801111"/>
                  </a:lnTo>
                  <a:lnTo>
                    <a:pt x="3867912" y="2827019"/>
                  </a:lnTo>
                  <a:lnTo>
                    <a:pt x="3826764" y="2849880"/>
                  </a:lnTo>
                  <a:lnTo>
                    <a:pt x="3781044" y="2869692"/>
                  </a:lnTo>
                  <a:lnTo>
                    <a:pt x="3758184" y="2877311"/>
                  </a:lnTo>
                  <a:lnTo>
                    <a:pt x="3735324" y="2883408"/>
                  </a:lnTo>
                  <a:close/>
                </a:path>
                <a:path w="4105909" h="2900679">
                  <a:moveTo>
                    <a:pt x="4105656" y="32004"/>
                  </a:moveTo>
                  <a:lnTo>
                    <a:pt x="4088892" y="32004"/>
                  </a:lnTo>
                  <a:lnTo>
                    <a:pt x="4073652" y="16764"/>
                  </a:lnTo>
                  <a:lnTo>
                    <a:pt x="4105656" y="16764"/>
                  </a:lnTo>
                  <a:lnTo>
                    <a:pt x="4105656" y="32004"/>
                  </a:lnTo>
                  <a:close/>
                </a:path>
                <a:path w="4105909" h="2900679">
                  <a:moveTo>
                    <a:pt x="32003" y="2883408"/>
                  </a:moveTo>
                  <a:lnTo>
                    <a:pt x="15240" y="2868168"/>
                  </a:lnTo>
                  <a:lnTo>
                    <a:pt x="32003" y="2868168"/>
                  </a:lnTo>
                  <a:lnTo>
                    <a:pt x="32003" y="28834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234195" y="5494968"/>
            <a:ext cx="16694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SaO2 </a:t>
            </a:r>
            <a:r>
              <a:rPr sz="2400" b="1" spc="229" dirty="0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sz="2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97%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20211" y="2944368"/>
            <a:ext cx="3720465" cy="1969135"/>
            <a:chOff x="3220211" y="2944368"/>
            <a:chExt cx="3720465" cy="1969135"/>
          </a:xfrm>
        </p:grpSpPr>
        <p:sp>
          <p:nvSpPr>
            <p:cNvPr id="19" name="object 19"/>
            <p:cNvSpPr/>
            <p:nvPr/>
          </p:nvSpPr>
          <p:spPr>
            <a:xfrm>
              <a:off x="3236976" y="2959608"/>
              <a:ext cx="3686810" cy="1937385"/>
            </a:xfrm>
            <a:custGeom>
              <a:avLst/>
              <a:gdLst/>
              <a:ahLst/>
              <a:cxnLst/>
              <a:rect l="l" t="t" r="r" b="b"/>
              <a:pathLst>
                <a:path w="3686809" h="1937385">
                  <a:moveTo>
                    <a:pt x="3363467" y="1937003"/>
                  </a:moveTo>
                  <a:lnTo>
                    <a:pt x="323087" y="1937003"/>
                  </a:lnTo>
                  <a:lnTo>
                    <a:pt x="275373" y="1933497"/>
                  </a:lnTo>
                  <a:lnTo>
                    <a:pt x="229822" y="1923314"/>
                  </a:lnTo>
                  <a:lnTo>
                    <a:pt x="186937" y="1906954"/>
                  </a:lnTo>
                  <a:lnTo>
                    <a:pt x="147219" y="1884920"/>
                  </a:lnTo>
                  <a:lnTo>
                    <a:pt x="111170" y="1857712"/>
                  </a:lnTo>
                  <a:lnTo>
                    <a:pt x="79291" y="1825833"/>
                  </a:lnTo>
                  <a:lnTo>
                    <a:pt x="52083" y="1789784"/>
                  </a:lnTo>
                  <a:lnTo>
                    <a:pt x="30049" y="1750066"/>
                  </a:lnTo>
                  <a:lnTo>
                    <a:pt x="13689" y="1707181"/>
                  </a:lnTo>
                  <a:lnTo>
                    <a:pt x="3506" y="1661630"/>
                  </a:lnTo>
                  <a:lnTo>
                    <a:pt x="0" y="1613916"/>
                  </a:lnTo>
                  <a:lnTo>
                    <a:pt x="0" y="323087"/>
                  </a:lnTo>
                  <a:lnTo>
                    <a:pt x="3506" y="275373"/>
                  </a:lnTo>
                  <a:lnTo>
                    <a:pt x="13689" y="229822"/>
                  </a:lnTo>
                  <a:lnTo>
                    <a:pt x="30049" y="186937"/>
                  </a:lnTo>
                  <a:lnTo>
                    <a:pt x="52083" y="147219"/>
                  </a:lnTo>
                  <a:lnTo>
                    <a:pt x="79291" y="111170"/>
                  </a:lnTo>
                  <a:lnTo>
                    <a:pt x="111170" y="79291"/>
                  </a:lnTo>
                  <a:lnTo>
                    <a:pt x="147219" y="52083"/>
                  </a:lnTo>
                  <a:lnTo>
                    <a:pt x="186937" y="30049"/>
                  </a:lnTo>
                  <a:lnTo>
                    <a:pt x="229822" y="13689"/>
                  </a:lnTo>
                  <a:lnTo>
                    <a:pt x="275373" y="3506"/>
                  </a:lnTo>
                  <a:lnTo>
                    <a:pt x="323087" y="0"/>
                  </a:lnTo>
                  <a:lnTo>
                    <a:pt x="3363467" y="0"/>
                  </a:lnTo>
                  <a:lnTo>
                    <a:pt x="3411182" y="3506"/>
                  </a:lnTo>
                  <a:lnTo>
                    <a:pt x="3456733" y="13689"/>
                  </a:lnTo>
                  <a:lnTo>
                    <a:pt x="3499618" y="30049"/>
                  </a:lnTo>
                  <a:lnTo>
                    <a:pt x="3539335" y="52083"/>
                  </a:lnTo>
                  <a:lnTo>
                    <a:pt x="3575385" y="79291"/>
                  </a:lnTo>
                  <a:lnTo>
                    <a:pt x="3607264" y="111170"/>
                  </a:lnTo>
                  <a:lnTo>
                    <a:pt x="3634472" y="147219"/>
                  </a:lnTo>
                  <a:lnTo>
                    <a:pt x="3656506" y="186937"/>
                  </a:lnTo>
                  <a:lnTo>
                    <a:pt x="3672866" y="229822"/>
                  </a:lnTo>
                  <a:lnTo>
                    <a:pt x="3683050" y="275373"/>
                  </a:lnTo>
                  <a:lnTo>
                    <a:pt x="3686556" y="323087"/>
                  </a:lnTo>
                  <a:lnTo>
                    <a:pt x="3686556" y="1613916"/>
                  </a:lnTo>
                  <a:lnTo>
                    <a:pt x="3683050" y="1661630"/>
                  </a:lnTo>
                  <a:lnTo>
                    <a:pt x="3672866" y="1707181"/>
                  </a:lnTo>
                  <a:lnTo>
                    <a:pt x="3656506" y="1750066"/>
                  </a:lnTo>
                  <a:lnTo>
                    <a:pt x="3634472" y="1789784"/>
                  </a:lnTo>
                  <a:lnTo>
                    <a:pt x="3607264" y="1825833"/>
                  </a:lnTo>
                  <a:lnTo>
                    <a:pt x="3575385" y="1857712"/>
                  </a:lnTo>
                  <a:lnTo>
                    <a:pt x="3539335" y="1884920"/>
                  </a:lnTo>
                  <a:lnTo>
                    <a:pt x="3499618" y="1906954"/>
                  </a:lnTo>
                  <a:lnTo>
                    <a:pt x="3456733" y="1923314"/>
                  </a:lnTo>
                  <a:lnTo>
                    <a:pt x="3411182" y="1933497"/>
                  </a:lnTo>
                  <a:lnTo>
                    <a:pt x="3363467" y="1937003"/>
                  </a:lnTo>
                  <a:close/>
                </a:path>
              </a:pathLst>
            </a:custGeom>
            <a:solidFill>
              <a:srgbClr val="F4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20211" y="2944368"/>
              <a:ext cx="3720465" cy="1969135"/>
            </a:xfrm>
            <a:custGeom>
              <a:avLst/>
              <a:gdLst/>
              <a:ahLst/>
              <a:cxnLst/>
              <a:rect l="l" t="t" r="r" b="b"/>
              <a:pathLst>
                <a:path w="3720465" h="1969135">
                  <a:moveTo>
                    <a:pt x="3381756" y="1969008"/>
                  </a:moveTo>
                  <a:lnTo>
                    <a:pt x="339852" y="1969008"/>
                  </a:lnTo>
                  <a:lnTo>
                    <a:pt x="288036" y="1964436"/>
                  </a:lnTo>
                  <a:lnTo>
                    <a:pt x="239268" y="1953768"/>
                  </a:lnTo>
                  <a:lnTo>
                    <a:pt x="192024" y="1935479"/>
                  </a:lnTo>
                  <a:lnTo>
                    <a:pt x="164592" y="1918716"/>
                  </a:lnTo>
                  <a:lnTo>
                    <a:pt x="150876" y="1911096"/>
                  </a:lnTo>
                  <a:lnTo>
                    <a:pt x="100584" y="1869948"/>
                  </a:lnTo>
                  <a:lnTo>
                    <a:pt x="68580" y="1833372"/>
                  </a:lnTo>
                  <a:lnTo>
                    <a:pt x="57912" y="1819656"/>
                  </a:lnTo>
                  <a:lnTo>
                    <a:pt x="50292" y="1805940"/>
                  </a:lnTo>
                  <a:lnTo>
                    <a:pt x="41148" y="1792224"/>
                  </a:lnTo>
                  <a:lnTo>
                    <a:pt x="33528" y="1776983"/>
                  </a:lnTo>
                  <a:lnTo>
                    <a:pt x="15240" y="1731264"/>
                  </a:lnTo>
                  <a:lnTo>
                    <a:pt x="10668" y="1714500"/>
                  </a:lnTo>
                  <a:lnTo>
                    <a:pt x="4572" y="1680972"/>
                  </a:lnTo>
                  <a:lnTo>
                    <a:pt x="0" y="1630679"/>
                  </a:lnTo>
                  <a:lnTo>
                    <a:pt x="0" y="338328"/>
                  </a:lnTo>
                  <a:lnTo>
                    <a:pt x="4572" y="288036"/>
                  </a:lnTo>
                  <a:lnTo>
                    <a:pt x="15240" y="237744"/>
                  </a:lnTo>
                  <a:lnTo>
                    <a:pt x="33528" y="192024"/>
                  </a:lnTo>
                  <a:lnTo>
                    <a:pt x="41148" y="178308"/>
                  </a:lnTo>
                  <a:lnTo>
                    <a:pt x="48768" y="163068"/>
                  </a:lnTo>
                  <a:lnTo>
                    <a:pt x="77724" y="123444"/>
                  </a:lnTo>
                  <a:lnTo>
                    <a:pt x="135636" y="67056"/>
                  </a:lnTo>
                  <a:lnTo>
                    <a:pt x="176783" y="41147"/>
                  </a:lnTo>
                  <a:lnTo>
                    <a:pt x="237743" y="15240"/>
                  </a:lnTo>
                  <a:lnTo>
                    <a:pt x="304800" y="1523"/>
                  </a:lnTo>
                  <a:lnTo>
                    <a:pt x="321563" y="0"/>
                  </a:lnTo>
                  <a:lnTo>
                    <a:pt x="3398519" y="0"/>
                  </a:lnTo>
                  <a:lnTo>
                    <a:pt x="3415284" y="1523"/>
                  </a:lnTo>
                  <a:lnTo>
                    <a:pt x="3465576" y="10667"/>
                  </a:lnTo>
                  <a:lnTo>
                    <a:pt x="3480816" y="15240"/>
                  </a:lnTo>
                  <a:lnTo>
                    <a:pt x="3497580" y="19812"/>
                  </a:lnTo>
                  <a:lnTo>
                    <a:pt x="3512819" y="25908"/>
                  </a:lnTo>
                  <a:lnTo>
                    <a:pt x="3525012" y="32004"/>
                  </a:lnTo>
                  <a:lnTo>
                    <a:pt x="323087" y="32004"/>
                  </a:lnTo>
                  <a:lnTo>
                    <a:pt x="292607" y="35052"/>
                  </a:lnTo>
                  <a:lnTo>
                    <a:pt x="262128" y="41147"/>
                  </a:lnTo>
                  <a:lnTo>
                    <a:pt x="234695" y="50292"/>
                  </a:lnTo>
                  <a:lnTo>
                    <a:pt x="219456" y="56388"/>
                  </a:lnTo>
                  <a:lnTo>
                    <a:pt x="207264" y="62484"/>
                  </a:lnTo>
                  <a:lnTo>
                    <a:pt x="193548" y="68580"/>
                  </a:lnTo>
                  <a:lnTo>
                    <a:pt x="155448" y="92964"/>
                  </a:lnTo>
                  <a:lnTo>
                    <a:pt x="123444" y="120396"/>
                  </a:lnTo>
                  <a:lnTo>
                    <a:pt x="92964" y="155447"/>
                  </a:lnTo>
                  <a:lnTo>
                    <a:pt x="70104" y="192024"/>
                  </a:lnTo>
                  <a:lnTo>
                    <a:pt x="62484" y="205740"/>
                  </a:lnTo>
                  <a:lnTo>
                    <a:pt x="56388" y="219456"/>
                  </a:lnTo>
                  <a:lnTo>
                    <a:pt x="51816" y="233172"/>
                  </a:lnTo>
                  <a:lnTo>
                    <a:pt x="45720" y="246888"/>
                  </a:lnTo>
                  <a:lnTo>
                    <a:pt x="42672" y="262128"/>
                  </a:lnTo>
                  <a:lnTo>
                    <a:pt x="38100" y="275844"/>
                  </a:lnTo>
                  <a:lnTo>
                    <a:pt x="36576" y="291084"/>
                  </a:lnTo>
                  <a:lnTo>
                    <a:pt x="33528" y="306324"/>
                  </a:lnTo>
                  <a:lnTo>
                    <a:pt x="32004" y="323088"/>
                  </a:lnTo>
                  <a:lnTo>
                    <a:pt x="32004" y="1644396"/>
                  </a:lnTo>
                  <a:lnTo>
                    <a:pt x="38100" y="1691640"/>
                  </a:lnTo>
                  <a:lnTo>
                    <a:pt x="50292" y="1734312"/>
                  </a:lnTo>
                  <a:lnTo>
                    <a:pt x="62484" y="1761744"/>
                  </a:lnTo>
                  <a:lnTo>
                    <a:pt x="68580" y="1775460"/>
                  </a:lnTo>
                  <a:lnTo>
                    <a:pt x="92964" y="1813560"/>
                  </a:lnTo>
                  <a:lnTo>
                    <a:pt x="121920" y="1845564"/>
                  </a:lnTo>
                  <a:lnTo>
                    <a:pt x="155448" y="1876044"/>
                  </a:lnTo>
                  <a:lnTo>
                    <a:pt x="192024" y="1898904"/>
                  </a:lnTo>
                  <a:lnTo>
                    <a:pt x="233172" y="1917192"/>
                  </a:lnTo>
                  <a:lnTo>
                    <a:pt x="246888" y="1923288"/>
                  </a:lnTo>
                  <a:lnTo>
                    <a:pt x="262128" y="1926336"/>
                  </a:lnTo>
                  <a:lnTo>
                    <a:pt x="277368" y="1930908"/>
                  </a:lnTo>
                  <a:lnTo>
                    <a:pt x="292607" y="1932432"/>
                  </a:lnTo>
                  <a:lnTo>
                    <a:pt x="307848" y="1935479"/>
                  </a:lnTo>
                  <a:lnTo>
                    <a:pt x="323087" y="1935479"/>
                  </a:lnTo>
                  <a:lnTo>
                    <a:pt x="339852" y="1937004"/>
                  </a:lnTo>
                  <a:lnTo>
                    <a:pt x="3524250" y="1937004"/>
                  </a:lnTo>
                  <a:lnTo>
                    <a:pt x="3482340" y="1953768"/>
                  </a:lnTo>
                  <a:lnTo>
                    <a:pt x="3465576" y="1956816"/>
                  </a:lnTo>
                  <a:lnTo>
                    <a:pt x="3448811" y="1961388"/>
                  </a:lnTo>
                  <a:lnTo>
                    <a:pt x="3432048" y="1964436"/>
                  </a:lnTo>
                  <a:lnTo>
                    <a:pt x="3381756" y="1969008"/>
                  </a:lnTo>
                  <a:close/>
                </a:path>
                <a:path w="3720465" h="1969135">
                  <a:moveTo>
                    <a:pt x="3524250" y="1937004"/>
                  </a:moveTo>
                  <a:lnTo>
                    <a:pt x="3380232" y="1937004"/>
                  </a:lnTo>
                  <a:lnTo>
                    <a:pt x="3395472" y="1935479"/>
                  </a:lnTo>
                  <a:lnTo>
                    <a:pt x="3412236" y="1935479"/>
                  </a:lnTo>
                  <a:lnTo>
                    <a:pt x="3427476" y="1932432"/>
                  </a:lnTo>
                  <a:lnTo>
                    <a:pt x="3442716" y="1930908"/>
                  </a:lnTo>
                  <a:lnTo>
                    <a:pt x="3457956" y="1926336"/>
                  </a:lnTo>
                  <a:lnTo>
                    <a:pt x="3471672" y="1923288"/>
                  </a:lnTo>
                  <a:lnTo>
                    <a:pt x="3485388" y="1918716"/>
                  </a:lnTo>
                  <a:lnTo>
                    <a:pt x="3500627" y="1912620"/>
                  </a:lnTo>
                  <a:lnTo>
                    <a:pt x="3512819" y="1906524"/>
                  </a:lnTo>
                  <a:lnTo>
                    <a:pt x="3526536" y="1900428"/>
                  </a:lnTo>
                  <a:lnTo>
                    <a:pt x="3540252" y="1892808"/>
                  </a:lnTo>
                  <a:lnTo>
                    <a:pt x="3552444" y="1883664"/>
                  </a:lnTo>
                  <a:lnTo>
                    <a:pt x="3564636" y="1876044"/>
                  </a:lnTo>
                  <a:lnTo>
                    <a:pt x="3596640" y="1847087"/>
                  </a:lnTo>
                  <a:lnTo>
                    <a:pt x="3627119" y="1813560"/>
                  </a:lnTo>
                  <a:lnTo>
                    <a:pt x="3634740" y="1801368"/>
                  </a:lnTo>
                  <a:lnTo>
                    <a:pt x="3643884" y="1789176"/>
                  </a:lnTo>
                  <a:lnTo>
                    <a:pt x="3649980" y="1776983"/>
                  </a:lnTo>
                  <a:lnTo>
                    <a:pt x="3657600" y="1763268"/>
                  </a:lnTo>
                  <a:lnTo>
                    <a:pt x="3663696" y="1749552"/>
                  </a:lnTo>
                  <a:lnTo>
                    <a:pt x="3668268" y="1735836"/>
                  </a:lnTo>
                  <a:lnTo>
                    <a:pt x="3674364" y="1722120"/>
                  </a:lnTo>
                  <a:lnTo>
                    <a:pt x="3677411" y="1706879"/>
                  </a:lnTo>
                  <a:lnTo>
                    <a:pt x="3681984" y="1691640"/>
                  </a:lnTo>
                  <a:lnTo>
                    <a:pt x="3683508" y="1676400"/>
                  </a:lnTo>
                  <a:lnTo>
                    <a:pt x="3686556" y="1661160"/>
                  </a:lnTo>
                  <a:lnTo>
                    <a:pt x="3688080" y="1645920"/>
                  </a:lnTo>
                  <a:lnTo>
                    <a:pt x="3688080" y="323088"/>
                  </a:lnTo>
                  <a:lnTo>
                    <a:pt x="3685032" y="292608"/>
                  </a:lnTo>
                  <a:lnTo>
                    <a:pt x="3681984" y="277368"/>
                  </a:lnTo>
                  <a:lnTo>
                    <a:pt x="3677411" y="262128"/>
                  </a:lnTo>
                  <a:lnTo>
                    <a:pt x="3674364" y="248412"/>
                  </a:lnTo>
                  <a:lnTo>
                    <a:pt x="3657600" y="205740"/>
                  </a:lnTo>
                  <a:lnTo>
                    <a:pt x="3636264" y="167640"/>
                  </a:lnTo>
                  <a:lnTo>
                    <a:pt x="3598164" y="121920"/>
                  </a:lnTo>
                  <a:lnTo>
                    <a:pt x="3552444" y="83820"/>
                  </a:lnTo>
                  <a:lnTo>
                    <a:pt x="3486911" y="50292"/>
                  </a:lnTo>
                  <a:lnTo>
                    <a:pt x="3427476" y="35052"/>
                  </a:lnTo>
                  <a:lnTo>
                    <a:pt x="3396996" y="32004"/>
                  </a:lnTo>
                  <a:lnTo>
                    <a:pt x="3525012" y="32004"/>
                  </a:lnTo>
                  <a:lnTo>
                    <a:pt x="3582924" y="67056"/>
                  </a:lnTo>
                  <a:lnTo>
                    <a:pt x="3619500" y="99059"/>
                  </a:lnTo>
                  <a:lnTo>
                    <a:pt x="3651503" y="135635"/>
                  </a:lnTo>
                  <a:lnTo>
                    <a:pt x="3662172" y="149352"/>
                  </a:lnTo>
                  <a:lnTo>
                    <a:pt x="3669792" y="163068"/>
                  </a:lnTo>
                  <a:lnTo>
                    <a:pt x="3678936" y="176784"/>
                  </a:lnTo>
                  <a:lnTo>
                    <a:pt x="3686556" y="192024"/>
                  </a:lnTo>
                  <a:lnTo>
                    <a:pt x="3704844" y="237744"/>
                  </a:lnTo>
                  <a:lnTo>
                    <a:pt x="3715511" y="286512"/>
                  </a:lnTo>
                  <a:lnTo>
                    <a:pt x="3718560" y="321564"/>
                  </a:lnTo>
                  <a:lnTo>
                    <a:pt x="3720084" y="338328"/>
                  </a:lnTo>
                  <a:lnTo>
                    <a:pt x="3719957" y="1630679"/>
                  </a:lnTo>
                  <a:lnTo>
                    <a:pt x="3718560" y="1647444"/>
                  </a:lnTo>
                  <a:lnTo>
                    <a:pt x="3718560" y="1664208"/>
                  </a:lnTo>
                  <a:lnTo>
                    <a:pt x="3709416" y="1714500"/>
                  </a:lnTo>
                  <a:lnTo>
                    <a:pt x="3686556" y="1776983"/>
                  </a:lnTo>
                  <a:lnTo>
                    <a:pt x="3653028" y="1831848"/>
                  </a:lnTo>
                  <a:lnTo>
                    <a:pt x="3621024" y="1868424"/>
                  </a:lnTo>
                  <a:lnTo>
                    <a:pt x="3584448" y="1900428"/>
                  </a:lnTo>
                  <a:lnTo>
                    <a:pt x="3543300" y="1927860"/>
                  </a:lnTo>
                  <a:lnTo>
                    <a:pt x="3528060" y="1935479"/>
                  </a:lnTo>
                  <a:lnTo>
                    <a:pt x="3524250" y="19370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942025" y="3111566"/>
            <a:ext cx="2275840" cy="154686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 indent="176530" algn="just">
              <a:lnSpc>
                <a:spcPts val="3829"/>
              </a:lnSpc>
              <a:spcBef>
                <a:spcPts val="635"/>
              </a:spcBef>
            </a:pPr>
            <a:r>
              <a:rPr sz="3600" b="1" spc="120" dirty="0">
                <a:latin typeface="Times New Roman"/>
                <a:cs typeface="Times New Roman"/>
              </a:rPr>
              <a:t>Goals </a:t>
            </a:r>
            <a:r>
              <a:rPr sz="3600" b="1" spc="-10" dirty="0">
                <a:latin typeface="Times New Roman"/>
                <a:cs typeface="Times New Roman"/>
              </a:rPr>
              <a:t>for </a:t>
            </a:r>
            <a:r>
              <a:rPr sz="3600" b="1" spc="-5" dirty="0">
                <a:latin typeface="Times New Roman"/>
                <a:cs typeface="Times New Roman"/>
              </a:rPr>
              <a:t> </a:t>
            </a:r>
            <a:r>
              <a:rPr sz="3600" b="1" spc="25" dirty="0">
                <a:latin typeface="Times New Roman"/>
                <a:cs typeface="Times New Roman"/>
              </a:rPr>
              <a:t>Adequate </a:t>
            </a:r>
            <a:r>
              <a:rPr sz="3600" b="1" spc="30" dirty="0">
                <a:latin typeface="Times New Roman"/>
                <a:cs typeface="Times New Roman"/>
              </a:rPr>
              <a:t> </a:t>
            </a:r>
            <a:r>
              <a:rPr sz="3600" b="1" spc="-229" dirty="0">
                <a:latin typeface="Times New Roman"/>
                <a:cs typeface="Times New Roman"/>
              </a:rPr>
              <a:t>V</a:t>
            </a:r>
            <a:r>
              <a:rPr sz="3600" b="1" spc="90" dirty="0">
                <a:latin typeface="Times New Roman"/>
                <a:cs typeface="Times New Roman"/>
              </a:rPr>
              <a:t>e</a:t>
            </a:r>
            <a:r>
              <a:rPr sz="3600" b="1" spc="10" dirty="0">
                <a:latin typeface="Times New Roman"/>
                <a:cs typeface="Times New Roman"/>
              </a:rPr>
              <a:t>n</a:t>
            </a:r>
            <a:r>
              <a:rPr sz="3600" b="1" spc="20" dirty="0">
                <a:latin typeface="Times New Roman"/>
                <a:cs typeface="Times New Roman"/>
              </a:rPr>
              <a:t>t</a:t>
            </a:r>
            <a:r>
              <a:rPr sz="3600" b="1" spc="150" dirty="0">
                <a:latin typeface="Times New Roman"/>
                <a:cs typeface="Times New Roman"/>
              </a:rPr>
              <a:t>i</a:t>
            </a:r>
            <a:r>
              <a:rPr sz="3600" b="1" spc="75" dirty="0">
                <a:latin typeface="Times New Roman"/>
                <a:cs typeface="Times New Roman"/>
              </a:rPr>
              <a:t>l</a:t>
            </a:r>
            <a:r>
              <a:rPr sz="3600" b="1" dirty="0">
                <a:latin typeface="Times New Roman"/>
                <a:cs typeface="Times New Roman"/>
              </a:rPr>
              <a:t>a</a:t>
            </a:r>
            <a:r>
              <a:rPr sz="3600" b="1" spc="20" dirty="0">
                <a:latin typeface="Times New Roman"/>
                <a:cs typeface="Times New Roman"/>
              </a:rPr>
              <a:t>t</a:t>
            </a:r>
            <a:r>
              <a:rPr sz="3600" b="1" spc="150" dirty="0">
                <a:latin typeface="Times New Roman"/>
                <a:cs typeface="Times New Roman"/>
              </a:rPr>
              <a:t>i</a:t>
            </a:r>
            <a:r>
              <a:rPr sz="3600" b="1" spc="175" dirty="0">
                <a:latin typeface="Times New Roman"/>
                <a:cs typeface="Times New Roman"/>
              </a:rPr>
              <a:t>o</a:t>
            </a:r>
            <a:r>
              <a:rPr sz="3600" b="1" spc="20" dirty="0">
                <a:latin typeface="Times New Roman"/>
                <a:cs typeface="Times New Roman"/>
              </a:rPr>
              <a:t>n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4141" y="587717"/>
            <a:ext cx="667067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0325" marR="5080" indent="-2588260">
              <a:lnSpc>
                <a:spcPct val="100000"/>
              </a:lnSpc>
              <a:spcBef>
                <a:spcPts val="95"/>
              </a:spcBef>
            </a:pPr>
            <a:r>
              <a:rPr sz="4000" spc="95" dirty="0"/>
              <a:t>Anesthesia</a:t>
            </a:r>
            <a:r>
              <a:rPr sz="4000" spc="25" dirty="0"/>
              <a:t> </a:t>
            </a:r>
            <a:r>
              <a:rPr sz="4000" spc="140" dirty="0"/>
              <a:t>Machine</a:t>
            </a:r>
            <a:r>
              <a:rPr sz="4000" spc="40" dirty="0"/>
              <a:t> Ventilator </a:t>
            </a:r>
            <a:r>
              <a:rPr sz="4000" spc="-985" dirty="0"/>
              <a:t> </a:t>
            </a:r>
            <a:r>
              <a:rPr sz="4000" spc="130" dirty="0"/>
              <a:t>Modes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926591" y="2189988"/>
            <a:ext cx="8183880" cy="4665345"/>
            <a:chOff x="926591" y="2189988"/>
            <a:chExt cx="8183880" cy="466534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591" y="2189988"/>
              <a:ext cx="1226820" cy="17221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21407" y="2218944"/>
              <a:ext cx="6981825" cy="1082040"/>
            </a:xfrm>
            <a:custGeom>
              <a:avLst/>
              <a:gdLst/>
              <a:ahLst/>
              <a:cxnLst/>
              <a:rect l="l" t="t" r="r" b="b"/>
              <a:pathLst>
                <a:path w="6981825" h="1082039">
                  <a:moveTo>
                    <a:pt x="6801612" y="1082039"/>
                  </a:moveTo>
                  <a:lnTo>
                    <a:pt x="0" y="1082039"/>
                  </a:lnTo>
                  <a:lnTo>
                    <a:pt x="0" y="0"/>
                  </a:lnTo>
                  <a:lnTo>
                    <a:pt x="6801612" y="0"/>
                  </a:lnTo>
                  <a:lnTo>
                    <a:pt x="6849328" y="6448"/>
                  </a:lnTo>
                  <a:lnTo>
                    <a:pt x="6892261" y="24666"/>
                  </a:lnTo>
                  <a:lnTo>
                    <a:pt x="6928675" y="52959"/>
                  </a:lnTo>
                  <a:lnTo>
                    <a:pt x="6956834" y="89633"/>
                  </a:lnTo>
                  <a:lnTo>
                    <a:pt x="6975002" y="132997"/>
                  </a:lnTo>
                  <a:lnTo>
                    <a:pt x="6981444" y="181356"/>
                  </a:lnTo>
                  <a:lnTo>
                    <a:pt x="6981444" y="902208"/>
                  </a:lnTo>
                  <a:lnTo>
                    <a:pt x="6975002" y="949924"/>
                  </a:lnTo>
                  <a:lnTo>
                    <a:pt x="6956834" y="992857"/>
                  </a:lnTo>
                  <a:lnTo>
                    <a:pt x="6928675" y="1029271"/>
                  </a:lnTo>
                  <a:lnTo>
                    <a:pt x="6892261" y="1057430"/>
                  </a:lnTo>
                  <a:lnTo>
                    <a:pt x="6849328" y="1075598"/>
                  </a:lnTo>
                  <a:lnTo>
                    <a:pt x="6801612" y="1082039"/>
                  </a:lnTo>
                  <a:close/>
                </a:path>
              </a:pathLst>
            </a:custGeom>
            <a:solidFill>
              <a:srgbClr val="FFFFFF">
                <a:alpha val="89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15311" y="2212848"/>
              <a:ext cx="6995159" cy="1094740"/>
            </a:xfrm>
            <a:custGeom>
              <a:avLst/>
              <a:gdLst/>
              <a:ahLst/>
              <a:cxnLst/>
              <a:rect l="l" t="t" r="r" b="b"/>
              <a:pathLst>
                <a:path w="6995159" h="1094739">
                  <a:moveTo>
                    <a:pt x="6827520" y="1094232"/>
                  </a:moveTo>
                  <a:lnTo>
                    <a:pt x="3048" y="1094232"/>
                  </a:lnTo>
                  <a:lnTo>
                    <a:pt x="0" y="1092708"/>
                  </a:lnTo>
                  <a:lnTo>
                    <a:pt x="0" y="3047"/>
                  </a:lnTo>
                  <a:lnTo>
                    <a:pt x="3048" y="0"/>
                  </a:lnTo>
                  <a:lnTo>
                    <a:pt x="6807708" y="0"/>
                  </a:lnTo>
                  <a:lnTo>
                    <a:pt x="6825996" y="1524"/>
                  </a:lnTo>
                  <a:lnTo>
                    <a:pt x="6845808" y="4571"/>
                  </a:lnTo>
                  <a:lnTo>
                    <a:pt x="6851396" y="6095"/>
                  </a:lnTo>
                  <a:lnTo>
                    <a:pt x="12192" y="6095"/>
                  </a:lnTo>
                  <a:lnTo>
                    <a:pt x="6096" y="13716"/>
                  </a:lnTo>
                  <a:lnTo>
                    <a:pt x="12192" y="13716"/>
                  </a:lnTo>
                  <a:lnTo>
                    <a:pt x="12192" y="1082040"/>
                  </a:lnTo>
                  <a:lnTo>
                    <a:pt x="6096" y="1082040"/>
                  </a:lnTo>
                  <a:lnTo>
                    <a:pt x="12192" y="1088136"/>
                  </a:lnTo>
                  <a:lnTo>
                    <a:pt x="6858000" y="1088136"/>
                  </a:lnTo>
                  <a:lnTo>
                    <a:pt x="6845808" y="1091184"/>
                  </a:lnTo>
                  <a:lnTo>
                    <a:pt x="6827520" y="1094232"/>
                  </a:lnTo>
                  <a:close/>
                </a:path>
                <a:path w="6995159" h="1094739">
                  <a:moveTo>
                    <a:pt x="12192" y="13716"/>
                  </a:moveTo>
                  <a:lnTo>
                    <a:pt x="6096" y="13716"/>
                  </a:lnTo>
                  <a:lnTo>
                    <a:pt x="12192" y="6095"/>
                  </a:lnTo>
                  <a:lnTo>
                    <a:pt x="12192" y="13716"/>
                  </a:lnTo>
                  <a:close/>
                </a:path>
                <a:path w="6995159" h="1094739">
                  <a:moveTo>
                    <a:pt x="6858000" y="1088136"/>
                  </a:moveTo>
                  <a:lnTo>
                    <a:pt x="12192" y="1088136"/>
                  </a:lnTo>
                  <a:lnTo>
                    <a:pt x="12192" y="1082040"/>
                  </a:lnTo>
                  <a:lnTo>
                    <a:pt x="6825996" y="1082040"/>
                  </a:lnTo>
                  <a:lnTo>
                    <a:pt x="6842760" y="1078992"/>
                  </a:lnTo>
                  <a:lnTo>
                    <a:pt x="6905244" y="1053084"/>
                  </a:lnTo>
                  <a:lnTo>
                    <a:pt x="6941820" y="1019556"/>
                  </a:lnTo>
                  <a:lnTo>
                    <a:pt x="6967728" y="976884"/>
                  </a:lnTo>
                  <a:lnTo>
                    <a:pt x="6981444" y="926592"/>
                  </a:lnTo>
                  <a:lnTo>
                    <a:pt x="6981444" y="169164"/>
                  </a:lnTo>
                  <a:lnTo>
                    <a:pt x="6961632" y="105156"/>
                  </a:lnTo>
                  <a:lnTo>
                    <a:pt x="6931152" y="64008"/>
                  </a:lnTo>
                  <a:lnTo>
                    <a:pt x="6891528" y="35052"/>
                  </a:lnTo>
                  <a:lnTo>
                    <a:pt x="6842760" y="16764"/>
                  </a:lnTo>
                  <a:lnTo>
                    <a:pt x="6825996" y="13716"/>
                  </a:lnTo>
                  <a:lnTo>
                    <a:pt x="12192" y="13716"/>
                  </a:lnTo>
                  <a:lnTo>
                    <a:pt x="12192" y="6095"/>
                  </a:lnTo>
                  <a:lnTo>
                    <a:pt x="6851396" y="6095"/>
                  </a:lnTo>
                  <a:lnTo>
                    <a:pt x="6862572" y="9144"/>
                  </a:lnTo>
                  <a:lnTo>
                    <a:pt x="6911340" y="32004"/>
                  </a:lnTo>
                  <a:lnTo>
                    <a:pt x="6950964" y="68580"/>
                  </a:lnTo>
                  <a:lnTo>
                    <a:pt x="6963156" y="82296"/>
                  </a:lnTo>
                  <a:lnTo>
                    <a:pt x="6986016" y="131064"/>
                  </a:lnTo>
                  <a:lnTo>
                    <a:pt x="6995160" y="187452"/>
                  </a:lnTo>
                  <a:lnTo>
                    <a:pt x="6995160" y="908304"/>
                  </a:lnTo>
                  <a:lnTo>
                    <a:pt x="6986016" y="963168"/>
                  </a:lnTo>
                  <a:lnTo>
                    <a:pt x="6963156" y="1011936"/>
                  </a:lnTo>
                  <a:lnTo>
                    <a:pt x="6926580" y="1051560"/>
                  </a:lnTo>
                  <a:lnTo>
                    <a:pt x="6880860" y="1080516"/>
                  </a:lnTo>
                  <a:lnTo>
                    <a:pt x="6864096" y="1086612"/>
                  </a:lnTo>
                  <a:lnTo>
                    <a:pt x="6858000" y="1088136"/>
                  </a:lnTo>
                  <a:close/>
                </a:path>
                <a:path w="6995159" h="1094739">
                  <a:moveTo>
                    <a:pt x="12192" y="1088136"/>
                  </a:moveTo>
                  <a:lnTo>
                    <a:pt x="6096" y="1082040"/>
                  </a:lnTo>
                  <a:lnTo>
                    <a:pt x="12192" y="1082040"/>
                  </a:lnTo>
                  <a:lnTo>
                    <a:pt x="12192" y="1088136"/>
                  </a:lnTo>
                  <a:close/>
                </a:path>
              </a:pathLst>
            </a:custGeom>
            <a:solidFill>
              <a:srgbClr val="E29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6591" y="3657600"/>
              <a:ext cx="1226820" cy="172516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121407" y="3689603"/>
              <a:ext cx="6981825" cy="1082040"/>
            </a:xfrm>
            <a:custGeom>
              <a:avLst/>
              <a:gdLst/>
              <a:ahLst/>
              <a:cxnLst/>
              <a:rect l="l" t="t" r="r" b="b"/>
              <a:pathLst>
                <a:path w="6981825" h="1082039">
                  <a:moveTo>
                    <a:pt x="6801612" y="1082039"/>
                  </a:moveTo>
                  <a:lnTo>
                    <a:pt x="0" y="1082039"/>
                  </a:lnTo>
                  <a:lnTo>
                    <a:pt x="0" y="0"/>
                  </a:lnTo>
                  <a:lnTo>
                    <a:pt x="6801612" y="0"/>
                  </a:lnTo>
                  <a:lnTo>
                    <a:pt x="6849328" y="6448"/>
                  </a:lnTo>
                  <a:lnTo>
                    <a:pt x="6892261" y="24666"/>
                  </a:lnTo>
                  <a:lnTo>
                    <a:pt x="6928675" y="52959"/>
                  </a:lnTo>
                  <a:lnTo>
                    <a:pt x="6956834" y="89633"/>
                  </a:lnTo>
                  <a:lnTo>
                    <a:pt x="6975002" y="132997"/>
                  </a:lnTo>
                  <a:lnTo>
                    <a:pt x="6981444" y="181356"/>
                  </a:lnTo>
                  <a:lnTo>
                    <a:pt x="6981444" y="902208"/>
                  </a:lnTo>
                  <a:lnTo>
                    <a:pt x="6975002" y="949924"/>
                  </a:lnTo>
                  <a:lnTo>
                    <a:pt x="6956834" y="992857"/>
                  </a:lnTo>
                  <a:lnTo>
                    <a:pt x="6928675" y="1029271"/>
                  </a:lnTo>
                  <a:lnTo>
                    <a:pt x="6892261" y="1057430"/>
                  </a:lnTo>
                  <a:lnTo>
                    <a:pt x="6849328" y="1075598"/>
                  </a:lnTo>
                  <a:lnTo>
                    <a:pt x="6801612" y="1082039"/>
                  </a:lnTo>
                  <a:close/>
                </a:path>
              </a:pathLst>
            </a:custGeom>
            <a:solidFill>
              <a:srgbClr val="FFFFFF">
                <a:alpha val="89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15311" y="3683508"/>
              <a:ext cx="6995159" cy="1094740"/>
            </a:xfrm>
            <a:custGeom>
              <a:avLst/>
              <a:gdLst/>
              <a:ahLst/>
              <a:cxnLst/>
              <a:rect l="l" t="t" r="r" b="b"/>
              <a:pathLst>
                <a:path w="6995159" h="1094739">
                  <a:moveTo>
                    <a:pt x="6827520" y="1094232"/>
                  </a:moveTo>
                  <a:lnTo>
                    <a:pt x="3048" y="1094232"/>
                  </a:lnTo>
                  <a:lnTo>
                    <a:pt x="0" y="1092708"/>
                  </a:lnTo>
                  <a:lnTo>
                    <a:pt x="0" y="3047"/>
                  </a:lnTo>
                  <a:lnTo>
                    <a:pt x="3048" y="0"/>
                  </a:lnTo>
                  <a:lnTo>
                    <a:pt x="6807708" y="0"/>
                  </a:lnTo>
                  <a:lnTo>
                    <a:pt x="6825996" y="1524"/>
                  </a:lnTo>
                  <a:lnTo>
                    <a:pt x="6845808" y="4571"/>
                  </a:lnTo>
                  <a:lnTo>
                    <a:pt x="6851396" y="6095"/>
                  </a:lnTo>
                  <a:lnTo>
                    <a:pt x="12192" y="6095"/>
                  </a:lnTo>
                  <a:lnTo>
                    <a:pt x="6096" y="13716"/>
                  </a:lnTo>
                  <a:lnTo>
                    <a:pt x="12192" y="13716"/>
                  </a:lnTo>
                  <a:lnTo>
                    <a:pt x="12192" y="1082040"/>
                  </a:lnTo>
                  <a:lnTo>
                    <a:pt x="6096" y="1082040"/>
                  </a:lnTo>
                  <a:lnTo>
                    <a:pt x="12192" y="1088136"/>
                  </a:lnTo>
                  <a:lnTo>
                    <a:pt x="6858000" y="1088136"/>
                  </a:lnTo>
                  <a:lnTo>
                    <a:pt x="6845808" y="1091184"/>
                  </a:lnTo>
                  <a:lnTo>
                    <a:pt x="6827520" y="1094232"/>
                  </a:lnTo>
                  <a:close/>
                </a:path>
                <a:path w="6995159" h="1094739">
                  <a:moveTo>
                    <a:pt x="12192" y="13716"/>
                  </a:moveTo>
                  <a:lnTo>
                    <a:pt x="6096" y="13716"/>
                  </a:lnTo>
                  <a:lnTo>
                    <a:pt x="12192" y="6095"/>
                  </a:lnTo>
                  <a:lnTo>
                    <a:pt x="12192" y="13716"/>
                  </a:lnTo>
                  <a:close/>
                </a:path>
                <a:path w="6995159" h="1094739">
                  <a:moveTo>
                    <a:pt x="6858000" y="1088136"/>
                  </a:moveTo>
                  <a:lnTo>
                    <a:pt x="12192" y="1088136"/>
                  </a:lnTo>
                  <a:lnTo>
                    <a:pt x="12192" y="1082040"/>
                  </a:lnTo>
                  <a:lnTo>
                    <a:pt x="6807708" y="1082040"/>
                  </a:lnTo>
                  <a:lnTo>
                    <a:pt x="6842760" y="1078992"/>
                  </a:lnTo>
                  <a:lnTo>
                    <a:pt x="6905244" y="1053084"/>
                  </a:lnTo>
                  <a:lnTo>
                    <a:pt x="6941820" y="1019556"/>
                  </a:lnTo>
                  <a:lnTo>
                    <a:pt x="6967728" y="976884"/>
                  </a:lnTo>
                  <a:lnTo>
                    <a:pt x="6981444" y="926592"/>
                  </a:lnTo>
                  <a:lnTo>
                    <a:pt x="6981444" y="169164"/>
                  </a:lnTo>
                  <a:lnTo>
                    <a:pt x="6961632" y="105156"/>
                  </a:lnTo>
                  <a:lnTo>
                    <a:pt x="6931152" y="64008"/>
                  </a:lnTo>
                  <a:lnTo>
                    <a:pt x="6891528" y="33528"/>
                  </a:lnTo>
                  <a:lnTo>
                    <a:pt x="6842760" y="16764"/>
                  </a:lnTo>
                  <a:lnTo>
                    <a:pt x="6825996" y="13716"/>
                  </a:lnTo>
                  <a:lnTo>
                    <a:pt x="12192" y="13716"/>
                  </a:lnTo>
                  <a:lnTo>
                    <a:pt x="12192" y="6095"/>
                  </a:lnTo>
                  <a:lnTo>
                    <a:pt x="6851396" y="6095"/>
                  </a:lnTo>
                  <a:lnTo>
                    <a:pt x="6862572" y="9144"/>
                  </a:lnTo>
                  <a:lnTo>
                    <a:pt x="6911340" y="32004"/>
                  </a:lnTo>
                  <a:lnTo>
                    <a:pt x="6950964" y="68580"/>
                  </a:lnTo>
                  <a:lnTo>
                    <a:pt x="6963156" y="82296"/>
                  </a:lnTo>
                  <a:lnTo>
                    <a:pt x="6986016" y="131064"/>
                  </a:lnTo>
                  <a:lnTo>
                    <a:pt x="6995160" y="187452"/>
                  </a:lnTo>
                  <a:lnTo>
                    <a:pt x="6995160" y="908304"/>
                  </a:lnTo>
                  <a:lnTo>
                    <a:pt x="6986016" y="963168"/>
                  </a:lnTo>
                  <a:lnTo>
                    <a:pt x="6963156" y="1011936"/>
                  </a:lnTo>
                  <a:lnTo>
                    <a:pt x="6926580" y="1051560"/>
                  </a:lnTo>
                  <a:lnTo>
                    <a:pt x="6880860" y="1080516"/>
                  </a:lnTo>
                  <a:lnTo>
                    <a:pt x="6864096" y="1086612"/>
                  </a:lnTo>
                  <a:lnTo>
                    <a:pt x="6858000" y="1088136"/>
                  </a:lnTo>
                  <a:close/>
                </a:path>
                <a:path w="6995159" h="1094739">
                  <a:moveTo>
                    <a:pt x="12192" y="1088136"/>
                  </a:moveTo>
                  <a:lnTo>
                    <a:pt x="6096" y="1082040"/>
                  </a:lnTo>
                  <a:lnTo>
                    <a:pt x="12192" y="1082040"/>
                  </a:lnTo>
                  <a:lnTo>
                    <a:pt x="12192" y="1088136"/>
                  </a:lnTo>
                  <a:close/>
                </a:path>
              </a:pathLst>
            </a:custGeom>
            <a:solidFill>
              <a:srgbClr val="1FE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6591" y="5128260"/>
              <a:ext cx="1226820" cy="172669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21407" y="5160263"/>
              <a:ext cx="6981825" cy="1082040"/>
            </a:xfrm>
            <a:custGeom>
              <a:avLst/>
              <a:gdLst/>
              <a:ahLst/>
              <a:cxnLst/>
              <a:rect l="l" t="t" r="r" b="b"/>
              <a:pathLst>
                <a:path w="6981825" h="1082039">
                  <a:moveTo>
                    <a:pt x="6801612" y="1082039"/>
                  </a:moveTo>
                  <a:lnTo>
                    <a:pt x="0" y="1082039"/>
                  </a:lnTo>
                  <a:lnTo>
                    <a:pt x="0" y="0"/>
                  </a:lnTo>
                  <a:lnTo>
                    <a:pt x="6801612" y="0"/>
                  </a:lnTo>
                  <a:lnTo>
                    <a:pt x="6849328" y="6448"/>
                  </a:lnTo>
                  <a:lnTo>
                    <a:pt x="6892261" y="24666"/>
                  </a:lnTo>
                  <a:lnTo>
                    <a:pt x="6928675" y="52959"/>
                  </a:lnTo>
                  <a:lnTo>
                    <a:pt x="6956834" y="89633"/>
                  </a:lnTo>
                  <a:lnTo>
                    <a:pt x="6975002" y="132997"/>
                  </a:lnTo>
                  <a:lnTo>
                    <a:pt x="6981444" y="181356"/>
                  </a:lnTo>
                  <a:lnTo>
                    <a:pt x="6981444" y="902208"/>
                  </a:lnTo>
                  <a:lnTo>
                    <a:pt x="6975002" y="949924"/>
                  </a:lnTo>
                  <a:lnTo>
                    <a:pt x="6956834" y="992857"/>
                  </a:lnTo>
                  <a:lnTo>
                    <a:pt x="6928675" y="1029271"/>
                  </a:lnTo>
                  <a:lnTo>
                    <a:pt x="6892261" y="1057430"/>
                  </a:lnTo>
                  <a:lnTo>
                    <a:pt x="6849328" y="1075598"/>
                  </a:lnTo>
                  <a:lnTo>
                    <a:pt x="6801612" y="1082039"/>
                  </a:lnTo>
                  <a:close/>
                </a:path>
              </a:pathLst>
            </a:custGeom>
            <a:solidFill>
              <a:srgbClr val="FFFFFF">
                <a:alpha val="89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15311" y="5154167"/>
              <a:ext cx="6995159" cy="1094740"/>
            </a:xfrm>
            <a:custGeom>
              <a:avLst/>
              <a:gdLst/>
              <a:ahLst/>
              <a:cxnLst/>
              <a:rect l="l" t="t" r="r" b="b"/>
              <a:pathLst>
                <a:path w="6995159" h="1094739">
                  <a:moveTo>
                    <a:pt x="6827520" y="1094232"/>
                  </a:moveTo>
                  <a:lnTo>
                    <a:pt x="3048" y="1094232"/>
                  </a:lnTo>
                  <a:lnTo>
                    <a:pt x="0" y="1092708"/>
                  </a:lnTo>
                  <a:lnTo>
                    <a:pt x="0" y="3047"/>
                  </a:lnTo>
                  <a:lnTo>
                    <a:pt x="3048" y="0"/>
                  </a:lnTo>
                  <a:lnTo>
                    <a:pt x="6807708" y="0"/>
                  </a:lnTo>
                  <a:lnTo>
                    <a:pt x="6825996" y="1524"/>
                  </a:lnTo>
                  <a:lnTo>
                    <a:pt x="6845808" y="4571"/>
                  </a:lnTo>
                  <a:lnTo>
                    <a:pt x="6851396" y="6095"/>
                  </a:lnTo>
                  <a:lnTo>
                    <a:pt x="12192" y="6095"/>
                  </a:lnTo>
                  <a:lnTo>
                    <a:pt x="6096" y="13716"/>
                  </a:lnTo>
                  <a:lnTo>
                    <a:pt x="12192" y="13716"/>
                  </a:lnTo>
                  <a:lnTo>
                    <a:pt x="12192" y="1082040"/>
                  </a:lnTo>
                  <a:lnTo>
                    <a:pt x="6096" y="1082040"/>
                  </a:lnTo>
                  <a:lnTo>
                    <a:pt x="12192" y="1088136"/>
                  </a:lnTo>
                  <a:lnTo>
                    <a:pt x="6858000" y="1088136"/>
                  </a:lnTo>
                  <a:lnTo>
                    <a:pt x="6845808" y="1091184"/>
                  </a:lnTo>
                  <a:lnTo>
                    <a:pt x="6827520" y="1094232"/>
                  </a:lnTo>
                  <a:close/>
                </a:path>
                <a:path w="6995159" h="1094739">
                  <a:moveTo>
                    <a:pt x="12192" y="13716"/>
                  </a:moveTo>
                  <a:lnTo>
                    <a:pt x="6096" y="13716"/>
                  </a:lnTo>
                  <a:lnTo>
                    <a:pt x="12192" y="6095"/>
                  </a:lnTo>
                  <a:lnTo>
                    <a:pt x="12192" y="13716"/>
                  </a:lnTo>
                  <a:close/>
                </a:path>
                <a:path w="6995159" h="1094739">
                  <a:moveTo>
                    <a:pt x="6858000" y="1088136"/>
                  </a:moveTo>
                  <a:lnTo>
                    <a:pt x="12192" y="1088136"/>
                  </a:lnTo>
                  <a:lnTo>
                    <a:pt x="12192" y="1082040"/>
                  </a:lnTo>
                  <a:lnTo>
                    <a:pt x="6807708" y="1082040"/>
                  </a:lnTo>
                  <a:lnTo>
                    <a:pt x="6842760" y="1078992"/>
                  </a:lnTo>
                  <a:lnTo>
                    <a:pt x="6905244" y="1053084"/>
                  </a:lnTo>
                  <a:lnTo>
                    <a:pt x="6941820" y="1019556"/>
                  </a:lnTo>
                  <a:lnTo>
                    <a:pt x="6960108" y="990600"/>
                  </a:lnTo>
                  <a:lnTo>
                    <a:pt x="6967728" y="976884"/>
                  </a:lnTo>
                  <a:lnTo>
                    <a:pt x="6973824" y="960120"/>
                  </a:lnTo>
                  <a:lnTo>
                    <a:pt x="6978396" y="943356"/>
                  </a:lnTo>
                  <a:lnTo>
                    <a:pt x="6981444" y="926592"/>
                  </a:lnTo>
                  <a:lnTo>
                    <a:pt x="6981444" y="169164"/>
                  </a:lnTo>
                  <a:lnTo>
                    <a:pt x="6967728" y="118872"/>
                  </a:lnTo>
                  <a:lnTo>
                    <a:pt x="6941820" y="76200"/>
                  </a:lnTo>
                  <a:lnTo>
                    <a:pt x="6905244" y="42672"/>
                  </a:lnTo>
                  <a:lnTo>
                    <a:pt x="6859524" y="21335"/>
                  </a:lnTo>
                  <a:lnTo>
                    <a:pt x="6825996" y="13716"/>
                  </a:lnTo>
                  <a:lnTo>
                    <a:pt x="12192" y="13716"/>
                  </a:lnTo>
                  <a:lnTo>
                    <a:pt x="12192" y="6095"/>
                  </a:lnTo>
                  <a:lnTo>
                    <a:pt x="6851396" y="6095"/>
                  </a:lnTo>
                  <a:lnTo>
                    <a:pt x="6862572" y="9144"/>
                  </a:lnTo>
                  <a:lnTo>
                    <a:pt x="6911340" y="32004"/>
                  </a:lnTo>
                  <a:lnTo>
                    <a:pt x="6950964" y="68580"/>
                  </a:lnTo>
                  <a:lnTo>
                    <a:pt x="6963156" y="82296"/>
                  </a:lnTo>
                  <a:lnTo>
                    <a:pt x="6986016" y="131064"/>
                  </a:lnTo>
                  <a:lnTo>
                    <a:pt x="6995160" y="187452"/>
                  </a:lnTo>
                  <a:lnTo>
                    <a:pt x="6995160" y="908304"/>
                  </a:lnTo>
                  <a:lnTo>
                    <a:pt x="6986016" y="963168"/>
                  </a:lnTo>
                  <a:lnTo>
                    <a:pt x="6963156" y="1011936"/>
                  </a:lnTo>
                  <a:lnTo>
                    <a:pt x="6926580" y="1051560"/>
                  </a:lnTo>
                  <a:lnTo>
                    <a:pt x="6880860" y="1080516"/>
                  </a:lnTo>
                  <a:lnTo>
                    <a:pt x="6864096" y="1086612"/>
                  </a:lnTo>
                  <a:lnTo>
                    <a:pt x="6858000" y="1088136"/>
                  </a:lnTo>
                  <a:close/>
                </a:path>
                <a:path w="6995159" h="1094739">
                  <a:moveTo>
                    <a:pt x="12192" y="1088136"/>
                  </a:moveTo>
                  <a:lnTo>
                    <a:pt x="6096" y="1082040"/>
                  </a:lnTo>
                  <a:lnTo>
                    <a:pt x="12192" y="1082040"/>
                  </a:lnTo>
                  <a:lnTo>
                    <a:pt x="12192" y="1088136"/>
                  </a:lnTo>
                  <a:close/>
                </a:path>
              </a:pathLst>
            </a:custGeom>
            <a:solidFill>
              <a:srgbClr val="239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58020" y="2235231"/>
            <a:ext cx="6733580" cy="39831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indent="-229870">
              <a:lnSpc>
                <a:spcPct val="100000"/>
              </a:lnSpc>
              <a:spcBef>
                <a:spcPts val="100"/>
              </a:spcBef>
              <a:buChar char="•"/>
              <a:tabLst>
                <a:tab pos="241935" algn="l"/>
                <a:tab pos="242570" algn="l"/>
              </a:tabLst>
            </a:pPr>
            <a:r>
              <a:rPr sz="2100" spc="20" dirty="0">
                <a:latin typeface="Times New Roman"/>
                <a:cs typeface="Times New Roman"/>
              </a:rPr>
              <a:t>Selected</a:t>
            </a:r>
            <a:r>
              <a:rPr sz="2100" dirty="0">
                <a:latin typeface="Times New Roman"/>
                <a:cs typeface="Times New Roman"/>
              </a:rPr>
              <a:t> Specific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25" dirty="0">
                <a:latin typeface="Times New Roman"/>
                <a:cs typeface="Times New Roman"/>
              </a:rPr>
              <a:t>Volume</a:t>
            </a:r>
            <a:endParaRPr sz="2100" dirty="0">
              <a:latin typeface="Times New Roman"/>
              <a:cs typeface="Times New Roman"/>
            </a:endParaRPr>
          </a:p>
          <a:p>
            <a:pPr marL="241935" indent="-229870">
              <a:lnSpc>
                <a:spcPct val="100000"/>
              </a:lnSpc>
              <a:spcBef>
                <a:spcPts val="20"/>
              </a:spcBef>
              <a:buChar char="•"/>
              <a:tabLst>
                <a:tab pos="241935" algn="l"/>
                <a:tab pos="242570" algn="l"/>
              </a:tabLst>
            </a:pPr>
            <a:r>
              <a:rPr sz="2100" spc="65" dirty="0">
                <a:latin typeface="Times New Roman"/>
                <a:cs typeface="Times New Roman"/>
              </a:rPr>
              <a:t>Rate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Times New Roman"/>
                <a:cs typeface="Times New Roman"/>
              </a:rPr>
              <a:t>Selected</a:t>
            </a:r>
            <a:endParaRPr sz="2100" dirty="0">
              <a:latin typeface="Times New Roman"/>
              <a:cs typeface="Times New Roman"/>
            </a:endParaRPr>
          </a:p>
          <a:p>
            <a:pPr marL="241935" indent="-229870">
              <a:lnSpc>
                <a:spcPct val="100000"/>
              </a:lnSpc>
              <a:spcBef>
                <a:spcPts val="25"/>
              </a:spcBef>
              <a:buChar char="•"/>
              <a:tabLst>
                <a:tab pos="241935" algn="l"/>
                <a:tab pos="242570" algn="l"/>
              </a:tabLst>
            </a:pPr>
            <a:r>
              <a:rPr sz="2100" spc="70" dirty="0">
                <a:latin typeface="Times New Roman"/>
                <a:cs typeface="Times New Roman"/>
              </a:rPr>
              <a:t>Independent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15" dirty="0">
                <a:latin typeface="Times New Roman"/>
                <a:cs typeface="Times New Roman"/>
              </a:rPr>
              <a:t>of</a:t>
            </a:r>
            <a:r>
              <a:rPr sz="2100" spc="220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patient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15" dirty="0">
                <a:latin typeface="Times New Roman"/>
                <a:cs typeface="Times New Roman"/>
              </a:rPr>
              <a:t>effort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or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spc="40" dirty="0">
                <a:latin typeface="Times New Roman"/>
                <a:cs typeface="Times New Roman"/>
              </a:rPr>
              <a:t>response</a:t>
            </a:r>
            <a:endParaRPr sz="2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</a:pPr>
            <a:endParaRPr sz="3450" dirty="0">
              <a:latin typeface="Times New Roman"/>
              <a:cs typeface="Times New Roman"/>
            </a:endParaRPr>
          </a:p>
          <a:p>
            <a:pPr marL="241935" indent="-229870">
              <a:lnSpc>
                <a:spcPct val="100000"/>
              </a:lnSpc>
              <a:buChar char="•"/>
              <a:tabLst>
                <a:tab pos="241935" algn="l"/>
                <a:tab pos="242570" algn="l"/>
              </a:tabLst>
            </a:pPr>
            <a:r>
              <a:rPr sz="2100" spc="20" dirty="0">
                <a:latin typeface="Times New Roman"/>
                <a:cs typeface="Times New Roman"/>
              </a:rPr>
              <a:t>Selected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40" dirty="0">
                <a:latin typeface="Times New Roman"/>
                <a:cs typeface="Times New Roman"/>
              </a:rPr>
              <a:t>Pressure</a:t>
            </a:r>
            <a:endParaRPr sz="2100" dirty="0">
              <a:latin typeface="Times New Roman"/>
              <a:cs typeface="Times New Roman"/>
            </a:endParaRPr>
          </a:p>
          <a:p>
            <a:pPr marL="241935" indent="-229870">
              <a:lnSpc>
                <a:spcPct val="100000"/>
              </a:lnSpc>
              <a:spcBef>
                <a:spcPts val="25"/>
              </a:spcBef>
              <a:buChar char="•"/>
              <a:tabLst>
                <a:tab pos="241935" algn="l"/>
                <a:tab pos="242570" algn="l"/>
              </a:tabLst>
            </a:pPr>
            <a:r>
              <a:rPr sz="2100" dirty="0">
                <a:latin typeface="Times New Roman"/>
                <a:cs typeface="Times New Roman"/>
              </a:rPr>
              <a:t>Variable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25" dirty="0">
                <a:latin typeface="Times New Roman"/>
                <a:cs typeface="Times New Roman"/>
              </a:rPr>
              <a:t>Volume</a:t>
            </a:r>
            <a:endParaRPr sz="2100" dirty="0">
              <a:latin typeface="Times New Roman"/>
              <a:cs typeface="Times New Roman"/>
            </a:endParaRPr>
          </a:p>
          <a:p>
            <a:pPr marL="241935" indent="-229870">
              <a:lnSpc>
                <a:spcPct val="100000"/>
              </a:lnSpc>
              <a:spcBef>
                <a:spcPts val="25"/>
              </a:spcBef>
              <a:buChar char="•"/>
              <a:tabLst>
                <a:tab pos="241935" algn="l"/>
                <a:tab pos="242570" algn="l"/>
              </a:tabLst>
            </a:pPr>
            <a:r>
              <a:rPr sz="2100" spc="65" dirty="0">
                <a:latin typeface="Times New Roman"/>
                <a:cs typeface="Times New Roman"/>
              </a:rPr>
              <a:t>Rate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Times New Roman"/>
                <a:cs typeface="Times New Roman"/>
              </a:rPr>
              <a:t>Selected</a:t>
            </a:r>
            <a:endParaRPr sz="2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</a:pPr>
            <a:endParaRPr sz="3450" dirty="0">
              <a:latin typeface="Times New Roman"/>
              <a:cs typeface="Times New Roman"/>
            </a:endParaRPr>
          </a:p>
          <a:p>
            <a:pPr marL="241935" indent="-229870">
              <a:lnSpc>
                <a:spcPct val="100000"/>
              </a:lnSpc>
              <a:buChar char="•"/>
              <a:tabLst>
                <a:tab pos="241935" algn="l"/>
                <a:tab pos="242570" algn="l"/>
              </a:tabLst>
            </a:pPr>
            <a:r>
              <a:rPr sz="2100" spc="65" dirty="0">
                <a:latin typeface="Times New Roman"/>
                <a:cs typeface="Times New Roman"/>
              </a:rPr>
              <a:t>Spontaneous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35" dirty="0">
                <a:latin typeface="Times New Roman"/>
                <a:cs typeface="Times New Roman"/>
              </a:rPr>
              <a:t>Breaths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Times New Roman"/>
                <a:cs typeface="Times New Roman"/>
              </a:rPr>
              <a:t>allowed</a:t>
            </a:r>
            <a:endParaRPr sz="2100" dirty="0">
              <a:latin typeface="Times New Roman"/>
              <a:cs typeface="Times New Roman"/>
            </a:endParaRPr>
          </a:p>
          <a:p>
            <a:pPr marL="241935" indent="-229870">
              <a:lnSpc>
                <a:spcPct val="100000"/>
              </a:lnSpc>
              <a:spcBef>
                <a:spcPts val="25"/>
              </a:spcBef>
              <a:buChar char="•"/>
              <a:tabLst>
                <a:tab pos="241935" algn="l"/>
                <a:tab pos="242570" algn="l"/>
              </a:tabLst>
            </a:pPr>
            <a:r>
              <a:rPr sz="2100" spc="40" dirty="0">
                <a:latin typeface="Times New Roman"/>
                <a:cs typeface="Times New Roman"/>
              </a:rPr>
              <a:t>Preset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65" dirty="0">
                <a:latin typeface="Times New Roman"/>
                <a:cs typeface="Times New Roman"/>
              </a:rPr>
              <a:t>Rate</a:t>
            </a:r>
            <a:r>
              <a:rPr lang="en-US" sz="2100" spc="65" dirty="0">
                <a:latin typeface="Times New Roman"/>
                <a:cs typeface="Times New Roman"/>
              </a:rPr>
              <a:t> will be delivered regardless of patient effort</a:t>
            </a:r>
            <a:endParaRPr lang="en-US" sz="2100" dirty="0">
              <a:latin typeface="Times New Roman"/>
              <a:cs typeface="Times New Roman"/>
            </a:endParaRPr>
          </a:p>
          <a:p>
            <a:pPr marL="241935" indent="-229870">
              <a:lnSpc>
                <a:spcPct val="100000"/>
              </a:lnSpc>
              <a:spcBef>
                <a:spcPts val="20"/>
              </a:spcBef>
              <a:buChar char="•"/>
              <a:tabLst>
                <a:tab pos="241935" algn="l"/>
                <a:tab pos="242570" algn="l"/>
              </a:tabLst>
            </a:pPr>
            <a:r>
              <a:rPr lang="en-US" sz="2100" spc="40" dirty="0">
                <a:latin typeface="Times New Roman"/>
                <a:cs typeface="Times New Roman"/>
              </a:rPr>
              <a:t>Preset</a:t>
            </a:r>
            <a:r>
              <a:rPr lang="en-US" sz="2100" spc="-15" dirty="0">
                <a:latin typeface="Times New Roman"/>
                <a:cs typeface="Times New Roman"/>
              </a:rPr>
              <a:t> </a:t>
            </a:r>
            <a:r>
              <a:rPr lang="en-US" sz="2100" spc="40" dirty="0">
                <a:latin typeface="Times New Roman"/>
                <a:cs typeface="Times New Roman"/>
              </a:rPr>
              <a:t>Pressure</a:t>
            </a:r>
            <a:endParaRPr lang="en-US" sz="2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083" y="785957"/>
            <a:ext cx="77768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95" dirty="0"/>
              <a:t>Anesthesia</a:t>
            </a:r>
            <a:r>
              <a:rPr sz="4000" spc="35" dirty="0"/>
              <a:t> </a:t>
            </a:r>
            <a:r>
              <a:rPr sz="4000" spc="40" dirty="0"/>
              <a:t>Ventilator</a:t>
            </a:r>
            <a:r>
              <a:rPr sz="4000" spc="100" dirty="0"/>
              <a:t> </a:t>
            </a:r>
            <a:r>
              <a:rPr sz="4000" spc="130" dirty="0"/>
              <a:t>Modes</a:t>
            </a:r>
            <a:r>
              <a:rPr sz="4000" spc="20" dirty="0"/>
              <a:t> </a:t>
            </a:r>
            <a:r>
              <a:rPr sz="4000" spc="70" dirty="0"/>
              <a:t>(cont.)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950975" y="1798320"/>
            <a:ext cx="8183880" cy="1880870"/>
            <a:chOff x="950975" y="1798320"/>
            <a:chExt cx="8183880" cy="1880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0975" y="1798320"/>
              <a:ext cx="1331975" cy="188061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53996" y="1830324"/>
              <a:ext cx="6875145" cy="1181100"/>
            </a:xfrm>
            <a:custGeom>
              <a:avLst/>
              <a:gdLst/>
              <a:ahLst/>
              <a:cxnLst/>
              <a:rect l="l" t="t" r="r" b="b"/>
              <a:pathLst>
                <a:path w="6875145" h="1181100">
                  <a:moveTo>
                    <a:pt x="6678168" y="1181099"/>
                  </a:moveTo>
                  <a:lnTo>
                    <a:pt x="0" y="1181099"/>
                  </a:lnTo>
                  <a:lnTo>
                    <a:pt x="0" y="0"/>
                  </a:lnTo>
                  <a:lnTo>
                    <a:pt x="6678168" y="0"/>
                  </a:lnTo>
                  <a:lnTo>
                    <a:pt x="6723128" y="5211"/>
                  </a:lnTo>
                  <a:lnTo>
                    <a:pt x="6764462" y="20047"/>
                  </a:lnTo>
                  <a:lnTo>
                    <a:pt x="6800972" y="43307"/>
                  </a:lnTo>
                  <a:lnTo>
                    <a:pt x="6831456" y="73791"/>
                  </a:lnTo>
                  <a:lnTo>
                    <a:pt x="6854716" y="110301"/>
                  </a:lnTo>
                  <a:lnTo>
                    <a:pt x="6869552" y="151635"/>
                  </a:lnTo>
                  <a:lnTo>
                    <a:pt x="6874764" y="196595"/>
                  </a:lnTo>
                  <a:lnTo>
                    <a:pt x="6874764" y="984503"/>
                  </a:lnTo>
                  <a:lnTo>
                    <a:pt x="6869552" y="1029464"/>
                  </a:lnTo>
                  <a:lnTo>
                    <a:pt x="6854716" y="1070798"/>
                  </a:lnTo>
                  <a:lnTo>
                    <a:pt x="6831456" y="1107308"/>
                  </a:lnTo>
                  <a:lnTo>
                    <a:pt x="6800972" y="1137792"/>
                  </a:lnTo>
                  <a:lnTo>
                    <a:pt x="6764462" y="1161052"/>
                  </a:lnTo>
                  <a:lnTo>
                    <a:pt x="6723128" y="1175888"/>
                  </a:lnTo>
                  <a:lnTo>
                    <a:pt x="6678168" y="1181099"/>
                  </a:lnTo>
                  <a:close/>
                </a:path>
              </a:pathLst>
            </a:custGeom>
            <a:solidFill>
              <a:srgbClr val="FFFFFF">
                <a:alpha val="89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46375" y="1824228"/>
              <a:ext cx="6888480" cy="1193800"/>
            </a:xfrm>
            <a:custGeom>
              <a:avLst/>
              <a:gdLst/>
              <a:ahLst/>
              <a:cxnLst/>
              <a:rect l="l" t="t" r="r" b="b"/>
              <a:pathLst>
                <a:path w="6888480" h="1193800">
                  <a:moveTo>
                    <a:pt x="6707124" y="1193292"/>
                  </a:moveTo>
                  <a:lnTo>
                    <a:pt x="3048" y="1193292"/>
                  </a:lnTo>
                  <a:lnTo>
                    <a:pt x="0" y="1190244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6685788" y="0"/>
                  </a:lnTo>
                  <a:lnTo>
                    <a:pt x="6705600" y="1524"/>
                  </a:lnTo>
                  <a:lnTo>
                    <a:pt x="6725412" y="4572"/>
                  </a:lnTo>
                  <a:lnTo>
                    <a:pt x="6732016" y="6096"/>
                  </a:lnTo>
                  <a:lnTo>
                    <a:pt x="13716" y="6096"/>
                  </a:lnTo>
                  <a:lnTo>
                    <a:pt x="7619" y="12192"/>
                  </a:lnTo>
                  <a:lnTo>
                    <a:pt x="13716" y="12192"/>
                  </a:lnTo>
                  <a:lnTo>
                    <a:pt x="13716" y="1181100"/>
                  </a:lnTo>
                  <a:lnTo>
                    <a:pt x="7619" y="1181100"/>
                  </a:lnTo>
                  <a:lnTo>
                    <a:pt x="13716" y="1187196"/>
                  </a:lnTo>
                  <a:lnTo>
                    <a:pt x="6736842" y="1187196"/>
                  </a:lnTo>
                  <a:lnTo>
                    <a:pt x="6726936" y="1190244"/>
                  </a:lnTo>
                  <a:lnTo>
                    <a:pt x="6707124" y="1193292"/>
                  </a:lnTo>
                  <a:close/>
                </a:path>
                <a:path w="6888480" h="1193800">
                  <a:moveTo>
                    <a:pt x="13716" y="12192"/>
                  </a:moveTo>
                  <a:lnTo>
                    <a:pt x="7619" y="12192"/>
                  </a:lnTo>
                  <a:lnTo>
                    <a:pt x="13716" y="6096"/>
                  </a:lnTo>
                  <a:lnTo>
                    <a:pt x="13716" y="12192"/>
                  </a:lnTo>
                  <a:close/>
                </a:path>
                <a:path w="6888480" h="1193800">
                  <a:moveTo>
                    <a:pt x="6736842" y="1187196"/>
                  </a:moveTo>
                  <a:lnTo>
                    <a:pt x="13716" y="1187196"/>
                  </a:lnTo>
                  <a:lnTo>
                    <a:pt x="13716" y="1181100"/>
                  </a:lnTo>
                  <a:lnTo>
                    <a:pt x="6685788" y="1181100"/>
                  </a:lnTo>
                  <a:lnTo>
                    <a:pt x="6704076" y="1179576"/>
                  </a:lnTo>
                  <a:lnTo>
                    <a:pt x="6742176" y="1171956"/>
                  </a:lnTo>
                  <a:lnTo>
                    <a:pt x="6790944" y="1149096"/>
                  </a:lnTo>
                  <a:lnTo>
                    <a:pt x="6832092" y="1112520"/>
                  </a:lnTo>
                  <a:lnTo>
                    <a:pt x="6861048" y="1065276"/>
                  </a:lnTo>
                  <a:lnTo>
                    <a:pt x="6874764" y="1010412"/>
                  </a:lnTo>
                  <a:lnTo>
                    <a:pt x="6876288" y="990600"/>
                  </a:lnTo>
                  <a:lnTo>
                    <a:pt x="6876171" y="202692"/>
                  </a:lnTo>
                  <a:lnTo>
                    <a:pt x="6871716" y="164592"/>
                  </a:lnTo>
                  <a:lnTo>
                    <a:pt x="6853428" y="112776"/>
                  </a:lnTo>
                  <a:lnTo>
                    <a:pt x="6819900" y="68580"/>
                  </a:lnTo>
                  <a:lnTo>
                    <a:pt x="6777228" y="36576"/>
                  </a:lnTo>
                  <a:lnTo>
                    <a:pt x="6742176" y="21336"/>
                  </a:lnTo>
                  <a:lnTo>
                    <a:pt x="6685788" y="12192"/>
                  </a:lnTo>
                  <a:lnTo>
                    <a:pt x="13716" y="12192"/>
                  </a:lnTo>
                  <a:lnTo>
                    <a:pt x="13716" y="6096"/>
                  </a:lnTo>
                  <a:lnTo>
                    <a:pt x="6732016" y="6096"/>
                  </a:lnTo>
                  <a:lnTo>
                    <a:pt x="6745224" y="9144"/>
                  </a:lnTo>
                  <a:lnTo>
                    <a:pt x="6781800" y="24384"/>
                  </a:lnTo>
                  <a:lnTo>
                    <a:pt x="6813804" y="45720"/>
                  </a:lnTo>
                  <a:lnTo>
                    <a:pt x="6841236" y="73152"/>
                  </a:lnTo>
                  <a:lnTo>
                    <a:pt x="6864096" y="106680"/>
                  </a:lnTo>
                  <a:lnTo>
                    <a:pt x="6879336" y="143256"/>
                  </a:lnTo>
                  <a:lnTo>
                    <a:pt x="6886956" y="182880"/>
                  </a:lnTo>
                  <a:lnTo>
                    <a:pt x="6888480" y="202692"/>
                  </a:lnTo>
                  <a:lnTo>
                    <a:pt x="6888480" y="990600"/>
                  </a:lnTo>
                  <a:lnTo>
                    <a:pt x="6883908" y="1031748"/>
                  </a:lnTo>
                  <a:lnTo>
                    <a:pt x="6873240" y="1069848"/>
                  </a:lnTo>
                  <a:lnTo>
                    <a:pt x="6842760" y="1120140"/>
                  </a:lnTo>
                  <a:lnTo>
                    <a:pt x="6815328" y="1147572"/>
                  </a:lnTo>
                  <a:lnTo>
                    <a:pt x="6798564" y="1158240"/>
                  </a:lnTo>
                  <a:lnTo>
                    <a:pt x="6783324" y="1168908"/>
                  </a:lnTo>
                  <a:lnTo>
                    <a:pt x="6765036" y="1178052"/>
                  </a:lnTo>
                  <a:lnTo>
                    <a:pt x="6746748" y="1184148"/>
                  </a:lnTo>
                  <a:lnTo>
                    <a:pt x="6736842" y="1187196"/>
                  </a:lnTo>
                  <a:close/>
                </a:path>
                <a:path w="6888480" h="1193800">
                  <a:moveTo>
                    <a:pt x="13716" y="1187196"/>
                  </a:moveTo>
                  <a:lnTo>
                    <a:pt x="7619" y="1181100"/>
                  </a:lnTo>
                  <a:lnTo>
                    <a:pt x="13716" y="1181100"/>
                  </a:lnTo>
                  <a:lnTo>
                    <a:pt x="13716" y="1187196"/>
                  </a:lnTo>
                  <a:close/>
                </a:path>
              </a:pathLst>
            </a:custGeom>
            <a:solidFill>
              <a:srgbClr val="34AC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69287" y="1968457"/>
            <a:ext cx="6179820" cy="85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Char char="•"/>
              <a:tabLst>
                <a:tab pos="184150" algn="l"/>
              </a:tabLst>
            </a:pPr>
            <a:r>
              <a:rPr sz="1800" spc="50" dirty="0">
                <a:latin typeface="Times New Roman"/>
                <a:cs typeface="Times New Roman"/>
              </a:rPr>
              <a:t>Intermittent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positive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Times New Roman"/>
                <a:cs typeface="Times New Roman"/>
              </a:rPr>
              <a:t>pressure</a:t>
            </a:r>
            <a:endParaRPr sz="1800">
              <a:latin typeface="Times New Roman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25"/>
              </a:spcBef>
              <a:buChar char="•"/>
              <a:tabLst>
                <a:tab pos="184150" algn="l"/>
              </a:tabLst>
            </a:pPr>
            <a:r>
              <a:rPr sz="1800" spc="75" dirty="0">
                <a:latin typeface="Times New Roman"/>
                <a:cs typeface="Times New Roman"/>
              </a:rPr>
              <a:t>Pt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Times New Roman"/>
                <a:cs typeface="Times New Roman"/>
              </a:rPr>
              <a:t>initiates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Times New Roman"/>
                <a:cs typeface="Times New Roman"/>
              </a:rPr>
              <a:t>ventilator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to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deliver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a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40" dirty="0">
                <a:latin typeface="Times New Roman"/>
                <a:cs typeface="Times New Roman"/>
              </a:rPr>
              <a:t>pre-determined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Times New Roman"/>
                <a:cs typeface="Times New Roman"/>
              </a:rPr>
              <a:t>tidal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Times New Roman"/>
                <a:cs typeface="Times New Roman"/>
              </a:rPr>
              <a:t>volume.</a:t>
            </a:r>
            <a:endParaRPr sz="1800">
              <a:latin typeface="Times New Roman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20"/>
              </a:spcBef>
              <a:buChar char="•"/>
              <a:tabLst>
                <a:tab pos="184150" algn="l"/>
              </a:tabLst>
            </a:pPr>
            <a:r>
              <a:rPr sz="1800" spc="15" dirty="0">
                <a:latin typeface="Times New Roman"/>
                <a:cs typeface="Times New Roman"/>
              </a:rPr>
              <a:t>Back-up </a:t>
            </a:r>
            <a:r>
              <a:rPr sz="1800" spc="70" dirty="0">
                <a:latin typeface="Times New Roman"/>
                <a:cs typeface="Times New Roman"/>
              </a:rPr>
              <a:t>mode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Times New Roman"/>
                <a:cs typeface="Times New Roman"/>
              </a:rPr>
              <a:t>should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45" dirty="0">
                <a:latin typeface="Times New Roman"/>
                <a:cs typeface="Times New Roman"/>
              </a:rPr>
              <a:t>patient</a:t>
            </a:r>
            <a:r>
              <a:rPr sz="1800" spc="10" dirty="0">
                <a:latin typeface="Times New Roman"/>
                <a:cs typeface="Times New Roman"/>
              </a:rPr>
              <a:t> be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Times New Roman"/>
                <a:cs typeface="Times New Roman"/>
              </a:rPr>
              <a:t>unable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to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Times New Roman"/>
                <a:cs typeface="Times New Roman"/>
              </a:rPr>
              <a:t>initiate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a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45" dirty="0">
                <a:latin typeface="Times New Roman"/>
                <a:cs typeface="Times New Roman"/>
              </a:rPr>
              <a:t>breath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50975" y="3461003"/>
            <a:ext cx="8183880" cy="1984375"/>
            <a:chOff x="950975" y="3461003"/>
            <a:chExt cx="8183880" cy="198437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975" y="3564635"/>
              <a:ext cx="1331975" cy="18806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53996" y="3467099"/>
              <a:ext cx="6875145" cy="1443355"/>
            </a:xfrm>
            <a:custGeom>
              <a:avLst/>
              <a:gdLst/>
              <a:ahLst/>
              <a:cxnLst/>
              <a:rect l="l" t="t" r="r" b="b"/>
              <a:pathLst>
                <a:path w="6875145" h="1443354">
                  <a:moveTo>
                    <a:pt x="6633972" y="1443227"/>
                  </a:moveTo>
                  <a:lnTo>
                    <a:pt x="0" y="1443227"/>
                  </a:lnTo>
                  <a:lnTo>
                    <a:pt x="0" y="0"/>
                  </a:lnTo>
                  <a:lnTo>
                    <a:pt x="6633972" y="0"/>
                  </a:lnTo>
                  <a:lnTo>
                    <a:pt x="6682385" y="4845"/>
                  </a:lnTo>
                  <a:lnTo>
                    <a:pt x="6727531" y="18764"/>
                  </a:lnTo>
                  <a:lnTo>
                    <a:pt x="6768426" y="40826"/>
                  </a:lnTo>
                  <a:lnTo>
                    <a:pt x="6804088" y="70104"/>
                  </a:lnTo>
                  <a:lnTo>
                    <a:pt x="6833535" y="105667"/>
                  </a:lnTo>
                  <a:lnTo>
                    <a:pt x="6855785" y="146589"/>
                  </a:lnTo>
                  <a:lnTo>
                    <a:pt x="6869855" y="191940"/>
                  </a:lnTo>
                  <a:lnTo>
                    <a:pt x="6874764" y="240792"/>
                  </a:lnTo>
                  <a:lnTo>
                    <a:pt x="6874764" y="1202436"/>
                  </a:lnTo>
                  <a:lnTo>
                    <a:pt x="6869855" y="1251287"/>
                  </a:lnTo>
                  <a:lnTo>
                    <a:pt x="6855785" y="1296638"/>
                  </a:lnTo>
                  <a:lnTo>
                    <a:pt x="6833535" y="1337560"/>
                  </a:lnTo>
                  <a:lnTo>
                    <a:pt x="6804088" y="1373124"/>
                  </a:lnTo>
                  <a:lnTo>
                    <a:pt x="6768426" y="1402401"/>
                  </a:lnTo>
                  <a:lnTo>
                    <a:pt x="6727531" y="1424463"/>
                  </a:lnTo>
                  <a:lnTo>
                    <a:pt x="6682385" y="1438382"/>
                  </a:lnTo>
                  <a:lnTo>
                    <a:pt x="6633972" y="1443227"/>
                  </a:lnTo>
                  <a:close/>
                </a:path>
              </a:pathLst>
            </a:custGeom>
            <a:solidFill>
              <a:srgbClr val="FFFFFF">
                <a:alpha val="89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46375" y="3461003"/>
              <a:ext cx="6888480" cy="1457325"/>
            </a:xfrm>
            <a:custGeom>
              <a:avLst/>
              <a:gdLst/>
              <a:ahLst/>
              <a:cxnLst/>
              <a:rect l="l" t="t" r="r" b="b"/>
              <a:pathLst>
                <a:path w="6888480" h="1457325">
                  <a:moveTo>
                    <a:pt x="6641592" y="1456944"/>
                  </a:moveTo>
                  <a:lnTo>
                    <a:pt x="3048" y="1456944"/>
                  </a:lnTo>
                  <a:lnTo>
                    <a:pt x="0" y="1453896"/>
                  </a:lnTo>
                  <a:lnTo>
                    <a:pt x="0" y="1524"/>
                  </a:lnTo>
                  <a:lnTo>
                    <a:pt x="3048" y="0"/>
                  </a:lnTo>
                  <a:lnTo>
                    <a:pt x="6665976" y="0"/>
                  </a:lnTo>
                  <a:lnTo>
                    <a:pt x="6679692" y="1524"/>
                  </a:lnTo>
                  <a:lnTo>
                    <a:pt x="6691884" y="4571"/>
                  </a:lnTo>
                  <a:lnTo>
                    <a:pt x="6697599" y="6095"/>
                  </a:lnTo>
                  <a:lnTo>
                    <a:pt x="13716" y="6095"/>
                  </a:lnTo>
                  <a:lnTo>
                    <a:pt x="7619" y="12192"/>
                  </a:lnTo>
                  <a:lnTo>
                    <a:pt x="13716" y="12192"/>
                  </a:lnTo>
                  <a:lnTo>
                    <a:pt x="13716" y="1443228"/>
                  </a:lnTo>
                  <a:lnTo>
                    <a:pt x="7619" y="1443228"/>
                  </a:lnTo>
                  <a:lnTo>
                    <a:pt x="13716" y="1449324"/>
                  </a:lnTo>
                  <a:lnTo>
                    <a:pt x="6697599" y="1449324"/>
                  </a:lnTo>
                  <a:lnTo>
                    <a:pt x="6691884" y="1450848"/>
                  </a:lnTo>
                  <a:lnTo>
                    <a:pt x="6679692" y="1453896"/>
                  </a:lnTo>
                  <a:lnTo>
                    <a:pt x="6667500" y="1455420"/>
                  </a:lnTo>
                  <a:lnTo>
                    <a:pt x="6653784" y="1455420"/>
                  </a:lnTo>
                  <a:lnTo>
                    <a:pt x="6641592" y="1456944"/>
                  </a:lnTo>
                  <a:close/>
                </a:path>
                <a:path w="6888480" h="1457325">
                  <a:moveTo>
                    <a:pt x="13716" y="12192"/>
                  </a:moveTo>
                  <a:lnTo>
                    <a:pt x="7619" y="12192"/>
                  </a:lnTo>
                  <a:lnTo>
                    <a:pt x="13716" y="6095"/>
                  </a:lnTo>
                  <a:lnTo>
                    <a:pt x="13716" y="12192"/>
                  </a:lnTo>
                  <a:close/>
                </a:path>
                <a:path w="6888480" h="1457325">
                  <a:moveTo>
                    <a:pt x="6697599" y="1449324"/>
                  </a:moveTo>
                  <a:lnTo>
                    <a:pt x="13716" y="1449324"/>
                  </a:lnTo>
                  <a:lnTo>
                    <a:pt x="13716" y="1443228"/>
                  </a:lnTo>
                  <a:lnTo>
                    <a:pt x="6665976" y="1443228"/>
                  </a:lnTo>
                  <a:lnTo>
                    <a:pt x="6676644" y="1441704"/>
                  </a:lnTo>
                  <a:lnTo>
                    <a:pt x="6733032" y="1424940"/>
                  </a:lnTo>
                  <a:lnTo>
                    <a:pt x="6772656" y="1403604"/>
                  </a:lnTo>
                  <a:lnTo>
                    <a:pt x="6807708" y="1374648"/>
                  </a:lnTo>
                  <a:lnTo>
                    <a:pt x="6835140" y="1341120"/>
                  </a:lnTo>
                  <a:lnTo>
                    <a:pt x="6858000" y="1301496"/>
                  </a:lnTo>
                  <a:lnTo>
                    <a:pt x="6871716" y="1257300"/>
                  </a:lnTo>
                  <a:lnTo>
                    <a:pt x="6876288" y="1220724"/>
                  </a:lnTo>
                  <a:lnTo>
                    <a:pt x="6876288" y="234696"/>
                  </a:lnTo>
                  <a:lnTo>
                    <a:pt x="6865620" y="176784"/>
                  </a:lnTo>
                  <a:lnTo>
                    <a:pt x="6836664" y="115824"/>
                  </a:lnTo>
                  <a:lnTo>
                    <a:pt x="6807708" y="80771"/>
                  </a:lnTo>
                  <a:lnTo>
                    <a:pt x="6772656" y="51816"/>
                  </a:lnTo>
                  <a:lnTo>
                    <a:pt x="6733032" y="30480"/>
                  </a:lnTo>
                  <a:lnTo>
                    <a:pt x="6688836" y="16764"/>
                  </a:lnTo>
                  <a:lnTo>
                    <a:pt x="6653784" y="12192"/>
                  </a:lnTo>
                  <a:lnTo>
                    <a:pt x="13716" y="12192"/>
                  </a:lnTo>
                  <a:lnTo>
                    <a:pt x="13716" y="6095"/>
                  </a:lnTo>
                  <a:lnTo>
                    <a:pt x="6697599" y="6095"/>
                  </a:lnTo>
                  <a:lnTo>
                    <a:pt x="6714744" y="10668"/>
                  </a:lnTo>
                  <a:lnTo>
                    <a:pt x="6758940" y="28956"/>
                  </a:lnTo>
                  <a:lnTo>
                    <a:pt x="6798564" y="54864"/>
                  </a:lnTo>
                  <a:lnTo>
                    <a:pt x="6832092" y="88392"/>
                  </a:lnTo>
                  <a:lnTo>
                    <a:pt x="6858000" y="128016"/>
                  </a:lnTo>
                  <a:lnTo>
                    <a:pt x="6877812" y="172212"/>
                  </a:lnTo>
                  <a:lnTo>
                    <a:pt x="6888480" y="233172"/>
                  </a:lnTo>
                  <a:lnTo>
                    <a:pt x="6888480" y="1222248"/>
                  </a:lnTo>
                  <a:lnTo>
                    <a:pt x="6883908" y="1258824"/>
                  </a:lnTo>
                  <a:lnTo>
                    <a:pt x="6877812" y="1283208"/>
                  </a:lnTo>
                  <a:lnTo>
                    <a:pt x="6868668" y="1304544"/>
                  </a:lnTo>
                  <a:lnTo>
                    <a:pt x="6859524" y="1327404"/>
                  </a:lnTo>
                  <a:lnTo>
                    <a:pt x="6816852" y="1383792"/>
                  </a:lnTo>
                  <a:lnTo>
                    <a:pt x="6780276" y="1414272"/>
                  </a:lnTo>
                  <a:lnTo>
                    <a:pt x="6737604" y="1437132"/>
                  </a:lnTo>
                  <a:lnTo>
                    <a:pt x="6714744" y="1444752"/>
                  </a:lnTo>
                  <a:lnTo>
                    <a:pt x="6697599" y="1449324"/>
                  </a:lnTo>
                  <a:close/>
                </a:path>
                <a:path w="6888480" h="1457325">
                  <a:moveTo>
                    <a:pt x="13716" y="1449324"/>
                  </a:moveTo>
                  <a:lnTo>
                    <a:pt x="7619" y="1443228"/>
                  </a:lnTo>
                  <a:lnTo>
                    <a:pt x="13716" y="1443228"/>
                  </a:lnTo>
                  <a:lnTo>
                    <a:pt x="13716" y="1449324"/>
                  </a:lnTo>
                  <a:close/>
                </a:path>
              </a:pathLst>
            </a:custGeom>
            <a:solidFill>
              <a:srgbClr val="3367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361661" y="3629678"/>
            <a:ext cx="6465570" cy="1069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5420" indent="-173355">
              <a:lnSpc>
                <a:spcPct val="100000"/>
              </a:lnSpc>
              <a:spcBef>
                <a:spcPts val="105"/>
              </a:spcBef>
              <a:buChar char="•"/>
              <a:tabLst>
                <a:tab pos="186055" algn="l"/>
              </a:tabLst>
            </a:pPr>
            <a:r>
              <a:rPr sz="1700" spc="30" dirty="0">
                <a:latin typeface="Times New Roman"/>
                <a:cs typeface="Times New Roman"/>
              </a:rPr>
              <a:t>Preset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level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of</a:t>
            </a:r>
            <a:r>
              <a:rPr sz="1700" spc="204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positive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Times New Roman"/>
                <a:cs typeface="Times New Roman"/>
              </a:rPr>
              <a:t>airway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pressure</a:t>
            </a:r>
            <a:endParaRPr sz="1700">
              <a:latin typeface="Times New Roman"/>
              <a:cs typeface="Times New Roman"/>
            </a:endParaRPr>
          </a:p>
          <a:p>
            <a:pPr marL="185420" indent="-173355">
              <a:lnSpc>
                <a:spcPct val="100000"/>
              </a:lnSpc>
              <a:spcBef>
                <a:spcPts val="10"/>
              </a:spcBef>
              <a:buChar char="•"/>
              <a:tabLst>
                <a:tab pos="186055" algn="l"/>
              </a:tabLst>
            </a:pPr>
            <a:r>
              <a:rPr sz="1700" spc="45" dirty="0">
                <a:latin typeface="Times New Roman"/>
                <a:cs typeface="Times New Roman"/>
              </a:rPr>
              <a:t>Patient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40" dirty="0">
                <a:latin typeface="Times New Roman"/>
                <a:cs typeface="Times New Roman"/>
              </a:rPr>
              <a:t>determines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ventilatory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rate</a:t>
            </a:r>
            <a:endParaRPr sz="1700">
              <a:latin typeface="Times New Roman"/>
              <a:cs typeface="Times New Roman"/>
            </a:endParaRPr>
          </a:p>
          <a:p>
            <a:pPr marL="185420" indent="-173355">
              <a:lnSpc>
                <a:spcPct val="100000"/>
              </a:lnSpc>
              <a:spcBef>
                <a:spcPts val="25"/>
              </a:spcBef>
              <a:buChar char="•"/>
              <a:tabLst>
                <a:tab pos="186055" algn="l"/>
              </a:tabLst>
            </a:pPr>
            <a:r>
              <a:rPr sz="1700" spc="40" dirty="0">
                <a:latin typeface="Times New Roman"/>
                <a:cs typeface="Times New Roman"/>
              </a:rPr>
              <a:t>Designed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increase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Times New Roman"/>
                <a:cs typeface="Times New Roman"/>
              </a:rPr>
              <a:t>volume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of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the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40" dirty="0">
                <a:latin typeface="Times New Roman"/>
                <a:cs typeface="Times New Roman"/>
              </a:rPr>
              <a:t>patients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spontaneous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breath</a:t>
            </a:r>
            <a:endParaRPr sz="1700">
              <a:latin typeface="Times New Roman"/>
              <a:cs typeface="Times New Roman"/>
            </a:endParaRPr>
          </a:p>
          <a:p>
            <a:pPr marL="185420" indent="-173355">
              <a:lnSpc>
                <a:spcPct val="100000"/>
              </a:lnSpc>
              <a:spcBef>
                <a:spcPts val="20"/>
              </a:spcBef>
              <a:buChar char="•"/>
              <a:tabLst>
                <a:tab pos="186055" algn="l"/>
              </a:tabLst>
            </a:pPr>
            <a:r>
              <a:rPr sz="1700" spc="35" dirty="0">
                <a:latin typeface="Times New Roman"/>
                <a:cs typeface="Times New Roman"/>
              </a:rPr>
              <a:t>Decreases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overall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0" dirty="0">
                <a:latin typeface="Times New Roman"/>
                <a:cs typeface="Times New Roman"/>
              </a:rPr>
              <a:t>work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of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Times New Roman"/>
                <a:cs typeface="Times New Roman"/>
              </a:rPr>
              <a:t>breathing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especially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diaphragmatic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fatigue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50975" y="5347716"/>
            <a:ext cx="8183880" cy="1880870"/>
            <a:chOff x="950975" y="5347716"/>
            <a:chExt cx="8183880" cy="188087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0975" y="5347716"/>
              <a:ext cx="1331975" cy="188061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53996" y="5366004"/>
              <a:ext cx="6875145" cy="1446530"/>
            </a:xfrm>
            <a:custGeom>
              <a:avLst/>
              <a:gdLst/>
              <a:ahLst/>
              <a:cxnLst/>
              <a:rect l="l" t="t" r="r" b="b"/>
              <a:pathLst>
                <a:path w="6875145" h="1446529">
                  <a:moveTo>
                    <a:pt x="6633972" y="1446276"/>
                  </a:moveTo>
                  <a:lnTo>
                    <a:pt x="0" y="1446276"/>
                  </a:lnTo>
                  <a:lnTo>
                    <a:pt x="0" y="0"/>
                  </a:lnTo>
                  <a:lnTo>
                    <a:pt x="6633972" y="0"/>
                  </a:lnTo>
                  <a:lnTo>
                    <a:pt x="6682385" y="4911"/>
                  </a:lnTo>
                  <a:lnTo>
                    <a:pt x="6727531" y="19002"/>
                  </a:lnTo>
                  <a:lnTo>
                    <a:pt x="6768426" y="41308"/>
                  </a:lnTo>
                  <a:lnTo>
                    <a:pt x="6804088" y="70866"/>
                  </a:lnTo>
                  <a:lnTo>
                    <a:pt x="6833535" y="106709"/>
                  </a:lnTo>
                  <a:lnTo>
                    <a:pt x="6855785" y="147875"/>
                  </a:lnTo>
                  <a:lnTo>
                    <a:pt x="6869855" y="193399"/>
                  </a:lnTo>
                  <a:lnTo>
                    <a:pt x="6874764" y="242316"/>
                  </a:lnTo>
                  <a:lnTo>
                    <a:pt x="6874764" y="1205484"/>
                  </a:lnTo>
                  <a:lnTo>
                    <a:pt x="6869855" y="1253897"/>
                  </a:lnTo>
                  <a:lnTo>
                    <a:pt x="6855785" y="1299043"/>
                  </a:lnTo>
                  <a:lnTo>
                    <a:pt x="6833535" y="1339938"/>
                  </a:lnTo>
                  <a:lnTo>
                    <a:pt x="6804088" y="1375600"/>
                  </a:lnTo>
                  <a:lnTo>
                    <a:pt x="6768426" y="1405047"/>
                  </a:lnTo>
                  <a:lnTo>
                    <a:pt x="6727531" y="1427297"/>
                  </a:lnTo>
                  <a:lnTo>
                    <a:pt x="6682385" y="1441367"/>
                  </a:lnTo>
                  <a:lnTo>
                    <a:pt x="6633972" y="1446276"/>
                  </a:lnTo>
                  <a:close/>
                </a:path>
              </a:pathLst>
            </a:custGeom>
            <a:solidFill>
              <a:srgbClr val="FFFFFF">
                <a:alpha val="89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46375" y="5359908"/>
              <a:ext cx="6888480" cy="1460500"/>
            </a:xfrm>
            <a:custGeom>
              <a:avLst/>
              <a:gdLst/>
              <a:ahLst/>
              <a:cxnLst/>
              <a:rect l="l" t="t" r="r" b="b"/>
              <a:pathLst>
                <a:path w="6888480" h="1460500">
                  <a:moveTo>
                    <a:pt x="6641592" y="1459992"/>
                  </a:moveTo>
                  <a:lnTo>
                    <a:pt x="3048" y="1459992"/>
                  </a:lnTo>
                  <a:lnTo>
                    <a:pt x="0" y="1456944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6641592" y="0"/>
                  </a:lnTo>
                  <a:lnTo>
                    <a:pt x="6653784" y="1524"/>
                  </a:lnTo>
                  <a:lnTo>
                    <a:pt x="6665976" y="1524"/>
                  </a:lnTo>
                  <a:lnTo>
                    <a:pt x="6678168" y="3048"/>
                  </a:lnTo>
                  <a:lnTo>
                    <a:pt x="6690360" y="6095"/>
                  </a:lnTo>
                  <a:lnTo>
                    <a:pt x="6702552" y="7619"/>
                  </a:lnTo>
                  <a:lnTo>
                    <a:pt x="13716" y="7619"/>
                  </a:lnTo>
                  <a:lnTo>
                    <a:pt x="7619" y="13716"/>
                  </a:lnTo>
                  <a:lnTo>
                    <a:pt x="13716" y="13716"/>
                  </a:lnTo>
                  <a:lnTo>
                    <a:pt x="13716" y="1446276"/>
                  </a:lnTo>
                  <a:lnTo>
                    <a:pt x="7619" y="1446276"/>
                  </a:lnTo>
                  <a:lnTo>
                    <a:pt x="13716" y="1452372"/>
                  </a:lnTo>
                  <a:lnTo>
                    <a:pt x="6697218" y="1452372"/>
                  </a:lnTo>
                  <a:lnTo>
                    <a:pt x="6691884" y="1453896"/>
                  </a:lnTo>
                  <a:lnTo>
                    <a:pt x="6679692" y="1456944"/>
                  </a:lnTo>
                  <a:lnTo>
                    <a:pt x="6665976" y="1458468"/>
                  </a:lnTo>
                  <a:lnTo>
                    <a:pt x="6653784" y="1458468"/>
                  </a:lnTo>
                  <a:lnTo>
                    <a:pt x="6641592" y="1459992"/>
                  </a:lnTo>
                  <a:close/>
                </a:path>
                <a:path w="6888480" h="1460500">
                  <a:moveTo>
                    <a:pt x="13716" y="13716"/>
                  </a:moveTo>
                  <a:lnTo>
                    <a:pt x="7619" y="13716"/>
                  </a:lnTo>
                  <a:lnTo>
                    <a:pt x="13716" y="7619"/>
                  </a:lnTo>
                  <a:lnTo>
                    <a:pt x="13716" y="13716"/>
                  </a:lnTo>
                  <a:close/>
                </a:path>
                <a:path w="6888480" h="1460500">
                  <a:moveTo>
                    <a:pt x="6697218" y="1452372"/>
                  </a:moveTo>
                  <a:lnTo>
                    <a:pt x="13716" y="1452372"/>
                  </a:lnTo>
                  <a:lnTo>
                    <a:pt x="13716" y="1446276"/>
                  </a:lnTo>
                  <a:lnTo>
                    <a:pt x="6653784" y="1446276"/>
                  </a:lnTo>
                  <a:lnTo>
                    <a:pt x="6664452" y="1444752"/>
                  </a:lnTo>
                  <a:lnTo>
                    <a:pt x="6710172" y="1435608"/>
                  </a:lnTo>
                  <a:lnTo>
                    <a:pt x="6752844" y="1418844"/>
                  </a:lnTo>
                  <a:lnTo>
                    <a:pt x="6790944" y="1392936"/>
                  </a:lnTo>
                  <a:lnTo>
                    <a:pt x="6821424" y="1360932"/>
                  </a:lnTo>
                  <a:lnTo>
                    <a:pt x="6847332" y="1324356"/>
                  </a:lnTo>
                  <a:lnTo>
                    <a:pt x="6865620" y="1281684"/>
                  </a:lnTo>
                  <a:lnTo>
                    <a:pt x="6876288" y="1223772"/>
                  </a:lnTo>
                  <a:lnTo>
                    <a:pt x="6876288" y="248412"/>
                  </a:lnTo>
                  <a:lnTo>
                    <a:pt x="6874764" y="236220"/>
                  </a:lnTo>
                  <a:lnTo>
                    <a:pt x="6874764" y="224028"/>
                  </a:lnTo>
                  <a:lnTo>
                    <a:pt x="6865620" y="178308"/>
                  </a:lnTo>
                  <a:lnTo>
                    <a:pt x="6847332" y="135636"/>
                  </a:lnTo>
                  <a:lnTo>
                    <a:pt x="6822948" y="99060"/>
                  </a:lnTo>
                  <a:lnTo>
                    <a:pt x="6790944" y="67055"/>
                  </a:lnTo>
                  <a:lnTo>
                    <a:pt x="6752844" y="41148"/>
                  </a:lnTo>
                  <a:lnTo>
                    <a:pt x="6711696" y="24384"/>
                  </a:lnTo>
                  <a:lnTo>
                    <a:pt x="6699504" y="21336"/>
                  </a:lnTo>
                  <a:lnTo>
                    <a:pt x="6688836" y="18288"/>
                  </a:lnTo>
                  <a:lnTo>
                    <a:pt x="6676644" y="15240"/>
                  </a:lnTo>
                  <a:lnTo>
                    <a:pt x="6665976" y="13716"/>
                  </a:lnTo>
                  <a:lnTo>
                    <a:pt x="13716" y="13716"/>
                  </a:lnTo>
                  <a:lnTo>
                    <a:pt x="13716" y="7619"/>
                  </a:lnTo>
                  <a:lnTo>
                    <a:pt x="6702552" y="7619"/>
                  </a:lnTo>
                  <a:lnTo>
                    <a:pt x="6714744" y="12192"/>
                  </a:lnTo>
                  <a:lnTo>
                    <a:pt x="6737604" y="19812"/>
                  </a:lnTo>
                  <a:lnTo>
                    <a:pt x="6778752" y="42672"/>
                  </a:lnTo>
                  <a:lnTo>
                    <a:pt x="6832092" y="89916"/>
                  </a:lnTo>
                  <a:lnTo>
                    <a:pt x="6858000" y="129540"/>
                  </a:lnTo>
                  <a:lnTo>
                    <a:pt x="6877812" y="173736"/>
                  </a:lnTo>
                  <a:lnTo>
                    <a:pt x="6888480" y="234696"/>
                  </a:lnTo>
                  <a:lnTo>
                    <a:pt x="6888480" y="1223772"/>
                  </a:lnTo>
                  <a:lnTo>
                    <a:pt x="6883908" y="1261872"/>
                  </a:lnTo>
                  <a:lnTo>
                    <a:pt x="6868668" y="1307592"/>
                  </a:lnTo>
                  <a:lnTo>
                    <a:pt x="6845808" y="1350264"/>
                  </a:lnTo>
                  <a:lnTo>
                    <a:pt x="6816852" y="1386840"/>
                  </a:lnTo>
                  <a:lnTo>
                    <a:pt x="6780276" y="1417320"/>
                  </a:lnTo>
                  <a:lnTo>
                    <a:pt x="6737604" y="1440180"/>
                  </a:lnTo>
                  <a:lnTo>
                    <a:pt x="6702552" y="1450848"/>
                  </a:lnTo>
                  <a:lnTo>
                    <a:pt x="6697218" y="1452372"/>
                  </a:lnTo>
                  <a:close/>
                </a:path>
                <a:path w="6888480" h="1460500">
                  <a:moveTo>
                    <a:pt x="13716" y="1452372"/>
                  </a:moveTo>
                  <a:lnTo>
                    <a:pt x="7619" y="1446276"/>
                  </a:lnTo>
                  <a:lnTo>
                    <a:pt x="13716" y="1446276"/>
                  </a:lnTo>
                  <a:lnTo>
                    <a:pt x="13716" y="1452372"/>
                  </a:lnTo>
                  <a:close/>
                </a:path>
              </a:pathLst>
            </a:custGeom>
            <a:solidFill>
              <a:srgbClr val="542F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369287" y="5517888"/>
            <a:ext cx="6593840" cy="10928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84785" marR="5080" indent="-172720">
              <a:lnSpc>
                <a:spcPts val="1870"/>
              </a:lnSpc>
              <a:spcBef>
                <a:spcPts val="400"/>
              </a:spcBef>
              <a:buChar char="•"/>
              <a:tabLst>
                <a:tab pos="184150" algn="l"/>
              </a:tabLst>
            </a:pPr>
            <a:r>
              <a:rPr sz="1800" spc="35" dirty="0">
                <a:latin typeface="Times New Roman"/>
                <a:cs typeface="Times New Roman"/>
              </a:rPr>
              <a:t>Preset </a:t>
            </a:r>
            <a:r>
              <a:rPr sz="1800" spc="55" dirty="0">
                <a:latin typeface="Times New Roman"/>
                <a:cs typeface="Times New Roman"/>
              </a:rPr>
              <a:t>Minute </a:t>
            </a:r>
            <a:r>
              <a:rPr sz="1800" spc="35" dirty="0">
                <a:latin typeface="Times New Roman"/>
                <a:cs typeface="Times New Roman"/>
              </a:rPr>
              <a:t>volume </a:t>
            </a:r>
            <a:r>
              <a:rPr sz="1800" spc="5" dirty="0">
                <a:latin typeface="Times New Roman"/>
                <a:cs typeface="Times New Roman"/>
              </a:rPr>
              <a:t>of </a:t>
            </a:r>
            <a:r>
              <a:rPr sz="1800" spc="15" dirty="0">
                <a:latin typeface="Times New Roman"/>
                <a:cs typeface="Times New Roman"/>
              </a:rPr>
              <a:t>gas </a:t>
            </a:r>
            <a:r>
              <a:rPr sz="1800" spc="35" dirty="0">
                <a:latin typeface="Times New Roman"/>
                <a:cs typeface="Times New Roman"/>
              </a:rPr>
              <a:t>either from </a:t>
            </a:r>
            <a:r>
              <a:rPr sz="1800" spc="80" dirty="0">
                <a:latin typeface="Times New Roman"/>
                <a:cs typeface="Times New Roman"/>
              </a:rPr>
              <a:t>a </a:t>
            </a:r>
            <a:r>
              <a:rPr sz="1800" spc="10" dirty="0">
                <a:latin typeface="Times New Roman"/>
                <a:cs typeface="Times New Roman"/>
              </a:rPr>
              <a:t>positive </a:t>
            </a:r>
            <a:r>
              <a:rPr sz="1800" spc="30" dirty="0">
                <a:latin typeface="Times New Roman"/>
                <a:cs typeface="Times New Roman"/>
              </a:rPr>
              <a:t>pressure </a:t>
            </a:r>
            <a:r>
              <a:rPr sz="1800" spc="45" dirty="0">
                <a:latin typeface="Times New Roman"/>
                <a:cs typeface="Times New Roman"/>
              </a:rPr>
              <a:t>breath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Times New Roman"/>
                <a:cs typeface="Times New Roman"/>
              </a:rPr>
              <a:t>or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spontaneous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45" dirty="0">
                <a:latin typeface="Times New Roman"/>
                <a:cs typeface="Times New Roman"/>
              </a:rPr>
              <a:t>breath</a:t>
            </a:r>
            <a:endParaRPr sz="1800">
              <a:latin typeface="Times New Roman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15"/>
              </a:spcBef>
              <a:buChar char="•"/>
              <a:tabLst>
                <a:tab pos="184150" algn="l"/>
              </a:tabLst>
            </a:pPr>
            <a:r>
              <a:rPr sz="1800" spc="35" dirty="0">
                <a:latin typeface="Times New Roman"/>
                <a:cs typeface="Times New Roman"/>
              </a:rPr>
              <a:t>Preset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45" dirty="0">
                <a:latin typeface="Times New Roman"/>
                <a:cs typeface="Times New Roman"/>
              </a:rPr>
              <a:t>mechanical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40" dirty="0">
                <a:latin typeface="Times New Roman"/>
                <a:cs typeface="Times New Roman"/>
              </a:rPr>
              <a:t>rate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and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Times New Roman"/>
                <a:cs typeface="Times New Roman"/>
              </a:rPr>
              <a:t>volume</a:t>
            </a:r>
            <a:endParaRPr sz="1800">
              <a:latin typeface="Times New Roman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25"/>
              </a:spcBef>
              <a:buChar char="•"/>
              <a:tabLst>
                <a:tab pos="184150" algn="l"/>
              </a:tabLst>
            </a:pPr>
            <a:r>
              <a:rPr sz="1800" spc="6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Times New Roman"/>
                <a:cs typeface="Times New Roman"/>
              </a:rPr>
              <a:t>goal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have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40" dirty="0">
                <a:latin typeface="Times New Roman"/>
                <a:cs typeface="Times New Roman"/>
              </a:rPr>
              <a:t>patients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Times New Roman"/>
                <a:cs typeface="Times New Roman"/>
              </a:rPr>
              <a:t>use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60" dirty="0">
                <a:latin typeface="Times New Roman"/>
                <a:cs typeface="Times New Roman"/>
              </a:rPr>
              <a:t>more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Times New Roman"/>
                <a:cs typeface="Times New Roman"/>
              </a:rPr>
              <a:t>their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Times New Roman"/>
                <a:cs typeface="Times New Roman"/>
              </a:rPr>
              <a:t>respiratory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Times New Roman"/>
                <a:cs typeface="Times New Roman"/>
              </a:rPr>
              <a:t>muscles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7387" y="861984"/>
            <a:ext cx="6706234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25" dirty="0"/>
              <a:t>Adjunct</a:t>
            </a:r>
            <a:r>
              <a:rPr spc="20" dirty="0"/>
              <a:t> </a:t>
            </a:r>
            <a:r>
              <a:rPr spc="55" dirty="0"/>
              <a:t>Ventilator</a:t>
            </a:r>
            <a:r>
              <a:rPr spc="10" dirty="0"/>
              <a:t> </a:t>
            </a:r>
            <a:r>
              <a:rPr spc="50" dirty="0"/>
              <a:t>Settings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5863" y="2446594"/>
            <a:ext cx="7397115" cy="4616648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  <a:tabLst>
                <a:tab pos="354965" algn="l"/>
              </a:tabLst>
            </a:pPr>
            <a:r>
              <a:rPr sz="2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I:E</a:t>
            </a:r>
            <a:endParaRPr sz="2200" dirty="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605"/>
              </a:spcBef>
              <a:tabLst>
                <a:tab pos="697865" algn="l"/>
              </a:tabLst>
            </a:pP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Ratio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000" spc="1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Inspiration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Expiration</a:t>
            </a:r>
            <a:endParaRPr lang="en-US" sz="2000" dirty="0">
              <a:latin typeface="Times New Roman"/>
              <a:cs typeface="Times New Roman"/>
            </a:endParaRPr>
          </a:p>
          <a:p>
            <a:pPr marL="647065" indent="-285750">
              <a:lnSpc>
                <a:spcPct val="100000"/>
              </a:lnSpc>
              <a:spcBef>
                <a:spcPts val="605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1800" spc="55" dirty="0">
                <a:solidFill>
                  <a:srgbClr val="595959"/>
                </a:solidFill>
                <a:latin typeface="Times New Roman"/>
                <a:cs typeface="Times New Roman"/>
              </a:rPr>
              <a:t>Time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40" dirty="0">
                <a:solidFill>
                  <a:srgbClr val="595959"/>
                </a:solidFill>
                <a:latin typeface="Times New Roman"/>
                <a:cs typeface="Times New Roman"/>
              </a:rPr>
              <a:t>Inspired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20" dirty="0">
                <a:solidFill>
                  <a:srgbClr val="595959"/>
                </a:solidFill>
                <a:latin typeface="Times New Roman"/>
                <a:cs typeface="Times New Roman"/>
              </a:rPr>
              <a:t>(PCV)</a:t>
            </a:r>
            <a:endParaRPr sz="1800" dirty="0">
              <a:latin typeface="Times New Roman"/>
              <a:cs typeface="Times New Roman"/>
            </a:endParaRPr>
          </a:p>
          <a:p>
            <a:pPr marL="704215" indent="-342900">
              <a:lnSpc>
                <a:spcPct val="100000"/>
              </a:lnSpc>
              <a:spcBef>
                <a:spcPts val="605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lang="en-US" sz="2000" spc="114" dirty="0">
                <a:solidFill>
                  <a:srgbClr val="595959"/>
                </a:solidFill>
                <a:latin typeface="Times New Roman"/>
                <a:cs typeface="Times New Roman"/>
              </a:rPr>
              <a:t>Positive airway pressure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70" dirty="0">
                <a:solidFill>
                  <a:srgbClr val="595959"/>
                </a:solidFill>
                <a:latin typeface="Times New Roman"/>
                <a:cs typeface="Times New Roman"/>
              </a:rPr>
              <a:t>when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using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I:E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increase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	  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inspiratory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time</a:t>
            </a:r>
            <a:endParaRPr sz="2000" dirty="0">
              <a:latin typeface="Times New Roman"/>
              <a:cs typeface="Times New Roman"/>
            </a:endParaRPr>
          </a:p>
          <a:p>
            <a:pPr marL="703580" marR="186690" indent="-342900">
              <a:lnSpc>
                <a:spcPts val="2390"/>
              </a:lnSpc>
              <a:spcBef>
                <a:spcPts val="685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lang="en-US"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xpiratory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time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allow </a:t>
            </a:r>
            <a:r>
              <a:rPr sz="2000" spc="60" dirty="0">
                <a:solidFill>
                  <a:srgbClr val="595959"/>
                </a:solidFill>
                <a:latin typeface="Times New Roman"/>
                <a:cs typeface="Times New Roman"/>
              </a:rPr>
              <a:t>adequate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85" dirty="0">
                <a:solidFill>
                  <a:srgbClr val="595959"/>
                </a:solidFill>
                <a:latin typeface="Times New Roman"/>
                <a:cs typeface="Times New Roman"/>
              </a:rPr>
              <a:t>CO2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removal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COPD </a:t>
            </a:r>
            <a:r>
              <a:rPr sz="2000" spc="-4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patient</a:t>
            </a:r>
            <a:endParaRPr sz="2000" dirty="0">
              <a:latin typeface="Times New Roman"/>
              <a:cs typeface="Times New Roman"/>
            </a:endParaRPr>
          </a:p>
          <a:p>
            <a:pPr marL="704215" indent="-342900">
              <a:lnSpc>
                <a:spcPct val="100000"/>
              </a:lnSpc>
              <a:spcBef>
                <a:spcPts val="520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Inverse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Ratio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Ventilation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95"/>
              </a:spcBef>
              <a:tabLst>
                <a:tab pos="354965" algn="l"/>
              </a:tabLst>
            </a:pPr>
            <a:r>
              <a:rPr sz="2200" b="1" spc="10" dirty="0">
                <a:solidFill>
                  <a:srgbClr val="0000FF"/>
                </a:solidFill>
                <a:latin typeface="Times New Roman"/>
                <a:cs typeface="Times New Roman"/>
              </a:rPr>
              <a:t>PEEP</a:t>
            </a:r>
            <a:endParaRPr sz="2200" dirty="0">
              <a:latin typeface="Times New Roman"/>
              <a:cs typeface="Times New Roman"/>
            </a:endParaRPr>
          </a:p>
          <a:p>
            <a:pPr marL="703580" marR="5080" indent="-342900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Positive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595959"/>
                </a:solidFill>
                <a:latin typeface="Times New Roman"/>
                <a:cs typeface="Times New Roman"/>
              </a:rPr>
              <a:t>Pressure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designed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keep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alveoli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open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throughout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the </a:t>
            </a:r>
            <a:r>
              <a:rPr sz="2000" spc="-4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respiratory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cycle.</a:t>
            </a:r>
            <a:endParaRPr sz="2000" dirty="0">
              <a:latin typeface="Times New Roman"/>
              <a:cs typeface="Times New Roman"/>
            </a:endParaRPr>
          </a:p>
          <a:p>
            <a:pPr marL="704215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2000" spc="40" dirty="0">
                <a:solidFill>
                  <a:srgbClr val="595959"/>
                </a:solidFill>
                <a:latin typeface="Times New Roman"/>
                <a:cs typeface="Times New Roman"/>
              </a:rPr>
              <a:t>Intrinsic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vs.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Extrinsic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0737" y="893997"/>
            <a:ext cx="6918325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4000" b="1" spc="15" dirty="0">
                <a:solidFill>
                  <a:srgbClr val="C1F944"/>
                </a:solidFill>
                <a:latin typeface="Times New Roman"/>
                <a:cs typeface="Times New Roman"/>
              </a:rPr>
              <a:t>Volume</a:t>
            </a:r>
            <a:r>
              <a:rPr sz="4000" b="1" spc="25" dirty="0">
                <a:solidFill>
                  <a:srgbClr val="C1F944"/>
                </a:solidFill>
                <a:latin typeface="Times New Roman"/>
                <a:cs typeface="Times New Roman"/>
              </a:rPr>
              <a:t> </a:t>
            </a:r>
            <a:r>
              <a:rPr sz="4000" b="1" spc="55" dirty="0">
                <a:solidFill>
                  <a:srgbClr val="C1F944"/>
                </a:solidFill>
                <a:latin typeface="Times New Roman"/>
                <a:cs typeface="Times New Roman"/>
              </a:rPr>
              <a:t>Controlled</a:t>
            </a:r>
            <a:r>
              <a:rPr sz="4000" b="1" spc="60" dirty="0">
                <a:solidFill>
                  <a:srgbClr val="C1F944"/>
                </a:solidFill>
                <a:latin typeface="Times New Roman"/>
                <a:cs typeface="Times New Roman"/>
              </a:rPr>
              <a:t> </a:t>
            </a:r>
            <a:r>
              <a:rPr sz="4000" b="1" spc="45" dirty="0">
                <a:solidFill>
                  <a:srgbClr val="C1F944"/>
                </a:solidFill>
                <a:latin typeface="Times New Roman"/>
                <a:cs typeface="Times New Roman"/>
              </a:rPr>
              <a:t>Ventilation</a:t>
            </a:r>
            <a:br>
              <a:rPr lang="en-US" sz="4000" b="1" spc="45" dirty="0">
                <a:solidFill>
                  <a:srgbClr val="C1F944"/>
                </a:solidFill>
                <a:latin typeface="Times New Roman"/>
                <a:cs typeface="Times New Roman"/>
              </a:rPr>
            </a:br>
            <a:r>
              <a:rPr lang="en-US" sz="4000" b="1" spc="45" dirty="0">
                <a:solidFill>
                  <a:srgbClr val="C1F944"/>
                </a:solidFill>
                <a:latin typeface="Times New Roman"/>
                <a:cs typeface="Times New Roman"/>
              </a:rPr>
              <a:t>VCV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3219714"/>
            <a:ext cx="8915400" cy="310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Preset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Tidal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Volume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6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Preset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Respiratory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Rate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64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Patient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unable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generate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70" dirty="0">
                <a:solidFill>
                  <a:srgbClr val="595959"/>
                </a:solidFill>
                <a:latin typeface="Times New Roman"/>
                <a:cs typeface="Times New Roman"/>
              </a:rPr>
              <a:t>any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respiratory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effort</a:t>
            </a:r>
            <a:endParaRPr sz="2000" dirty="0">
              <a:latin typeface="Times New Roman"/>
              <a:cs typeface="Times New Roman"/>
            </a:endParaRPr>
          </a:p>
          <a:p>
            <a:pPr marL="647065" indent="-285750">
              <a:lnSpc>
                <a:spcPct val="100000"/>
              </a:lnSpc>
              <a:spcBef>
                <a:spcPts val="409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1700" spc="20" dirty="0">
                <a:solidFill>
                  <a:srgbClr val="595959"/>
                </a:solidFill>
                <a:latin typeface="Times New Roman"/>
                <a:cs typeface="Times New Roman"/>
              </a:rPr>
              <a:t>Paralysis</a:t>
            </a:r>
            <a:endParaRPr sz="1700" dirty="0">
              <a:latin typeface="Times New Roman"/>
              <a:cs typeface="Times New Roman"/>
            </a:endParaRPr>
          </a:p>
          <a:p>
            <a:pPr marL="647065" indent="-285750">
              <a:lnSpc>
                <a:spcPct val="100000"/>
              </a:lnSpc>
              <a:spcBef>
                <a:spcPts val="395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1700" spc="15" dirty="0">
                <a:solidFill>
                  <a:srgbClr val="595959"/>
                </a:solidFill>
                <a:latin typeface="Times New Roman"/>
                <a:cs typeface="Times New Roman"/>
              </a:rPr>
              <a:t>Pre-existing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30" dirty="0">
                <a:solidFill>
                  <a:srgbClr val="595959"/>
                </a:solidFill>
                <a:latin typeface="Times New Roman"/>
                <a:cs typeface="Times New Roman"/>
              </a:rPr>
              <a:t>Physical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50" dirty="0">
                <a:solidFill>
                  <a:srgbClr val="595959"/>
                </a:solidFill>
                <a:latin typeface="Times New Roman"/>
                <a:cs typeface="Times New Roman"/>
              </a:rPr>
              <a:t>condition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spc="40" dirty="0">
                <a:solidFill>
                  <a:srgbClr val="595959"/>
                </a:solidFill>
                <a:latin typeface="Times New Roman"/>
                <a:cs typeface="Times New Roman"/>
              </a:rPr>
              <a:t>Highest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95" dirty="0">
                <a:solidFill>
                  <a:srgbClr val="595959"/>
                </a:solidFill>
                <a:latin typeface="Times New Roman"/>
                <a:cs typeface="Times New Roman"/>
              </a:rPr>
              <a:t>Mean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595959"/>
                </a:solidFill>
                <a:latin typeface="Times New Roman"/>
                <a:cs typeface="Times New Roman"/>
              </a:rPr>
              <a:t>Airway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595959"/>
                </a:solidFill>
                <a:latin typeface="Times New Roman"/>
                <a:cs typeface="Times New Roman"/>
              </a:rPr>
              <a:t>Pressure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000" spc="2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different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Ventilator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modes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6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Ideal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the healthy 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patient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without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compliance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7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resistance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issue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2540" y="836048"/>
            <a:ext cx="8466259" cy="1427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90" dirty="0">
                <a:solidFill>
                  <a:srgbClr val="92D050"/>
                </a:solidFill>
              </a:rPr>
              <a:t>Pressure</a:t>
            </a:r>
            <a:r>
              <a:rPr b="1" spc="50" dirty="0">
                <a:solidFill>
                  <a:srgbClr val="92D050"/>
                </a:solidFill>
              </a:rPr>
              <a:t> </a:t>
            </a:r>
            <a:r>
              <a:rPr b="1" spc="125" dirty="0">
                <a:solidFill>
                  <a:srgbClr val="92D050"/>
                </a:solidFill>
              </a:rPr>
              <a:t>Controlled</a:t>
            </a:r>
            <a:r>
              <a:rPr b="1" spc="-15" dirty="0">
                <a:solidFill>
                  <a:srgbClr val="92D050"/>
                </a:solidFill>
              </a:rPr>
              <a:t> </a:t>
            </a:r>
            <a:r>
              <a:rPr b="1" spc="60" dirty="0">
                <a:solidFill>
                  <a:srgbClr val="92D050"/>
                </a:solidFill>
              </a:rPr>
              <a:t>Ventilation</a:t>
            </a:r>
            <a:br>
              <a:rPr lang="en-US" b="1" spc="60" dirty="0">
                <a:solidFill>
                  <a:srgbClr val="92D050"/>
                </a:solidFill>
              </a:rPr>
            </a:br>
            <a:r>
              <a:rPr lang="en-US" b="1" spc="60" dirty="0">
                <a:solidFill>
                  <a:srgbClr val="92D050"/>
                </a:solidFill>
              </a:rPr>
              <a:t>PCV</a:t>
            </a:r>
            <a:endParaRPr b="1" spc="60" dirty="0">
              <a:solidFill>
                <a:srgbClr val="92D05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400" y="2920384"/>
            <a:ext cx="9753600" cy="39376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Volume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is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determined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preset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pressure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6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000" spc="60" dirty="0">
                <a:solidFill>
                  <a:srgbClr val="595959"/>
                </a:solidFill>
                <a:latin typeface="Times New Roman"/>
                <a:cs typeface="Times New Roman"/>
              </a:rPr>
              <a:t>Time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Triggered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ventilatory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cycle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64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Ability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delivered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IMV</a:t>
            </a:r>
            <a:r>
              <a:rPr lang="en-US"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(intermittent mandatory)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ACV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(assist control)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modes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5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000" spc="80" dirty="0">
                <a:solidFill>
                  <a:srgbClr val="595959"/>
                </a:solidFill>
                <a:latin typeface="Times New Roman"/>
                <a:cs typeface="Times New Roman"/>
              </a:rPr>
              <a:t>Has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9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595959"/>
                </a:solidFill>
                <a:latin typeface="Times New Roman"/>
                <a:cs typeface="Times New Roman"/>
              </a:rPr>
              <a:t>Decelerating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Flow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Pattern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0" dirty="0">
                <a:solidFill>
                  <a:srgbClr val="595959"/>
                </a:solidFill>
                <a:latin typeface="Times New Roman"/>
                <a:cs typeface="Times New Roman"/>
              </a:rPr>
              <a:t>which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improves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distribution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000" spc="2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gases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6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Ideal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patient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with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decreased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compliance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70" dirty="0">
                <a:solidFill>
                  <a:srgbClr val="595959"/>
                </a:solidFill>
                <a:latin typeface="Times New Roman"/>
                <a:cs typeface="Times New Roman"/>
              </a:rPr>
              <a:t>due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endParaRPr sz="2000" dirty="0">
              <a:latin typeface="Times New Roman"/>
              <a:cs typeface="Times New Roman"/>
            </a:endParaRPr>
          </a:p>
          <a:p>
            <a:pPr marL="647065" indent="-285750">
              <a:lnSpc>
                <a:spcPct val="100000"/>
              </a:lnSpc>
              <a:spcBef>
                <a:spcPts val="409"/>
              </a:spcBef>
              <a:buFont typeface="Arial" panose="020B0604020202020204" pitchFamily="34" charset="0"/>
              <a:buChar char="•"/>
              <a:tabLst>
                <a:tab pos="698500" algn="l"/>
              </a:tabLst>
            </a:pPr>
            <a:r>
              <a:rPr sz="1700" spc="25" dirty="0">
                <a:solidFill>
                  <a:srgbClr val="595959"/>
                </a:solidFill>
                <a:latin typeface="Times New Roman"/>
                <a:cs typeface="Times New Roman"/>
              </a:rPr>
              <a:t>Body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habitus</a:t>
            </a:r>
            <a:endParaRPr sz="1700" dirty="0">
              <a:latin typeface="Times New Roman"/>
              <a:cs typeface="Times New Roman"/>
            </a:endParaRPr>
          </a:p>
          <a:p>
            <a:pPr marL="647065" indent="-285750">
              <a:lnSpc>
                <a:spcPct val="100000"/>
              </a:lnSpc>
              <a:spcBef>
                <a:spcPts val="395"/>
              </a:spcBef>
              <a:buFont typeface="Arial" panose="020B0604020202020204" pitchFamily="34" charset="0"/>
              <a:buChar char="•"/>
              <a:tabLst>
                <a:tab pos="698500" algn="l"/>
              </a:tabLst>
            </a:pPr>
            <a:r>
              <a:rPr sz="1700" spc="65" dirty="0">
                <a:solidFill>
                  <a:srgbClr val="595959"/>
                </a:solidFill>
                <a:latin typeface="Times New Roman"/>
                <a:cs typeface="Times New Roman"/>
              </a:rPr>
              <a:t>Pt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position</a:t>
            </a:r>
            <a:endParaRPr sz="1700" dirty="0">
              <a:latin typeface="Times New Roman"/>
              <a:cs typeface="Times New Roman"/>
            </a:endParaRPr>
          </a:p>
          <a:p>
            <a:pPr marL="647065" indent="-285750">
              <a:lnSpc>
                <a:spcPct val="100000"/>
              </a:lnSpc>
              <a:spcBef>
                <a:spcPts val="395"/>
              </a:spcBef>
              <a:buFont typeface="Arial" panose="020B0604020202020204" pitchFamily="34" charset="0"/>
              <a:buChar char="•"/>
              <a:tabLst>
                <a:tab pos="698500" algn="l"/>
              </a:tabLst>
            </a:pPr>
            <a:r>
              <a:rPr sz="1700" spc="20" dirty="0">
                <a:solidFill>
                  <a:srgbClr val="595959"/>
                </a:solidFill>
                <a:latin typeface="Times New Roman"/>
                <a:cs typeface="Times New Roman"/>
              </a:rPr>
              <a:t>Surgical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45" dirty="0">
                <a:solidFill>
                  <a:srgbClr val="595959"/>
                </a:solidFill>
                <a:latin typeface="Times New Roman"/>
                <a:cs typeface="Times New Roman"/>
              </a:rPr>
              <a:t>Case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65" dirty="0">
                <a:solidFill>
                  <a:srgbClr val="FF0000"/>
                </a:solidFill>
                <a:latin typeface="Times New Roman"/>
                <a:cs typeface="Times New Roman"/>
              </a:rPr>
              <a:t>Must</a:t>
            </a:r>
            <a:r>
              <a:rPr sz="19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FF0000"/>
                </a:solidFill>
                <a:latin typeface="Times New Roman"/>
                <a:cs typeface="Times New Roman"/>
              </a:rPr>
              <a:t>set</a:t>
            </a:r>
            <a:r>
              <a:rPr sz="19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900" spc="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1900" spc="75" dirty="0">
                <a:solidFill>
                  <a:srgbClr val="FF0000"/>
                </a:solidFill>
                <a:latin typeface="Times New Roman"/>
                <a:cs typeface="Times New Roman"/>
              </a:rPr>
              <a:t>Maximum</a:t>
            </a:r>
            <a:r>
              <a:rPr sz="19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45" dirty="0">
                <a:solidFill>
                  <a:srgbClr val="FF0000"/>
                </a:solidFill>
                <a:latin typeface="Times New Roman"/>
                <a:cs typeface="Times New Roman"/>
              </a:rPr>
              <a:t>Tidal</a:t>
            </a:r>
            <a:r>
              <a:rPr sz="19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FF0000"/>
                </a:solidFill>
                <a:latin typeface="Times New Roman"/>
                <a:cs typeface="Times New Roman"/>
              </a:rPr>
              <a:t>Volume,</a:t>
            </a:r>
            <a:r>
              <a:rPr sz="19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FF0000"/>
                </a:solidFill>
                <a:latin typeface="Times New Roman"/>
                <a:cs typeface="Times New Roman"/>
              </a:rPr>
              <a:t>especially</a:t>
            </a:r>
            <a:r>
              <a:rPr sz="19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900" spc="30" dirty="0">
                <a:solidFill>
                  <a:srgbClr val="FF0000"/>
                </a:solidFill>
                <a:latin typeface="Times New Roman"/>
                <a:cs typeface="Times New Roman"/>
              </a:rPr>
              <a:t>during </a:t>
            </a:r>
            <a:r>
              <a:rPr sz="1900" spc="35" dirty="0">
                <a:solidFill>
                  <a:srgbClr val="FF0000"/>
                </a:solidFill>
                <a:latin typeface="Times New Roman"/>
                <a:cs typeface="Times New Roman"/>
              </a:rPr>
              <a:t>laparoscopic</a:t>
            </a:r>
            <a:r>
              <a:rPr sz="19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cases</a:t>
            </a:r>
            <a:endParaRPr sz="1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7200"/>
            <a:ext cx="9143999" cy="257953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2400" y="2829333"/>
            <a:ext cx="9829799" cy="3782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2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Pressure</a:t>
            </a:r>
            <a:r>
              <a:rPr sz="2800" b="1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2800" b="1" spc="40" dirty="0">
                <a:solidFill>
                  <a:srgbClr val="FF6600"/>
                </a:solidFill>
                <a:latin typeface="Times New Roman"/>
                <a:cs typeface="Times New Roman"/>
              </a:rPr>
              <a:t>Control</a:t>
            </a:r>
            <a:r>
              <a:rPr sz="2800" b="1" spc="5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lang="en-US" sz="2800" b="1" spc="55" dirty="0">
                <a:solidFill>
                  <a:srgbClr val="FF6600"/>
                </a:solidFill>
                <a:latin typeface="Times New Roman"/>
                <a:cs typeface="Times New Roman"/>
              </a:rPr>
              <a:t>Ventilation </a:t>
            </a:r>
            <a:r>
              <a:rPr sz="2800" b="1" spc="95" dirty="0">
                <a:solidFill>
                  <a:srgbClr val="FF6600"/>
                </a:solidFill>
                <a:latin typeface="Times New Roman"/>
                <a:cs typeface="Times New Roman"/>
              </a:rPr>
              <a:t>with</a:t>
            </a:r>
            <a:r>
              <a:rPr sz="2800" b="1" spc="2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2800" b="1" spc="10" dirty="0">
                <a:solidFill>
                  <a:srgbClr val="FF6600"/>
                </a:solidFill>
                <a:latin typeface="Times New Roman"/>
                <a:cs typeface="Times New Roman"/>
              </a:rPr>
              <a:t>Volume</a:t>
            </a:r>
            <a:r>
              <a:rPr sz="2800" b="1" spc="3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2800" b="1" spc="15" dirty="0">
                <a:solidFill>
                  <a:srgbClr val="FF6600"/>
                </a:solidFill>
                <a:latin typeface="Times New Roman"/>
                <a:cs typeface="Times New Roman"/>
              </a:rPr>
              <a:t>Guarantee</a:t>
            </a:r>
            <a:r>
              <a:rPr sz="2800" b="1" spc="5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(PCV- </a:t>
            </a:r>
            <a:r>
              <a:rPr sz="2800" b="1" spc="-68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2800" b="1" spc="30" dirty="0">
                <a:solidFill>
                  <a:srgbClr val="FF6600"/>
                </a:solidFill>
                <a:latin typeface="Times New Roman"/>
                <a:cs typeface="Times New Roman"/>
              </a:rPr>
              <a:t>VG)</a:t>
            </a:r>
            <a:endParaRPr sz="2800" dirty="0">
              <a:latin typeface="Times New Roman"/>
              <a:cs typeface="Times New Roman"/>
            </a:endParaRPr>
          </a:p>
          <a:p>
            <a:pPr marL="704215" indent="-342900">
              <a:lnSpc>
                <a:spcPct val="100000"/>
              </a:lnSpc>
              <a:spcBef>
                <a:spcPts val="605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2400" spc="25" dirty="0">
                <a:solidFill>
                  <a:srgbClr val="595959"/>
                </a:solidFill>
                <a:latin typeface="Times New Roman"/>
                <a:cs typeface="Times New Roman"/>
              </a:rPr>
              <a:t>Volume</a:t>
            </a:r>
            <a:r>
              <a:rPr sz="24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105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45" dirty="0">
                <a:solidFill>
                  <a:srgbClr val="595959"/>
                </a:solidFill>
                <a:latin typeface="Times New Roman"/>
                <a:cs typeface="Times New Roman"/>
              </a:rPr>
              <a:t>Pressure</a:t>
            </a: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35" dirty="0">
                <a:solidFill>
                  <a:srgbClr val="595959"/>
                </a:solidFill>
                <a:latin typeface="Times New Roman"/>
                <a:cs typeface="Times New Roman"/>
              </a:rPr>
              <a:t>preset</a:t>
            </a:r>
            <a:endParaRPr sz="2400" dirty="0">
              <a:latin typeface="Times New Roman"/>
              <a:cs typeface="Times New Roman"/>
            </a:endParaRPr>
          </a:p>
          <a:p>
            <a:pPr marL="1040765" indent="-342900">
              <a:lnSpc>
                <a:spcPct val="100000"/>
              </a:lnSpc>
              <a:spcBef>
                <a:spcPts val="605"/>
              </a:spcBef>
              <a:buFont typeface="Arial" panose="020B0604020202020204" pitchFamily="34" charset="0"/>
              <a:buChar char="•"/>
              <a:tabLst>
                <a:tab pos="1047115" algn="l"/>
              </a:tabLst>
            </a:pP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Preset</a:t>
            </a:r>
            <a:r>
              <a:rPr sz="22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Volume</a:t>
            </a:r>
            <a:r>
              <a:rPr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with</a:t>
            </a:r>
            <a:r>
              <a:rPr lang="en-US"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10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lang="en-US"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100" dirty="0">
                <a:solidFill>
                  <a:srgbClr val="595959"/>
                </a:solidFill>
                <a:latin typeface="Times New Roman"/>
                <a:cs typeface="Times New Roman"/>
              </a:rPr>
              <a:t>Max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PAP!</a:t>
            </a:r>
            <a:endParaRPr sz="2200" dirty="0">
              <a:latin typeface="Times New Roman"/>
              <a:cs typeface="Times New Roman"/>
            </a:endParaRPr>
          </a:p>
          <a:p>
            <a:pPr marL="703580" marR="178435" indent="-342900">
              <a:lnSpc>
                <a:spcPct val="100000"/>
              </a:lnSpc>
              <a:spcBef>
                <a:spcPts val="595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2400" spc="25" dirty="0">
                <a:solidFill>
                  <a:srgbClr val="595959"/>
                </a:solidFill>
                <a:latin typeface="Times New Roman"/>
                <a:cs typeface="Times New Roman"/>
              </a:rPr>
              <a:t>Ventilator</a:t>
            </a:r>
            <a:r>
              <a:rPr sz="24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40" dirty="0">
                <a:solidFill>
                  <a:srgbClr val="595959"/>
                </a:solidFill>
                <a:latin typeface="Times New Roman"/>
                <a:cs typeface="Times New Roman"/>
              </a:rPr>
              <a:t>adjusts</a:t>
            </a:r>
            <a:r>
              <a:rPr sz="24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lang="en-US" sz="2400" spc="65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24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6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25" dirty="0">
                <a:solidFill>
                  <a:srgbClr val="595959"/>
                </a:solidFill>
                <a:latin typeface="Times New Roman"/>
                <a:cs typeface="Times New Roman"/>
              </a:rPr>
              <a:t>achieve </a:t>
            </a:r>
            <a:r>
              <a:rPr sz="2400" spc="35" dirty="0">
                <a:solidFill>
                  <a:srgbClr val="595959"/>
                </a:solidFill>
                <a:latin typeface="Times New Roman"/>
                <a:cs typeface="Times New Roman"/>
              </a:rPr>
              <a:t>preset</a:t>
            </a: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30" dirty="0">
                <a:solidFill>
                  <a:srgbClr val="595959"/>
                </a:solidFill>
                <a:latin typeface="Times New Roman"/>
                <a:cs typeface="Times New Roman"/>
              </a:rPr>
              <a:t>TV</a:t>
            </a: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60" dirty="0">
                <a:solidFill>
                  <a:srgbClr val="595959"/>
                </a:solidFill>
                <a:latin typeface="Times New Roman"/>
                <a:cs typeface="Times New Roman"/>
              </a:rPr>
              <a:t>breath</a:t>
            </a:r>
            <a:r>
              <a:rPr sz="2400" spc="20" dirty="0">
                <a:solidFill>
                  <a:srgbClr val="595959"/>
                </a:solidFill>
                <a:latin typeface="Times New Roman"/>
                <a:cs typeface="Times New Roman"/>
              </a:rPr>
              <a:t> by </a:t>
            </a:r>
            <a:r>
              <a:rPr sz="2400" spc="-5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595959"/>
                </a:solidFill>
                <a:latin typeface="Times New Roman"/>
                <a:cs typeface="Times New Roman"/>
              </a:rPr>
              <a:t>breath</a:t>
            </a:r>
            <a:endParaRPr sz="2400" dirty="0">
              <a:latin typeface="Times New Roman"/>
              <a:cs typeface="Times New Roman"/>
            </a:endParaRPr>
          </a:p>
          <a:p>
            <a:pPr marL="704215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2400" spc="20" dirty="0">
                <a:solidFill>
                  <a:srgbClr val="595959"/>
                </a:solidFill>
                <a:latin typeface="Times New Roman"/>
                <a:cs typeface="Times New Roman"/>
              </a:rPr>
              <a:t>Key</a:t>
            </a: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35" dirty="0">
                <a:solidFill>
                  <a:srgbClr val="595959"/>
                </a:solidFill>
                <a:latin typeface="Times New Roman"/>
                <a:cs typeface="Times New Roman"/>
              </a:rPr>
              <a:t>Advantages:</a:t>
            </a:r>
            <a:endParaRPr sz="2400" dirty="0">
              <a:latin typeface="Times New Roman"/>
              <a:cs typeface="Times New Roman"/>
            </a:endParaRPr>
          </a:p>
          <a:p>
            <a:pPr marL="1040765" indent="-342900">
              <a:lnSpc>
                <a:spcPct val="100000"/>
              </a:lnSpc>
              <a:spcBef>
                <a:spcPts val="615"/>
              </a:spcBef>
              <a:buFont typeface="Arial" panose="020B0604020202020204" pitchFamily="34" charset="0"/>
              <a:buChar char="•"/>
              <a:tabLst>
                <a:tab pos="1047115" algn="l"/>
              </a:tabLst>
            </a:pP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Controlled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595959"/>
                </a:solidFill>
                <a:latin typeface="Times New Roman"/>
                <a:cs typeface="Times New Roman"/>
              </a:rPr>
              <a:t>Peak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Inspiratory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595959"/>
                </a:solidFill>
                <a:latin typeface="Times New Roman"/>
                <a:cs typeface="Times New Roman"/>
              </a:rPr>
              <a:t>Pressure</a:t>
            </a:r>
            <a:endParaRPr sz="2000" dirty="0">
              <a:latin typeface="Times New Roman"/>
              <a:cs typeface="Times New Roman"/>
            </a:endParaRPr>
          </a:p>
          <a:p>
            <a:pPr marL="1040765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047115" algn="l"/>
              </a:tabLst>
            </a:pP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Control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000" spc="2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Minute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Ventilation</a:t>
            </a:r>
            <a:endParaRPr sz="2000" dirty="0">
              <a:latin typeface="Times New Roman"/>
              <a:cs typeface="Times New Roman"/>
            </a:endParaRPr>
          </a:p>
          <a:p>
            <a:pPr marL="1047115" marR="71120" indent="-3492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047115" algn="l"/>
              </a:tabLst>
            </a:pP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Preset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Volume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delivered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each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breath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75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80" dirty="0">
                <a:solidFill>
                  <a:srgbClr val="595959"/>
                </a:solidFill>
                <a:latin typeface="Times New Roman"/>
                <a:cs typeface="Times New Roman"/>
              </a:rPr>
              <a:t>minimum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necessary </a:t>
            </a:r>
            <a:r>
              <a:rPr sz="2000" spc="-4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pressure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BFB536-F83A-554D-B7D6-70519A26E2A8}"/>
              </a:ext>
            </a:extLst>
          </p:cNvPr>
          <p:cNvSpPr/>
          <p:nvPr/>
        </p:nvSpPr>
        <p:spPr>
          <a:xfrm>
            <a:off x="6109908" y="730881"/>
            <a:ext cx="1738692" cy="726440"/>
          </a:xfrm>
          <a:prstGeom prst="rect">
            <a:avLst/>
          </a:prstGeom>
          <a:solidFill>
            <a:srgbClr val="4477B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F75AE9-567E-1C41-8DB2-56B46F95BE3E}"/>
              </a:ext>
            </a:extLst>
          </p:cNvPr>
          <p:cNvSpPr/>
          <p:nvPr/>
        </p:nvSpPr>
        <p:spPr>
          <a:xfrm>
            <a:off x="5986257" y="676870"/>
            <a:ext cx="19859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PEARL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37BF164-3F75-B14C-A336-D08C6E29D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4310" y="784592"/>
            <a:ext cx="2779290" cy="707886"/>
          </a:xfrm>
        </p:spPr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Ventilator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9144000" cy="12125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-35" dirty="0">
                <a:solidFill>
                  <a:srgbClr val="92D050"/>
                </a:solidFill>
              </a:rPr>
              <a:t>S</a:t>
            </a:r>
            <a:r>
              <a:rPr b="1" spc="165" dirty="0">
                <a:solidFill>
                  <a:srgbClr val="92D050"/>
                </a:solidFill>
              </a:rPr>
              <a:t>I</a:t>
            </a:r>
            <a:r>
              <a:rPr b="1" spc="360" dirty="0">
                <a:solidFill>
                  <a:srgbClr val="92D050"/>
                </a:solidFill>
              </a:rPr>
              <a:t>M</a:t>
            </a:r>
            <a:r>
              <a:rPr b="1" spc="-114" dirty="0">
                <a:solidFill>
                  <a:srgbClr val="92D050"/>
                </a:solidFill>
              </a:rPr>
              <a:t>V</a:t>
            </a:r>
            <a:br>
              <a:rPr lang="en-US" b="1" spc="-114" dirty="0">
                <a:solidFill>
                  <a:srgbClr val="92D050"/>
                </a:solidFill>
              </a:rPr>
            </a:br>
            <a:r>
              <a:rPr lang="en-US" sz="3200" b="1" spc="-114" dirty="0">
                <a:solidFill>
                  <a:srgbClr val="92D050"/>
                </a:solidFill>
              </a:rPr>
              <a:t>Synchronized Intermittent Mandatory Ventilation</a:t>
            </a:r>
            <a:endParaRPr sz="3200" b="1" spc="-114" dirty="0">
              <a:solidFill>
                <a:srgbClr val="92D05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" y="2601670"/>
            <a:ext cx="9982200" cy="4114588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42900" marR="1365250" indent="-342900">
              <a:lnSpc>
                <a:spcPct val="100000"/>
              </a:lnSpc>
              <a:spcBef>
                <a:spcPts val="545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endParaRPr lang="en-US" sz="1900" spc="60" dirty="0">
              <a:solidFill>
                <a:srgbClr val="595959"/>
              </a:solidFill>
              <a:latin typeface="Times New Roman"/>
              <a:cs typeface="Times New Roman"/>
            </a:endParaRPr>
          </a:p>
          <a:p>
            <a:pPr marL="342900" marR="1365250" indent="-342900">
              <a:lnSpc>
                <a:spcPct val="100000"/>
              </a:lnSpc>
              <a:spcBef>
                <a:spcPts val="545"/>
              </a:spcBef>
              <a:buFont typeface="Arial" panose="020B0604020202020204" pitchFamily="34" charset="0"/>
              <a:buChar char="•"/>
              <a:tabLst>
                <a:tab pos="342265" algn="l"/>
              </a:tabLst>
            </a:pPr>
            <a:r>
              <a:rPr sz="1900" spc="60" dirty="0">
                <a:solidFill>
                  <a:srgbClr val="595959"/>
                </a:solidFill>
                <a:latin typeface="Times New Roman"/>
                <a:cs typeface="Times New Roman"/>
              </a:rPr>
              <a:t>Combination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900" spc="2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lang="en-US"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ssist-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lang="en-US"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ontrol 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lang="en-US"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entilation</a:t>
            </a:r>
            <a:r>
              <a:rPr sz="19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8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55" dirty="0">
                <a:solidFill>
                  <a:srgbClr val="595959"/>
                </a:solidFill>
                <a:latin typeface="Times New Roman"/>
                <a:cs typeface="Times New Roman"/>
              </a:rPr>
              <a:t>Spontaneous</a:t>
            </a:r>
            <a:r>
              <a:rPr sz="19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20" dirty="0">
                <a:solidFill>
                  <a:srgbClr val="595959"/>
                </a:solidFill>
                <a:latin typeface="Times New Roman"/>
                <a:cs typeface="Times New Roman"/>
              </a:rPr>
              <a:t>Ventilation</a:t>
            </a:r>
            <a:endParaRPr sz="19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endParaRPr sz="1750" dirty="0">
              <a:latin typeface="Times New Roman"/>
              <a:cs typeface="Times New Roman"/>
            </a:endParaRPr>
          </a:p>
          <a:p>
            <a:pPr marL="354965" marR="19050" indent="-342900">
              <a:lnSpc>
                <a:spcPts val="2380"/>
              </a:lnSpc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Baseline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 Respiratory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75" dirty="0">
                <a:solidFill>
                  <a:srgbClr val="595959"/>
                </a:solidFill>
                <a:latin typeface="Times New Roman"/>
                <a:cs typeface="Times New Roman"/>
              </a:rPr>
              <a:t>Rate</a:t>
            </a:r>
            <a:r>
              <a:rPr sz="22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75" dirty="0">
                <a:solidFill>
                  <a:srgbClr val="595959"/>
                </a:solidFill>
                <a:latin typeface="Times New Roman"/>
                <a:cs typeface="Times New Roman"/>
              </a:rPr>
              <a:t>that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allows</a:t>
            </a:r>
            <a:r>
              <a:rPr sz="22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patient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2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breath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7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their </a:t>
            </a:r>
            <a:r>
              <a:rPr sz="2200" spc="-5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75" dirty="0">
                <a:solidFill>
                  <a:srgbClr val="595959"/>
                </a:solidFill>
                <a:latin typeface="Times New Roman"/>
                <a:cs typeface="Times New Roman"/>
              </a:rPr>
              <a:t>own</a:t>
            </a:r>
            <a:r>
              <a:rPr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0" dirty="0">
                <a:solidFill>
                  <a:srgbClr val="595959"/>
                </a:solidFill>
                <a:latin typeface="Times New Roman"/>
                <a:cs typeface="Times New Roman"/>
              </a:rPr>
              <a:t>rate</a:t>
            </a:r>
            <a:r>
              <a:rPr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in </a:t>
            </a: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between</a:t>
            </a:r>
            <a:r>
              <a:rPr sz="2200" spc="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ventilator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initiated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breaths</a:t>
            </a:r>
            <a:endParaRPr sz="2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Preset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Inspiratory</a:t>
            </a:r>
            <a:r>
              <a:rPr sz="22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pressure</a:t>
            </a:r>
            <a:r>
              <a:rPr sz="22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intermittent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9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200" spc="90" dirty="0">
                <a:solidFill>
                  <a:srgbClr val="595959"/>
                </a:solidFill>
                <a:latin typeface="Times New Roman"/>
                <a:cs typeface="Times New Roman"/>
              </a:rPr>
              <a:t>andatory</a:t>
            </a:r>
            <a:r>
              <a:rPr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breaths</a:t>
            </a:r>
            <a:endParaRPr sz="2200" dirty="0">
              <a:latin typeface="Times New Roman"/>
              <a:cs typeface="Times New Roman"/>
            </a:endParaRPr>
          </a:p>
          <a:p>
            <a:pPr marL="354965" marR="401320" indent="-342900">
              <a:lnSpc>
                <a:spcPts val="2380"/>
              </a:lnSpc>
              <a:spcBef>
                <a:spcPts val="202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Ventilator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attempts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0" dirty="0">
                <a:solidFill>
                  <a:srgbClr val="595959"/>
                </a:solidFill>
                <a:latin typeface="Times New Roman"/>
                <a:cs typeface="Times New Roman"/>
              </a:rPr>
              <a:t>synchronize </a:t>
            </a:r>
            <a:r>
              <a:rPr sz="2200" spc="85" dirty="0">
                <a:solidFill>
                  <a:srgbClr val="595959"/>
                </a:solidFill>
                <a:latin typeface="Times New Roman"/>
                <a:cs typeface="Times New Roman"/>
              </a:rPr>
              <a:t>mandatory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breaths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with </a:t>
            </a:r>
            <a:r>
              <a:rPr sz="2200" spc="-5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patient</a:t>
            </a:r>
            <a:r>
              <a:rPr lang="en-US"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initiated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breaths.</a:t>
            </a:r>
            <a:endParaRPr sz="2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200" b="1" spc="-5" dirty="0">
                <a:solidFill>
                  <a:srgbClr val="008000"/>
                </a:solidFill>
                <a:latin typeface="Times New Roman"/>
                <a:cs typeface="Times New Roman"/>
              </a:rPr>
              <a:t>PSV</a:t>
            </a:r>
            <a:r>
              <a:rPr sz="2200" b="1" spc="3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lang="en-US" sz="2200" b="1" spc="30" dirty="0">
                <a:solidFill>
                  <a:srgbClr val="008000"/>
                </a:solidFill>
                <a:latin typeface="Times New Roman"/>
                <a:cs typeface="Times New Roman"/>
              </a:rPr>
              <a:t>(pressure support ventilation) </a:t>
            </a:r>
            <a:r>
              <a:rPr sz="2200" spc="-1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used</a:t>
            </a:r>
            <a:r>
              <a:rPr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conjunction</a:t>
            </a:r>
            <a:r>
              <a:rPr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with</a:t>
            </a:r>
            <a:r>
              <a:rPr sz="22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SIMV</a:t>
            </a:r>
            <a:endParaRPr lang="en-US" sz="2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spc="70" dirty="0">
                <a:solidFill>
                  <a:srgbClr val="595959"/>
                </a:solidFill>
                <a:latin typeface="Times New Roman"/>
                <a:cs typeface="Times New Roman"/>
              </a:rPr>
              <a:t>Pt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sets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own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respiratory </a:t>
            </a:r>
            <a:r>
              <a:rPr sz="2000" spc="40" dirty="0">
                <a:solidFill>
                  <a:srgbClr val="595959"/>
                </a:solidFill>
                <a:latin typeface="Times New Roman"/>
                <a:cs typeface="Times New Roman"/>
              </a:rPr>
              <a:t>rate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with </a:t>
            </a:r>
            <a:r>
              <a:rPr sz="2000" spc="70" dirty="0">
                <a:solidFill>
                  <a:srgbClr val="595959"/>
                </a:solidFill>
                <a:latin typeface="Times New Roman"/>
                <a:cs typeface="Times New Roman"/>
              </a:rPr>
              <a:t>minimum 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pressure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applied 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for 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each </a:t>
            </a:r>
            <a:r>
              <a:rPr sz="2000" spc="-4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breath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760910"/>
            <a:ext cx="8004548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35" dirty="0">
                <a:solidFill>
                  <a:srgbClr val="92D050"/>
                </a:solidFill>
              </a:rPr>
              <a:t>Assist</a:t>
            </a:r>
            <a:r>
              <a:rPr b="1" spc="80" dirty="0">
                <a:solidFill>
                  <a:srgbClr val="92D050"/>
                </a:solidFill>
              </a:rPr>
              <a:t> </a:t>
            </a:r>
            <a:r>
              <a:rPr b="1" spc="120" dirty="0">
                <a:solidFill>
                  <a:srgbClr val="92D050"/>
                </a:solidFill>
              </a:rPr>
              <a:t>Controlled</a:t>
            </a:r>
            <a:r>
              <a:rPr b="1" spc="40" dirty="0">
                <a:solidFill>
                  <a:srgbClr val="92D050"/>
                </a:solidFill>
              </a:rPr>
              <a:t> </a:t>
            </a:r>
            <a:r>
              <a:rPr b="1" spc="60" dirty="0">
                <a:solidFill>
                  <a:srgbClr val="92D050"/>
                </a:solidFill>
              </a:rPr>
              <a:t>Ventilation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5828" y="2931626"/>
            <a:ext cx="7743825" cy="3719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15875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spc="70" dirty="0">
                <a:solidFill>
                  <a:srgbClr val="595959"/>
                </a:solidFill>
                <a:latin typeface="Times New Roman"/>
                <a:cs typeface="Times New Roman"/>
              </a:rPr>
              <a:t>Intermittent</a:t>
            </a:r>
            <a:r>
              <a:rPr sz="24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20" dirty="0">
                <a:solidFill>
                  <a:srgbClr val="595959"/>
                </a:solidFill>
                <a:latin typeface="Times New Roman"/>
                <a:cs typeface="Times New Roman"/>
              </a:rPr>
              <a:t>positive-pressure</a:t>
            </a:r>
            <a:r>
              <a:rPr sz="24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40" dirty="0">
                <a:solidFill>
                  <a:srgbClr val="595959"/>
                </a:solidFill>
                <a:latin typeface="Times New Roman"/>
                <a:cs typeface="Times New Roman"/>
              </a:rPr>
              <a:t>ventilation</a:t>
            </a:r>
            <a:r>
              <a:rPr sz="2400" spc="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0" dirty="0">
                <a:solidFill>
                  <a:srgbClr val="595959"/>
                </a:solidFill>
                <a:latin typeface="Times New Roman"/>
                <a:cs typeface="Times New Roman"/>
              </a:rPr>
              <a:t>mode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75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4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595959"/>
                </a:solidFill>
                <a:latin typeface="Times New Roman"/>
                <a:cs typeface="Times New Roman"/>
              </a:rPr>
              <a:t>which </a:t>
            </a:r>
            <a:r>
              <a:rPr sz="2400" spc="-5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595959"/>
                </a:solidFill>
                <a:latin typeface="Times New Roman"/>
                <a:cs typeface="Times New Roman"/>
              </a:rPr>
              <a:t>the </a:t>
            </a:r>
            <a:r>
              <a:rPr sz="2400" spc="60" dirty="0">
                <a:solidFill>
                  <a:srgbClr val="595959"/>
                </a:solidFill>
                <a:latin typeface="Times New Roman"/>
                <a:cs typeface="Times New Roman"/>
              </a:rPr>
              <a:t>patient </a:t>
            </a:r>
            <a:r>
              <a:rPr sz="2400" spc="35" dirty="0">
                <a:solidFill>
                  <a:srgbClr val="595959"/>
                </a:solidFill>
                <a:latin typeface="Times New Roman"/>
                <a:cs typeface="Times New Roman"/>
              </a:rPr>
              <a:t>creates </a:t>
            </a:r>
            <a:r>
              <a:rPr sz="2400" spc="110" dirty="0">
                <a:solidFill>
                  <a:srgbClr val="595959"/>
                </a:solidFill>
                <a:latin typeface="Times New Roman"/>
                <a:cs typeface="Times New Roman"/>
              </a:rPr>
              <a:t>a </a:t>
            </a:r>
            <a:r>
              <a:rPr sz="2400" spc="20" dirty="0">
                <a:solidFill>
                  <a:srgbClr val="595959"/>
                </a:solidFill>
                <a:latin typeface="Times New Roman"/>
                <a:cs typeface="Times New Roman"/>
              </a:rPr>
              <a:t>sub-baseline </a:t>
            </a:r>
            <a:r>
              <a:rPr sz="2400" spc="40" dirty="0">
                <a:solidFill>
                  <a:srgbClr val="595959"/>
                </a:solidFill>
                <a:latin typeface="Times New Roman"/>
                <a:cs typeface="Times New Roman"/>
              </a:rPr>
              <a:t>pressure </a:t>
            </a:r>
            <a:r>
              <a:rPr sz="2400" spc="60" dirty="0">
                <a:solidFill>
                  <a:srgbClr val="595959"/>
                </a:solidFill>
                <a:latin typeface="Times New Roman"/>
                <a:cs typeface="Times New Roman"/>
              </a:rPr>
              <a:t>in </a:t>
            </a:r>
            <a:r>
              <a:rPr sz="2400" spc="65" dirty="0">
                <a:solidFill>
                  <a:srgbClr val="595959"/>
                </a:solidFill>
                <a:latin typeface="Times New Roman"/>
                <a:cs typeface="Times New Roman"/>
              </a:rPr>
              <a:t>the </a:t>
            </a:r>
            <a:r>
              <a:rPr sz="2400" spc="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55" dirty="0">
                <a:solidFill>
                  <a:srgbClr val="595959"/>
                </a:solidFill>
                <a:latin typeface="Times New Roman"/>
                <a:cs typeface="Times New Roman"/>
              </a:rPr>
              <a:t>inspiratory </a:t>
            </a:r>
            <a:r>
              <a:rPr sz="2400" spc="35" dirty="0">
                <a:solidFill>
                  <a:srgbClr val="595959"/>
                </a:solidFill>
                <a:latin typeface="Times New Roman"/>
                <a:cs typeface="Times New Roman"/>
              </a:rPr>
              <a:t>limb </a:t>
            </a:r>
            <a:r>
              <a:rPr sz="2400" spc="65" dirty="0">
                <a:solidFill>
                  <a:srgbClr val="595959"/>
                </a:solidFill>
                <a:latin typeface="Times New Roman"/>
                <a:cs typeface="Times New Roman"/>
              </a:rPr>
              <a:t>which </a:t>
            </a:r>
            <a:r>
              <a:rPr sz="2400" spc="80" dirty="0">
                <a:solidFill>
                  <a:srgbClr val="595959"/>
                </a:solidFill>
                <a:latin typeface="Times New Roman"/>
                <a:cs typeface="Times New Roman"/>
              </a:rPr>
              <a:t>then 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triggers </a:t>
            </a:r>
            <a:r>
              <a:rPr sz="2400" spc="65" dirty="0">
                <a:solidFill>
                  <a:srgbClr val="595959"/>
                </a:solidFill>
                <a:latin typeface="Times New Roman"/>
                <a:cs typeface="Times New Roman"/>
              </a:rPr>
              <a:t>the </a:t>
            </a:r>
            <a:r>
              <a:rPr sz="2400" spc="40" dirty="0">
                <a:solidFill>
                  <a:srgbClr val="595959"/>
                </a:solidFill>
                <a:latin typeface="Times New Roman"/>
                <a:cs typeface="Times New Roman"/>
              </a:rPr>
              <a:t>ventilator </a:t>
            </a:r>
            <a:r>
              <a:rPr sz="2400" spc="75" dirty="0">
                <a:solidFill>
                  <a:srgbClr val="595959"/>
                </a:solidFill>
                <a:latin typeface="Times New Roman"/>
                <a:cs typeface="Times New Roman"/>
              </a:rPr>
              <a:t>to </a:t>
            </a:r>
            <a:r>
              <a:rPr sz="2400" spc="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10" dirty="0">
                <a:solidFill>
                  <a:srgbClr val="595959"/>
                </a:solidFill>
                <a:latin typeface="Times New Roman"/>
                <a:cs typeface="Times New Roman"/>
              </a:rPr>
              <a:t>deliver</a:t>
            </a:r>
            <a:r>
              <a:rPr sz="24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11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595959"/>
                </a:solidFill>
                <a:latin typeface="Times New Roman"/>
                <a:cs typeface="Times New Roman"/>
              </a:rPr>
              <a:t>predetermined</a:t>
            </a:r>
            <a:r>
              <a:rPr sz="24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40" dirty="0">
                <a:solidFill>
                  <a:srgbClr val="595959"/>
                </a:solidFill>
                <a:latin typeface="Times New Roman"/>
                <a:cs typeface="Times New Roman"/>
              </a:rPr>
              <a:t>tidal </a:t>
            </a:r>
            <a:r>
              <a:rPr sz="2400" spc="35" dirty="0">
                <a:solidFill>
                  <a:srgbClr val="595959"/>
                </a:solidFill>
                <a:latin typeface="Times New Roman"/>
                <a:cs typeface="Times New Roman"/>
              </a:rPr>
              <a:t>volume.</a:t>
            </a:r>
            <a:endParaRPr sz="2400" dirty="0">
              <a:latin typeface="Times New Roman"/>
              <a:cs typeface="Times New Roman"/>
            </a:endParaRPr>
          </a:p>
          <a:p>
            <a:pPr marL="704215" marR="5080" indent="-342900">
              <a:lnSpc>
                <a:spcPct val="100000"/>
              </a:lnSpc>
              <a:spcBef>
                <a:spcPts val="615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Back-up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control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85" dirty="0">
                <a:solidFill>
                  <a:srgbClr val="595959"/>
                </a:solidFill>
                <a:latin typeface="Times New Roman"/>
                <a:cs typeface="Times New Roman"/>
              </a:rPr>
              <a:t>mode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should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respiratory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rate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drop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below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9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preset </a:t>
            </a:r>
            <a:r>
              <a:rPr sz="2000" spc="-4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level.</a:t>
            </a:r>
            <a:endParaRPr sz="2000" dirty="0">
              <a:latin typeface="Times New Roman"/>
              <a:cs typeface="Times New Roman"/>
            </a:endParaRPr>
          </a:p>
          <a:p>
            <a:pPr marL="355600" marR="307975" indent="-342900">
              <a:lnSpc>
                <a:spcPct val="100000"/>
              </a:lnSpc>
              <a:spcBef>
                <a:spcPts val="19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Every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breath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2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60" dirty="0">
                <a:solidFill>
                  <a:srgbClr val="595959"/>
                </a:solidFill>
                <a:latin typeface="Times New Roman"/>
                <a:cs typeface="Times New Roman"/>
              </a:rPr>
              <a:t>same</a:t>
            </a:r>
            <a:r>
              <a:rPr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0" dirty="0">
                <a:solidFill>
                  <a:srgbClr val="595959"/>
                </a:solidFill>
                <a:latin typeface="Times New Roman"/>
                <a:cs typeface="Times New Roman"/>
              </a:rPr>
              <a:t>volume</a:t>
            </a:r>
            <a:r>
              <a:rPr sz="22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60" dirty="0">
                <a:solidFill>
                  <a:srgbClr val="595959"/>
                </a:solidFill>
                <a:latin typeface="Times New Roman"/>
                <a:cs typeface="Times New Roman"/>
              </a:rPr>
              <a:t>whether</a:t>
            </a:r>
            <a:r>
              <a:rPr sz="22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patient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30" dirty="0">
                <a:solidFill>
                  <a:srgbClr val="595959"/>
                </a:solidFill>
                <a:latin typeface="Times New Roman"/>
                <a:cs typeface="Times New Roman"/>
              </a:rPr>
              <a:t>initiates 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60" dirty="0">
                <a:solidFill>
                  <a:srgbClr val="595959"/>
                </a:solidFill>
                <a:latin typeface="Times New Roman"/>
                <a:cs typeface="Times New Roman"/>
              </a:rPr>
              <a:t>the </a:t>
            </a:r>
            <a:r>
              <a:rPr sz="2200" spc="-5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ventilator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 delivers</a:t>
            </a:r>
            <a:endParaRPr sz="2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9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spc="120" dirty="0">
                <a:solidFill>
                  <a:srgbClr val="595959"/>
                </a:solidFill>
                <a:latin typeface="Times New Roman"/>
                <a:cs typeface="Times New Roman"/>
              </a:rPr>
              <a:t>Not</a:t>
            </a:r>
            <a:r>
              <a:rPr sz="24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2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4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50" dirty="0">
                <a:solidFill>
                  <a:srgbClr val="595959"/>
                </a:solidFill>
                <a:latin typeface="Times New Roman"/>
                <a:cs typeface="Times New Roman"/>
              </a:rPr>
              <a:t>patients</a:t>
            </a:r>
            <a:r>
              <a:rPr sz="24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595959"/>
                </a:solidFill>
                <a:latin typeface="Times New Roman"/>
                <a:cs typeface="Times New Roman"/>
              </a:rPr>
              <a:t>with</a:t>
            </a:r>
            <a:r>
              <a:rPr sz="24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11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595959"/>
                </a:solidFill>
                <a:latin typeface="Times New Roman"/>
                <a:cs typeface="Times New Roman"/>
              </a:rPr>
              <a:t>rapid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50" dirty="0">
                <a:solidFill>
                  <a:srgbClr val="595959"/>
                </a:solidFill>
                <a:latin typeface="Times New Roman"/>
                <a:cs typeface="Times New Roman"/>
              </a:rPr>
              <a:t>respiratory</a:t>
            </a:r>
            <a:r>
              <a:rPr sz="24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55" dirty="0">
                <a:solidFill>
                  <a:srgbClr val="595959"/>
                </a:solidFill>
                <a:latin typeface="Times New Roman"/>
                <a:cs typeface="Times New Roman"/>
              </a:rPr>
              <a:t>rate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1228" y="889630"/>
            <a:ext cx="7035800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40" dirty="0"/>
              <a:t>What</a:t>
            </a:r>
            <a:r>
              <a:rPr spc="25" dirty="0"/>
              <a:t> </a:t>
            </a:r>
            <a:r>
              <a:rPr spc="100" dirty="0"/>
              <a:t>does</a:t>
            </a:r>
            <a:r>
              <a:rPr spc="55" dirty="0"/>
              <a:t> </a:t>
            </a:r>
            <a:r>
              <a:rPr spc="125" dirty="0"/>
              <a:t>the</a:t>
            </a:r>
            <a:r>
              <a:rPr spc="-5" dirty="0"/>
              <a:t> </a:t>
            </a:r>
            <a:r>
              <a:rPr spc="95" dirty="0"/>
              <a:t>Research</a:t>
            </a:r>
            <a:r>
              <a:rPr spc="30" dirty="0"/>
              <a:t> </a:t>
            </a:r>
            <a:r>
              <a:rPr spc="25" dirty="0"/>
              <a:t>Say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6639" y="2864658"/>
            <a:ext cx="7726680" cy="39106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950" spc="20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Gajic,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et.</a:t>
            </a:r>
            <a:r>
              <a:rPr sz="22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30" dirty="0">
                <a:solidFill>
                  <a:srgbClr val="595959"/>
                </a:solidFill>
                <a:latin typeface="Times New Roman"/>
                <a:cs typeface="Times New Roman"/>
              </a:rPr>
              <a:t>al: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Patients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 ventilated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with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TV</a:t>
            </a:r>
            <a:r>
              <a:rPr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0" dirty="0">
                <a:solidFill>
                  <a:srgbClr val="595959"/>
                </a:solidFill>
                <a:latin typeface="Times New Roman"/>
                <a:cs typeface="Times New Roman"/>
              </a:rPr>
              <a:t>&gt;12%</a:t>
            </a: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75" dirty="0">
                <a:solidFill>
                  <a:srgbClr val="595959"/>
                </a:solidFill>
                <a:latin typeface="Times New Roman"/>
                <a:cs typeface="Times New Roman"/>
              </a:rPr>
              <a:t>IBW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were</a:t>
            </a:r>
            <a:r>
              <a:rPr sz="22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95959"/>
                </a:solidFill>
                <a:latin typeface="Times New Roman"/>
                <a:cs typeface="Times New Roman"/>
              </a:rPr>
              <a:t>25% </a:t>
            </a:r>
            <a:r>
              <a:rPr sz="2200" spc="-5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75" dirty="0">
                <a:solidFill>
                  <a:srgbClr val="595959"/>
                </a:solidFill>
                <a:latin typeface="Times New Roman"/>
                <a:cs typeface="Times New Roman"/>
              </a:rPr>
              <a:t>more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95959"/>
                </a:solidFill>
                <a:latin typeface="Times New Roman"/>
                <a:cs typeface="Times New Roman"/>
              </a:rPr>
              <a:t>likely</a:t>
            </a: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2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have</a:t>
            </a:r>
            <a:r>
              <a:rPr sz="22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90" dirty="0">
                <a:solidFill>
                  <a:srgbClr val="595959"/>
                </a:solidFill>
                <a:latin typeface="Times New Roman"/>
                <a:cs typeface="Times New Roman"/>
              </a:rPr>
              <a:t>ALI</a:t>
            </a:r>
            <a:r>
              <a:rPr sz="22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100" dirty="0">
                <a:solidFill>
                  <a:srgbClr val="595959"/>
                </a:solidFill>
                <a:latin typeface="Times New Roman"/>
                <a:cs typeface="Times New Roman"/>
              </a:rPr>
              <a:t>ARDS</a:t>
            </a:r>
            <a:endParaRPr sz="2200" dirty="0">
              <a:latin typeface="Times New Roman"/>
              <a:cs typeface="Times New Roman"/>
            </a:endParaRPr>
          </a:p>
          <a:p>
            <a:pPr marL="354965" marR="52705" indent="-342900">
              <a:lnSpc>
                <a:spcPct val="100000"/>
              </a:lnSpc>
              <a:spcBef>
                <a:spcPts val="2005"/>
              </a:spcBef>
              <a:tabLst>
                <a:tab pos="354965" algn="l"/>
                <a:tab pos="4253865" algn="l"/>
              </a:tabLst>
            </a:pPr>
            <a:r>
              <a:rPr sz="1950" spc="20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2200" spc="75" dirty="0">
                <a:solidFill>
                  <a:srgbClr val="595959"/>
                </a:solidFill>
                <a:latin typeface="Times New Roman"/>
                <a:cs typeface="Times New Roman"/>
              </a:rPr>
              <a:t>Choi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al.:</a:t>
            </a:r>
            <a:r>
              <a:rPr sz="22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Study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70" dirty="0">
                <a:solidFill>
                  <a:srgbClr val="595959"/>
                </a:solidFill>
                <a:latin typeface="Times New Roman"/>
                <a:cs typeface="Times New Roman"/>
              </a:rPr>
              <a:t>noted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70" dirty="0">
                <a:solidFill>
                  <a:srgbClr val="595959"/>
                </a:solidFill>
                <a:latin typeface="Times New Roman"/>
                <a:cs typeface="Times New Roman"/>
              </a:rPr>
              <a:t>that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patients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70" dirty="0">
                <a:solidFill>
                  <a:srgbClr val="595959"/>
                </a:solidFill>
                <a:latin typeface="Times New Roman"/>
                <a:cs typeface="Times New Roman"/>
              </a:rPr>
              <a:t>that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30" dirty="0">
                <a:solidFill>
                  <a:srgbClr val="595959"/>
                </a:solidFill>
                <a:latin typeface="Times New Roman"/>
                <a:cs typeface="Times New Roman"/>
              </a:rPr>
              <a:t>were 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ventilated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with </a:t>
            </a:r>
            <a:r>
              <a:rPr sz="2200" spc="-5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12 </a:t>
            </a:r>
            <a:r>
              <a:rPr sz="2200" spc="135" dirty="0">
                <a:solidFill>
                  <a:srgbClr val="595959"/>
                </a:solidFill>
                <a:latin typeface="Times New Roman"/>
                <a:cs typeface="Times New Roman"/>
              </a:rPr>
              <a:t>ml/kg </a:t>
            </a:r>
            <a:r>
              <a:rPr sz="2200" spc="70" dirty="0">
                <a:solidFill>
                  <a:srgbClr val="595959"/>
                </a:solidFill>
                <a:latin typeface="Times New Roman"/>
                <a:cs typeface="Times New Roman"/>
              </a:rPr>
              <a:t>at 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5 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hours 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showed 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significant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procoagulant 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changes </a:t>
            </a: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indicative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200" spc="2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Acute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70" dirty="0">
                <a:solidFill>
                  <a:srgbClr val="595959"/>
                </a:solidFill>
                <a:latin typeface="Times New Roman"/>
                <a:cs typeface="Times New Roman"/>
              </a:rPr>
              <a:t>Lung</a:t>
            </a:r>
            <a:r>
              <a:rPr sz="22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Injury	</a:t>
            </a:r>
            <a:r>
              <a:rPr sz="2200" spc="80" dirty="0">
                <a:solidFill>
                  <a:srgbClr val="595959"/>
                </a:solidFill>
                <a:latin typeface="Times New Roman"/>
                <a:cs typeface="Times New Roman"/>
              </a:rPr>
              <a:t>when </a:t>
            </a:r>
            <a:r>
              <a:rPr sz="2200" spc="70" dirty="0">
                <a:solidFill>
                  <a:srgbClr val="595959"/>
                </a:solidFill>
                <a:latin typeface="Times New Roman"/>
                <a:cs typeface="Times New Roman"/>
              </a:rPr>
              <a:t>compared 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to </a:t>
            </a:r>
            <a:r>
              <a:rPr sz="2200" spc="70" dirty="0">
                <a:solidFill>
                  <a:srgbClr val="595959"/>
                </a:solidFill>
                <a:latin typeface="Times New Roman"/>
                <a:cs typeface="Times New Roman"/>
              </a:rPr>
              <a:t>Lung </a:t>
            </a:r>
            <a:r>
              <a:rPr sz="2200" spc="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Volumes</a:t>
            </a:r>
            <a:r>
              <a:rPr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200" spc="2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114" dirty="0">
                <a:solidFill>
                  <a:srgbClr val="595959"/>
                </a:solidFill>
                <a:latin typeface="Times New Roman"/>
                <a:cs typeface="Times New Roman"/>
              </a:rPr>
              <a:t>6ml/kg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with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10cm</a:t>
            </a:r>
            <a:r>
              <a:rPr sz="22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0" dirty="0">
                <a:solidFill>
                  <a:srgbClr val="595959"/>
                </a:solidFill>
                <a:latin typeface="Times New Roman"/>
                <a:cs typeface="Times New Roman"/>
              </a:rPr>
              <a:t>PEEP.</a:t>
            </a:r>
            <a:endParaRPr sz="2200" dirty="0">
              <a:latin typeface="Times New Roman"/>
              <a:cs typeface="Times New Roman"/>
            </a:endParaRPr>
          </a:p>
          <a:p>
            <a:pPr marL="354965" marR="66675" indent="-342900">
              <a:lnSpc>
                <a:spcPct val="100000"/>
              </a:lnSpc>
              <a:spcBef>
                <a:spcPts val="2000"/>
              </a:spcBef>
              <a:tabLst>
                <a:tab pos="354965" algn="l"/>
                <a:tab pos="3166110" algn="l"/>
              </a:tabLst>
            </a:pPr>
            <a:r>
              <a:rPr sz="1950" spc="20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Research </a:t>
            </a:r>
            <a:r>
              <a:rPr sz="2200" spc="80" dirty="0">
                <a:solidFill>
                  <a:srgbClr val="595959"/>
                </a:solidFill>
                <a:latin typeface="Times New Roman"/>
                <a:cs typeface="Times New Roman"/>
              </a:rPr>
              <a:t>done 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by </a:t>
            </a:r>
            <a:r>
              <a:rPr sz="2200" spc="60" dirty="0">
                <a:solidFill>
                  <a:srgbClr val="595959"/>
                </a:solidFill>
                <a:latin typeface="Times New Roman"/>
                <a:cs typeface="Times New Roman"/>
              </a:rPr>
              <a:t>the 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International 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Anesthesia </a:t>
            </a: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Research 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Society </a:t>
            </a: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shows </a:t>
            </a:r>
            <a:r>
              <a:rPr sz="2200" spc="120" dirty="0">
                <a:solidFill>
                  <a:srgbClr val="595959"/>
                </a:solidFill>
                <a:latin typeface="Times New Roman"/>
                <a:cs typeface="Times New Roman"/>
              </a:rPr>
              <a:t>PEEP </a:t>
            </a:r>
            <a:r>
              <a:rPr sz="2200" spc="30" dirty="0">
                <a:solidFill>
                  <a:srgbClr val="595959"/>
                </a:solidFill>
                <a:latin typeface="Times New Roman"/>
                <a:cs typeface="Times New Roman"/>
              </a:rPr>
              <a:t>increases </a:t>
            </a:r>
            <a:r>
              <a:rPr sz="2200" spc="50" dirty="0">
                <a:solidFill>
                  <a:srgbClr val="595959"/>
                </a:solidFill>
                <a:latin typeface="Times New Roman"/>
                <a:cs typeface="Times New Roman"/>
              </a:rPr>
              <a:t>intrathoracic 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pressure </a:t>
            </a:r>
            <a:r>
              <a:rPr sz="2200" spc="95" dirty="0">
                <a:solidFill>
                  <a:srgbClr val="595959"/>
                </a:solidFill>
                <a:latin typeface="Times New Roman"/>
                <a:cs typeface="Times New Roman"/>
              </a:rPr>
              <a:t>and 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the </a:t>
            </a:r>
            <a:r>
              <a:rPr sz="2200" spc="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595959"/>
                </a:solidFill>
                <a:latin typeface="Times New Roman"/>
                <a:cs typeface="Times New Roman"/>
              </a:rPr>
              <a:t>effects</a:t>
            </a: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amplified</a:t>
            </a:r>
            <a:r>
              <a:rPr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lang="en-US"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patients </a:t>
            </a:r>
            <a:r>
              <a:rPr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suffering </a:t>
            </a: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hypovolemia </a:t>
            </a:r>
            <a:r>
              <a:rPr sz="2200" spc="75" dirty="0">
                <a:solidFill>
                  <a:srgbClr val="595959"/>
                </a:solidFill>
                <a:latin typeface="Times New Roman"/>
                <a:cs typeface="Times New Roman"/>
              </a:rPr>
              <a:t>or </a:t>
            </a:r>
            <a:r>
              <a:rPr sz="2200" spc="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0" dirty="0">
                <a:solidFill>
                  <a:srgbClr val="595959"/>
                </a:solidFill>
                <a:latin typeface="Times New Roman"/>
                <a:cs typeface="Times New Roman"/>
              </a:rPr>
              <a:t>cardiac</a:t>
            </a:r>
            <a:r>
              <a:rPr sz="22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dysfunction</a:t>
            </a:r>
            <a:r>
              <a:rPr lang="en-US"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457200"/>
            <a:ext cx="9143999" cy="63803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15185" marR="5080" indent="-2099945">
              <a:lnSpc>
                <a:spcPct val="100000"/>
              </a:lnSpc>
              <a:spcBef>
                <a:spcPts val="95"/>
              </a:spcBef>
            </a:pPr>
            <a:r>
              <a:rPr spc="30" dirty="0"/>
              <a:t>Keys</a:t>
            </a:r>
            <a:r>
              <a:rPr spc="40" dirty="0"/>
              <a:t> </a:t>
            </a:r>
            <a:r>
              <a:rPr spc="140" dirty="0"/>
              <a:t>to</a:t>
            </a:r>
            <a:r>
              <a:rPr spc="10" dirty="0"/>
              <a:t> </a:t>
            </a:r>
            <a:r>
              <a:rPr spc="80" dirty="0"/>
              <a:t>overcoming</a:t>
            </a:r>
            <a:r>
              <a:rPr spc="15" dirty="0"/>
              <a:t> </a:t>
            </a:r>
            <a:r>
              <a:rPr spc="65" dirty="0"/>
              <a:t>Ventilatory </a:t>
            </a:r>
            <a:r>
              <a:rPr spc="-1135" dirty="0"/>
              <a:t> </a:t>
            </a:r>
            <a:r>
              <a:rPr spc="120" dirty="0"/>
              <a:t>Complications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5399" y="2810556"/>
            <a:ext cx="7384061" cy="3954288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R="5210810" algn="ctr">
              <a:lnSpc>
                <a:spcPct val="100000"/>
              </a:lnSpc>
              <a:spcBef>
                <a:spcPts val="515"/>
              </a:spcBef>
              <a:tabLst>
                <a:tab pos="342265" algn="l"/>
              </a:tabLst>
            </a:pPr>
            <a:r>
              <a:rPr sz="2000" b="1" spc="15" dirty="0">
                <a:solidFill>
                  <a:srgbClr val="008000"/>
                </a:solidFill>
                <a:latin typeface="Times New Roman"/>
                <a:cs typeface="Times New Roman"/>
              </a:rPr>
              <a:t>Pre-oxygenation</a:t>
            </a:r>
            <a:endParaRPr lang="en-US" sz="2000" dirty="0">
              <a:latin typeface="Times New Roman"/>
              <a:cs typeface="Times New Roman"/>
            </a:endParaRPr>
          </a:p>
          <a:p>
            <a:pPr marR="5179695" algn="ctr">
              <a:lnSpc>
                <a:spcPct val="100000"/>
              </a:lnSpc>
              <a:spcBef>
                <a:spcPts val="390"/>
              </a:spcBef>
              <a:tabLst>
                <a:tab pos="336550" algn="l"/>
              </a:tabLst>
            </a:pPr>
            <a:r>
              <a:rPr lang="en-US" sz="1900" spc="270" dirty="0">
                <a:solidFill>
                  <a:srgbClr val="595959"/>
                </a:solidFill>
                <a:latin typeface="Times New Roman"/>
                <a:cs typeface="Times New Roman"/>
              </a:rPr>
              <a:t>	</a:t>
            </a:r>
            <a:r>
              <a:rPr lang="en-US" sz="19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1900" spc="50" dirty="0">
                <a:solidFill>
                  <a:srgbClr val="595959"/>
                </a:solidFill>
                <a:latin typeface="Times New Roman"/>
                <a:cs typeface="Times New Roman"/>
              </a:rPr>
              <a:t>Hypoxia</a:t>
            </a:r>
            <a:endParaRPr lang="en-US" sz="1900" dirty="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370"/>
              </a:spcBef>
              <a:tabLst>
                <a:tab pos="697865" algn="l"/>
              </a:tabLst>
            </a:pPr>
            <a:r>
              <a:rPr lang="en-US" sz="1900" spc="270" dirty="0">
                <a:solidFill>
                  <a:srgbClr val="595959"/>
                </a:solidFill>
                <a:latin typeface="Times New Roman"/>
                <a:cs typeface="Times New Roman"/>
              </a:rPr>
              <a:t>  	</a:t>
            </a:r>
            <a:r>
              <a:rPr sz="1900" spc="270" dirty="0">
                <a:solidFill>
                  <a:srgbClr val="595959"/>
                </a:solidFill>
                <a:latin typeface="Times New Roman"/>
                <a:cs typeface="Times New Roman"/>
              </a:rPr>
              <a:t></a:t>
            </a:r>
            <a:r>
              <a:rPr sz="19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75" dirty="0">
                <a:solidFill>
                  <a:srgbClr val="595959"/>
                </a:solidFill>
                <a:latin typeface="Times New Roman"/>
                <a:cs typeface="Times New Roman"/>
              </a:rPr>
              <a:t>FRC</a:t>
            </a:r>
            <a:endParaRPr sz="1900" dirty="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375"/>
              </a:spcBef>
              <a:tabLst>
                <a:tab pos="697865" algn="l"/>
              </a:tabLst>
            </a:pPr>
            <a:r>
              <a:rPr lang="en-US" sz="1700" spc="170" dirty="0">
                <a:solidFill>
                  <a:srgbClr val="C1F944"/>
                </a:solidFill>
                <a:latin typeface="Times New Roman"/>
                <a:cs typeface="Times New Roman"/>
              </a:rPr>
              <a:t>   	</a:t>
            </a:r>
            <a:r>
              <a:rPr sz="1900" spc="270" dirty="0">
                <a:solidFill>
                  <a:srgbClr val="595959"/>
                </a:solidFill>
                <a:latin typeface="Times New Roman"/>
                <a:cs typeface="Times New Roman"/>
              </a:rPr>
              <a:t></a:t>
            </a:r>
            <a:r>
              <a:rPr sz="1900" spc="4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Reabsorption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20" dirty="0">
                <a:solidFill>
                  <a:srgbClr val="595959"/>
                </a:solidFill>
                <a:latin typeface="Times New Roman"/>
                <a:cs typeface="Times New Roman"/>
              </a:rPr>
              <a:t>Atelectasis</a:t>
            </a:r>
            <a:endParaRPr sz="1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  <a:tabLst>
                <a:tab pos="354965" algn="l"/>
              </a:tabLst>
            </a:pPr>
            <a:r>
              <a:rPr sz="2000" b="1" spc="25" dirty="0">
                <a:solidFill>
                  <a:srgbClr val="000090"/>
                </a:solidFill>
                <a:latin typeface="Times New Roman"/>
                <a:cs typeface="Times New Roman"/>
              </a:rPr>
              <a:t>Obesity</a:t>
            </a:r>
            <a:endParaRPr sz="2000" dirty="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375"/>
              </a:spcBef>
              <a:tabLst>
                <a:tab pos="697865" algn="l"/>
              </a:tabLst>
            </a:pPr>
            <a:r>
              <a:rPr lang="en-US" sz="1700" spc="170" dirty="0">
                <a:solidFill>
                  <a:srgbClr val="C1F944"/>
                </a:solidFill>
                <a:latin typeface="Times New Roman"/>
                <a:cs typeface="Times New Roman"/>
              </a:rPr>
              <a:t>	</a:t>
            </a:r>
            <a:r>
              <a:rPr sz="1900" spc="270" dirty="0">
                <a:solidFill>
                  <a:srgbClr val="595959"/>
                </a:solidFill>
                <a:latin typeface="Times New Roman"/>
                <a:cs typeface="Times New Roman"/>
              </a:rPr>
              <a:t></a:t>
            </a:r>
            <a:r>
              <a:rPr sz="19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75" dirty="0">
                <a:solidFill>
                  <a:srgbClr val="595959"/>
                </a:solidFill>
                <a:latin typeface="Times New Roman"/>
                <a:cs typeface="Times New Roman"/>
              </a:rPr>
              <a:t>FRC</a:t>
            </a:r>
            <a:endParaRPr sz="1900" dirty="0">
              <a:latin typeface="Times New Roman"/>
              <a:cs typeface="Times New Roman"/>
            </a:endParaRPr>
          </a:p>
          <a:p>
            <a:pPr marL="697865" marR="5080" indent="-337185">
              <a:lnSpc>
                <a:spcPts val="2050"/>
              </a:lnSpc>
              <a:spcBef>
                <a:spcPts val="635"/>
              </a:spcBef>
              <a:tabLst>
                <a:tab pos="697865" algn="l"/>
              </a:tabLst>
            </a:pPr>
            <a:r>
              <a:rPr lang="en-US" sz="1700" spc="170" dirty="0">
                <a:solidFill>
                  <a:srgbClr val="C1F944"/>
                </a:solidFill>
                <a:latin typeface="Times New Roman"/>
                <a:cs typeface="Times New Roman"/>
              </a:rPr>
              <a:t>		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37%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900" spc="2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closed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claims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35" dirty="0">
                <a:solidFill>
                  <a:srgbClr val="595959"/>
                </a:solidFill>
                <a:latin typeface="Times New Roman"/>
                <a:cs typeface="Times New Roman"/>
              </a:rPr>
              <a:t>related</a:t>
            </a:r>
            <a:r>
              <a:rPr sz="1900" spc="55" dirty="0">
                <a:solidFill>
                  <a:srgbClr val="595959"/>
                </a:solidFill>
                <a:latin typeface="Times New Roman"/>
                <a:cs typeface="Times New Roman"/>
              </a:rPr>
              <a:t> to</a:t>
            </a:r>
            <a:r>
              <a:rPr sz="19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difficult</a:t>
            </a:r>
            <a:r>
              <a:rPr sz="19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50" dirty="0">
                <a:solidFill>
                  <a:srgbClr val="595959"/>
                </a:solidFill>
                <a:latin typeface="Times New Roman"/>
                <a:cs typeface="Times New Roman"/>
              </a:rPr>
              <a:t>intubation</a:t>
            </a:r>
            <a:r>
              <a:rPr sz="19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involved</a:t>
            </a:r>
            <a:r>
              <a:rPr sz="1900" spc="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1900" spc="6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obese </a:t>
            </a:r>
            <a:r>
              <a:rPr sz="1900" spc="-4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35" dirty="0">
                <a:solidFill>
                  <a:srgbClr val="595959"/>
                </a:solidFill>
                <a:latin typeface="Times New Roman"/>
                <a:cs typeface="Times New Roman"/>
              </a:rPr>
              <a:t>patients.</a:t>
            </a:r>
            <a:endParaRPr sz="1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  <a:tabLst>
                <a:tab pos="354965" algn="l"/>
              </a:tabLst>
            </a:pPr>
            <a:r>
              <a:rPr sz="2000" b="1" spc="10" dirty="0">
                <a:solidFill>
                  <a:srgbClr val="1366C4"/>
                </a:solidFill>
                <a:latin typeface="Times New Roman"/>
                <a:cs typeface="Times New Roman"/>
              </a:rPr>
              <a:t>Intermittent</a:t>
            </a:r>
            <a:r>
              <a:rPr sz="2000" b="1" spc="50" dirty="0">
                <a:solidFill>
                  <a:srgbClr val="1366C4"/>
                </a:solidFill>
                <a:latin typeface="Times New Roman"/>
                <a:cs typeface="Times New Roman"/>
              </a:rPr>
              <a:t> </a:t>
            </a:r>
            <a:r>
              <a:rPr sz="2000" b="1" spc="25" dirty="0">
                <a:solidFill>
                  <a:srgbClr val="1366C4"/>
                </a:solidFill>
                <a:latin typeface="Times New Roman"/>
                <a:cs typeface="Times New Roman"/>
              </a:rPr>
              <a:t>Alveolar</a:t>
            </a:r>
            <a:r>
              <a:rPr sz="2000" b="1" spc="30" dirty="0">
                <a:solidFill>
                  <a:srgbClr val="1366C4"/>
                </a:solidFill>
                <a:latin typeface="Times New Roman"/>
                <a:cs typeface="Times New Roman"/>
              </a:rPr>
              <a:t> </a:t>
            </a:r>
            <a:r>
              <a:rPr sz="2000" b="1" spc="10" dirty="0">
                <a:solidFill>
                  <a:srgbClr val="1366C4"/>
                </a:solidFill>
                <a:latin typeface="Times New Roman"/>
                <a:cs typeface="Times New Roman"/>
              </a:rPr>
              <a:t>Recruitment</a:t>
            </a:r>
            <a:r>
              <a:rPr sz="2000" b="1" spc="-5" dirty="0">
                <a:solidFill>
                  <a:srgbClr val="1366C4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1366C4"/>
                </a:solidFill>
                <a:latin typeface="Times New Roman"/>
                <a:cs typeface="Times New Roman"/>
              </a:rPr>
              <a:t>Breaths</a:t>
            </a:r>
            <a:r>
              <a:rPr lang="en-US" sz="2000" b="1" spc="-10" dirty="0">
                <a:solidFill>
                  <a:srgbClr val="1366C4"/>
                </a:solidFill>
                <a:latin typeface="Times New Roman"/>
                <a:cs typeface="Times New Roman"/>
              </a:rPr>
              <a:t> or SIGHs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55"/>
              </a:spcBef>
              <a:tabLst>
                <a:tab pos="354965" algn="l"/>
              </a:tabLst>
            </a:pPr>
            <a:r>
              <a:rPr sz="20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Essential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spc="10" dirty="0">
                <a:latin typeface="Times New Roman"/>
                <a:cs typeface="Times New Roman"/>
              </a:rPr>
              <a:t>pre-oxygenation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spc="70" dirty="0">
                <a:latin typeface="Times New Roman"/>
                <a:cs typeface="Times New Roman"/>
              </a:rPr>
              <a:t>with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 Facemask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spc="45" dirty="0">
                <a:latin typeface="Times New Roman"/>
                <a:cs typeface="Times New Roman"/>
              </a:rPr>
              <a:t>is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15" dirty="0">
                <a:latin typeface="Times New Roman"/>
                <a:cs typeface="Times New Roman"/>
              </a:rPr>
              <a:t>practiced.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9520" marR="5080" indent="-451484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Arial"/>
                <a:cs typeface="Arial"/>
              </a:rPr>
              <a:t>Pre-Existing Conditions that </a:t>
            </a:r>
            <a:r>
              <a:rPr sz="4000" spc="-1100" dirty="0">
                <a:latin typeface="Arial"/>
                <a:cs typeface="Arial"/>
              </a:rPr>
              <a:t> </a:t>
            </a:r>
            <a:r>
              <a:rPr sz="4000" spc="-5" dirty="0">
                <a:latin typeface="Arial"/>
                <a:cs typeface="Arial"/>
              </a:rPr>
              <a:t>Compromise</a:t>
            </a:r>
            <a:r>
              <a:rPr sz="4000" spc="40" dirty="0">
                <a:latin typeface="Arial"/>
                <a:cs typeface="Arial"/>
              </a:rPr>
              <a:t> </a:t>
            </a:r>
            <a:r>
              <a:rPr sz="4000" spc="-25" dirty="0">
                <a:latin typeface="Arial"/>
                <a:cs typeface="Arial"/>
              </a:rPr>
              <a:t>Ventilation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6639" y="3010892"/>
            <a:ext cx="3406140" cy="3192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15"/>
              </a:lnSpc>
              <a:spcBef>
                <a:spcPts val="95"/>
              </a:spcBef>
              <a:tabLst>
                <a:tab pos="354965" algn="l"/>
              </a:tabLst>
            </a:pPr>
            <a:r>
              <a:rPr sz="2200" b="1" spc="100" dirty="0">
                <a:solidFill>
                  <a:srgbClr val="3366FF"/>
                </a:solidFill>
                <a:latin typeface="Times New Roman"/>
                <a:cs typeface="Times New Roman"/>
              </a:rPr>
              <a:t>COPD</a:t>
            </a:r>
            <a:endParaRPr sz="2200" dirty="0">
              <a:latin typeface="Times New Roman"/>
              <a:cs typeface="Times New Roman"/>
            </a:endParaRPr>
          </a:p>
          <a:p>
            <a:pPr marL="361315">
              <a:lnSpc>
                <a:spcPts val="2315"/>
              </a:lnSpc>
              <a:tabLst>
                <a:tab pos="697865" algn="l"/>
              </a:tabLst>
            </a:pP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Emphysema</a:t>
            </a:r>
            <a:endParaRPr sz="2000" dirty="0">
              <a:latin typeface="Times New Roman"/>
              <a:cs typeface="Times New Roman"/>
            </a:endParaRPr>
          </a:p>
          <a:p>
            <a:pPr marL="361315">
              <a:lnSpc>
                <a:spcPts val="2280"/>
              </a:lnSpc>
              <a:tabLst>
                <a:tab pos="697865" algn="l"/>
              </a:tabLst>
            </a:pPr>
            <a:r>
              <a:rPr sz="2000" spc="75" dirty="0">
                <a:solidFill>
                  <a:srgbClr val="595959"/>
                </a:solidFill>
                <a:latin typeface="Times New Roman"/>
                <a:cs typeface="Times New Roman"/>
              </a:rPr>
              <a:t>Asthma</a:t>
            </a:r>
            <a:endParaRPr sz="2000" dirty="0">
              <a:latin typeface="Times New Roman"/>
              <a:cs typeface="Times New Roman"/>
            </a:endParaRPr>
          </a:p>
          <a:p>
            <a:pPr marL="361315">
              <a:lnSpc>
                <a:spcPts val="2340"/>
              </a:lnSpc>
              <a:tabLst>
                <a:tab pos="697865" algn="l"/>
              </a:tabLst>
            </a:pP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Chronic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Bronchitis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  <a:tabLst>
                <a:tab pos="354965" algn="l"/>
              </a:tabLst>
            </a:pPr>
            <a:r>
              <a:rPr sz="2200" b="1" spc="60" dirty="0">
                <a:solidFill>
                  <a:srgbClr val="3366FF"/>
                </a:solidFill>
                <a:latin typeface="Times New Roman"/>
                <a:cs typeface="Times New Roman"/>
              </a:rPr>
              <a:t>OSA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  <a:tabLst>
                <a:tab pos="354965" algn="l"/>
              </a:tabLst>
            </a:pPr>
            <a:r>
              <a:rPr sz="2200" b="1" spc="-15" dirty="0">
                <a:solidFill>
                  <a:srgbClr val="3366FF"/>
                </a:solidFill>
                <a:latin typeface="Times New Roman"/>
                <a:cs typeface="Times New Roman"/>
              </a:rPr>
              <a:t>Tracheal</a:t>
            </a:r>
            <a:r>
              <a:rPr sz="2200" b="1" spc="1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200" b="1" spc="35" dirty="0">
                <a:solidFill>
                  <a:srgbClr val="3366FF"/>
                </a:solidFill>
                <a:latin typeface="Times New Roman"/>
                <a:cs typeface="Times New Roman"/>
              </a:rPr>
              <a:t>Stenosis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  <a:tabLst>
                <a:tab pos="354965" algn="l"/>
              </a:tabLst>
            </a:pPr>
            <a:r>
              <a:rPr sz="2200" b="1" spc="15" dirty="0">
                <a:solidFill>
                  <a:srgbClr val="3366FF"/>
                </a:solidFill>
                <a:latin typeface="Times New Roman"/>
                <a:cs typeface="Times New Roman"/>
              </a:rPr>
              <a:t>Previous</a:t>
            </a:r>
            <a:r>
              <a:rPr sz="2200" b="1" spc="4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3366FF"/>
                </a:solidFill>
                <a:latin typeface="Times New Roman"/>
                <a:cs typeface="Times New Roman"/>
              </a:rPr>
              <a:t>Lung</a:t>
            </a:r>
            <a:r>
              <a:rPr sz="2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200" b="1" spc="30" dirty="0">
                <a:solidFill>
                  <a:srgbClr val="3366FF"/>
                </a:solidFill>
                <a:latin typeface="Times New Roman"/>
                <a:cs typeface="Times New Roman"/>
              </a:rPr>
              <a:t>Resection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  <a:tabLst>
                <a:tab pos="354965" algn="l"/>
              </a:tabLst>
            </a:pPr>
            <a:r>
              <a:rPr sz="2200" b="1" spc="80" dirty="0">
                <a:solidFill>
                  <a:srgbClr val="3366FF"/>
                </a:solidFill>
                <a:latin typeface="Times New Roman"/>
                <a:cs typeface="Times New Roman"/>
              </a:rPr>
              <a:t>ARDS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457200"/>
            <a:ext cx="83058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7090" marR="5080" indent="-789940" algn="ctr">
              <a:lnSpc>
                <a:spcPct val="100000"/>
              </a:lnSpc>
              <a:spcBef>
                <a:spcPts val="100"/>
              </a:spcBef>
            </a:pPr>
            <a:r>
              <a:rPr lang="en-US" sz="4400" dirty="0">
                <a:latin typeface="Arial"/>
                <a:cs typeface="Arial"/>
              </a:rPr>
              <a:t>The dark side of mechanical ventilation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6639" y="2897580"/>
            <a:ext cx="7082790" cy="384746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354965" algn="l"/>
              </a:tabLst>
            </a:pPr>
            <a:r>
              <a:rPr sz="1950" spc="20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2200" spc="60" dirty="0">
                <a:solidFill>
                  <a:srgbClr val="595959"/>
                </a:solidFill>
                <a:latin typeface="Times New Roman"/>
                <a:cs typeface="Times New Roman"/>
              </a:rPr>
              <a:t>Hypotension</a:t>
            </a:r>
            <a:endParaRPr sz="2200" dirty="0">
              <a:latin typeface="Times New Roman"/>
              <a:cs typeface="Times New Roman"/>
            </a:endParaRPr>
          </a:p>
          <a:p>
            <a:pPr marL="697865" marR="5080" indent="-337185">
              <a:lnSpc>
                <a:spcPts val="2160"/>
              </a:lnSpc>
              <a:spcBef>
                <a:spcPts val="640"/>
              </a:spcBef>
              <a:tabLst>
                <a:tab pos="697865" algn="l"/>
              </a:tabLst>
            </a:pPr>
            <a:r>
              <a:rPr sz="1800" spc="165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Increased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Intrathoracic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Pressure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causing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Decreased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Venous </a:t>
            </a:r>
            <a:r>
              <a:rPr sz="2000" spc="-4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70" dirty="0">
                <a:solidFill>
                  <a:srgbClr val="595959"/>
                </a:solidFill>
                <a:latin typeface="Times New Roman"/>
                <a:cs typeface="Times New Roman"/>
              </a:rPr>
              <a:t>Return</a:t>
            </a:r>
            <a:endParaRPr sz="2000" dirty="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360"/>
              </a:spcBef>
              <a:tabLst>
                <a:tab pos="1047115" algn="l"/>
              </a:tabLst>
            </a:pPr>
            <a:r>
              <a:rPr sz="1600" spc="16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800" spc="10" dirty="0">
                <a:solidFill>
                  <a:srgbClr val="595959"/>
                </a:solidFill>
                <a:latin typeface="Times New Roman"/>
                <a:cs typeface="Times New Roman"/>
              </a:rPr>
              <a:t>Positive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35" dirty="0">
                <a:solidFill>
                  <a:srgbClr val="595959"/>
                </a:solidFill>
                <a:latin typeface="Times New Roman"/>
                <a:cs typeface="Times New Roman"/>
              </a:rPr>
              <a:t>Pressure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20" dirty="0">
                <a:solidFill>
                  <a:srgbClr val="595959"/>
                </a:solidFill>
                <a:latin typeface="Times New Roman"/>
                <a:cs typeface="Times New Roman"/>
              </a:rPr>
              <a:t>Ventilation</a:t>
            </a:r>
            <a:endParaRPr sz="1800" dirty="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385"/>
              </a:spcBef>
              <a:tabLst>
                <a:tab pos="1047115" algn="l"/>
              </a:tabLst>
            </a:pPr>
            <a:r>
              <a:rPr sz="1600" spc="16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800" spc="45" dirty="0">
                <a:solidFill>
                  <a:srgbClr val="595959"/>
                </a:solidFill>
                <a:latin typeface="Times New Roman"/>
                <a:cs typeface="Times New Roman"/>
              </a:rPr>
              <a:t>Potentiated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65" dirty="0">
                <a:solidFill>
                  <a:srgbClr val="595959"/>
                </a:solidFill>
                <a:latin typeface="Times New Roman"/>
                <a:cs typeface="Times New Roman"/>
              </a:rPr>
              <a:t>w/Insufflation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15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18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40" dirty="0">
                <a:solidFill>
                  <a:srgbClr val="595959"/>
                </a:solidFill>
                <a:latin typeface="Times New Roman"/>
                <a:cs typeface="Times New Roman"/>
              </a:rPr>
              <a:t>Laparoscopic</a:t>
            </a:r>
            <a:r>
              <a:rPr sz="18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40" dirty="0">
                <a:solidFill>
                  <a:srgbClr val="595959"/>
                </a:solidFill>
                <a:latin typeface="Times New Roman"/>
                <a:cs typeface="Times New Roman"/>
              </a:rPr>
              <a:t>Procedures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  <a:tabLst>
                <a:tab pos="354965" algn="l"/>
              </a:tabLst>
            </a:pPr>
            <a:r>
              <a:rPr sz="1950" spc="20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2200" spc="95" dirty="0">
                <a:solidFill>
                  <a:srgbClr val="595959"/>
                </a:solidFill>
                <a:latin typeface="Times New Roman"/>
                <a:cs typeface="Times New Roman"/>
              </a:rPr>
              <a:t>Cardiac</a:t>
            </a:r>
            <a:r>
              <a:rPr sz="22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85" dirty="0">
                <a:solidFill>
                  <a:srgbClr val="595959"/>
                </a:solidFill>
                <a:latin typeface="Times New Roman"/>
                <a:cs typeface="Times New Roman"/>
              </a:rPr>
              <a:t>Output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  <a:tabLst>
                <a:tab pos="354965" algn="l"/>
              </a:tabLst>
            </a:pPr>
            <a:r>
              <a:rPr sz="1950" spc="20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Airway</a:t>
            </a:r>
            <a:endParaRPr sz="2200" dirty="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365"/>
              </a:spcBef>
              <a:tabLst>
                <a:tab pos="697865" algn="l"/>
              </a:tabLst>
            </a:pPr>
            <a:r>
              <a:rPr sz="1800" spc="165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2000" spc="40" dirty="0">
                <a:solidFill>
                  <a:srgbClr val="595959"/>
                </a:solidFill>
                <a:latin typeface="Times New Roman"/>
                <a:cs typeface="Times New Roman"/>
              </a:rPr>
              <a:t>Tracheal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Scarring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595959"/>
                </a:solidFill>
                <a:latin typeface="Times New Roman"/>
                <a:cs typeface="Times New Roman"/>
              </a:rPr>
              <a:t>as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9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result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000" spc="2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0" dirty="0">
                <a:solidFill>
                  <a:srgbClr val="595959"/>
                </a:solidFill>
                <a:latin typeface="Times New Roman"/>
                <a:cs typeface="Times New Roman"/>
              </a:rPr>
              <a:t>intubation</a:t>
            </a:r>
            <a:endParaRPr sz="2000" dirty="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360"/>
              </a:spcBef>
              <a:tabLst>
                <a:tab pos="697865" algn="l"/>
              </a:tabLst>
            </a:pPr>
            <a:r>
              <a:rPr sz="1800" spc="165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Negative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Pressure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80" dirty="0">
                <a:solidFill>
                  <a:srgbClr val="595959"/>
                </a:solidFill>
                <a:latin typeface="Times New Roman"/>
                <a:cs typeface="Times New Roman"/>
              </a:rPr>
              <a:t>Pulmonary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90" dirty="0">
                <a:solidFill>
                  <a:srgbClr val="595959"/>
                </a:solidFill>
                <a:latin typeface="Times New Roman"/>
                <a:cs typeface="Times New Roman"/>
              </a:rPr>
              <a:t>Edema</a:t>
            </a:r>
            <a:endParaRPr sz="2000" dirty="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360"/>
              </a:spcBef>
              <a:tabLst>
                <a:tab pos="697865" algn="l"/>
              </a:tabLst>
            </a:pPr>
            <a:r>
              <a:rPr sz="1800" spc="165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Vocal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80" dirty="0">
                <a:solidFill>
                  <a:srgbClr val="595959"/>
                </a:solidFill>
                <a:latin typeface="Times New Roman"/>
                <a:cs typeface="Times New Roman"/>
              </a:rPr>
              <a:t>Cord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80" dirty="0">
                <a:solidFill>
                  <a:srgbClr val="595959"/>
                </a:solidFill>
                <a:latin typeface="Times New Roman"/>
                <a:cs typeface="Times New Roman"/>
              </a:rPr>
              <a:t>Damage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0436" y="606048"/>
            <a:ext cx="3638550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36875" algn="l"/>
              </a:tabLst>
            </a:pPr>
            <a:r>
              <a:rPr spc="235" dirty="0"/>
              <a:t>C</a:t>
            </a:r>
            <a:r>
              <a:rPr spc="204" dirty="0"/>
              <a:t>a</a:t>
            </a:r>
            <a:r>
              <a:rPr spc="-50" dirty="0"/>
              <a:t>s</a:t>
            </a:r>
            <a:r>
              <a:rPr spc="60" dirty="0"/>
              <a:t>e</a:t>
            </a:r>
            <a:r>
              <a:rPr spc="50" dirty="0"/>
              <a:t> </a:t>
            </a:r>
            <a:r>
              <a:rPr spc="-35" dirty="0"/>
              <a:t>S</a:t>
            </a:r>
            <a:r>
              <a:rPr spc="95" dirty="0"/>
              <a:t>t</a:t>
            </a:r>
            <a:r>
              <a:rPr spc="270" dirty="0"/>
              <a:t>u</a:t>
            </a:r>
            <a:r>
              <a:rPr spc="130" dirty="0"/>
              <a:t>d</a:t>
            </a:r>
            <a:r>
              <a:rPr spc="40" dirty="0"/>
              <a:t>y</a:t>
            </a:r>
            <a:r>
              <a:rPr dirty="0"/>
              <a:t>	</a:t>
            </a:r>
            <a:r>
              <a:rPr spc="775" dirty="0"/>
              <a:t>#</a:t>
            </a:r>
            <a:r>
              <a:rPr spc="4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" y="2674110"/>
            <a:ext cx="9753599" cy="4782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43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90" dirty="0">
                <a:solidFill>
                  <a:srgbClr val="595959"/>
                </a:solidFill>
                <a:latin typeface="Times New Roman"/>
                <a:cs typeface="Times New Roman"/>
              </a:rPr>
              <a:t>y/o</a:t>
            </a:r>
            <a:r>
              <a:rPr sz="19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25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2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35" dirty="0">
                <a:solidFill>
                  <a:srgbClr val="595959"/>
                </a:solidFill>
                <a:latin typeface="Times New Roman"/>
                <a:cs typeface="Times New Roman"/>
              </a:rPr>
              <a:t>Robotic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Vaginal</a:t>
            </a:r>
            <a:r>
              <a:rPr sz="1900" spc="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40" dirty="0">
                <a:solidFill>
                  <a:srgbClr val="595959"/>
                </a:solidFill>
                <a:latin typeface="Times New Roman"/>
                <a:cs typeface="Times New Roman"/>
              </a:rPr>
              <a:t>Hysterectomy</a:t>
            </a:r>
            <a:r>
              <a:rPr sz="19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20" dirty="0">
                <a:solidFill>
                  <a:srgbClr val="595959"/>
                </a:solidFill>
                <a:latin typeface="Times New Roman"/>
                <a:cs typeface="Times New Roman"/>
              </a:rPr>
              <a:t>w/BSO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secondary</a:t>
            </a:r>
            <a:r>
              <a:rPr sz="19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6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19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40" dirty="0">
                <a:solidFill>
                  <a:srgbClr val="595959"/>
                </a:solidFill>
                <a:latin typeface="Times New Roman"/>
                <a:cs typeface="Times New Roman"/>
              </a:rPr>
              <a:t>Tumor.</a:t>
            </a:r>
            <a:endParaRPr sz="1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  <a:tabLst>
                <a:tab pos="354965" algn="l"/>
              </a:tabLst>
            </a:pPr>
            <a:r>
              <a:rPr sz="1900" spc="85" dirty="0">
                <a:solidFill>
                  <a:srgbClr val="595959"/>
                </a:solidFill>
                <a:latin typeface="Times New Roman"/>
                <a:cs typeface="Times New Roman"/>
              </a:rPr>
              <a:t>PMHx:</a:t>
            </a:r>
            <a:endParaRPr sz="1900" dirty="0">
              <a:latin typeface="Times New Roman"/>
              <a:cs typeface="Times New Roman"/>
            </a:endParaRPr>
          </a:p>
          <a:p>
            <a:pPr marL="647065" indent="-28575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1700" spc="55" dirty="0">
                <a:solidFill>
                  <a:srgbClr val="595959"/>
                </a:solidFill>
                <a:latin typeface="Times New Roman"/>
                <a:cs typeface="Times New Roman"/>
              </a:rPr>
              <a:t>BMI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25" dirty="0">
                <a:solidFill>
                  <a:srgbClr val="595959"/>
                </a:solidFill>
                <a:latin typeface="Times New Roman"/>
                <a:cs typeface="Times New Roman"/>
              </a:rPr>
              <a:t>48.2</a:t>
            </a:r>
            <a:endParaRPr sz="1700" dirty="0">
              <a:latin typeface="Times New Roman"/>
              <a:cs typeface="Times New Roman"/>
            </a:endParaRPr>
          </a:p>
          <a:p>
            <a:pPr marL="647065" indent="-285750">
              <a:lnSpc>
                <a:spcPct val="100000"/>
              </a:lnSpc>
              <a:spcBef>
                <a:spcPts val="190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1700" spc="30" dirty="0">
                <a:solidFill>
                  <a:srgbClr val="595959"/>
                </a:solidFill>
                <a:latin typeface="Times New Roman"/>
                <a:cs typeface="Times New Roman"/>
              </a:rPr>
              <a:t>Obstructive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15" dirty="0">
                <a:solidFill>
                  <a:srgbClr val="595959"/>
                </a:solidFill>
                <a:latin typeface="Times New Roman"/>
                <a:cs typeface="Times New Roman"/>
              </a:rPr>
              <a:t>Sleep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60" dirty="0">
                <a:solidFill>
                  <a:srgbClr val="595959"/>
                </a:solidFill>
                <a:latin typeface="Times New Roman"/>
                <a:cs typeface="Times New Roman"/>
              </a:rPr>
              <a:t>Apnea</a:t>
            </a:r>
            <a:r>
              <a:rPr sz="17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(CPAP</a:t>
            </a:r>
            <a:r>
              <a:rPr sz="17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55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17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50" dirty="0">
                <a:solidFill>
                  <a:srgbClr val="595959"/>
                </a:solidFill>
                <a:latin typeface="Times New Roman"/>
                <a:cs typeface="Times New Roman"/>
              </a:rPr>
              <a:t>home)</a:t>
            </a:r>
            <a:endParaRPr sz="1700" dirty="0">
              <a:latin typeface="Times New Roman"/>
              <a:cs typeface="Times New Roman"/>
            </a:endParaRPr>
          </a:p>
          <a:p>
            <a:pPr marL="647065" indent="-285750">
              <a:lnSpc>
                <a:spcPct val="100000"/>
              </a:lnSpc>
              <a:spcBef>
                <a:spcPts val="190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1700" spc="125" dirty="0">
                <a:solidFill>
                  <a:srgbClr val="595959"/>
                </a:solidFill>
                <a:latin typeface="Times New Roman"/>
                <a:cs typeface="Times New Roman"/>
              </a:rPr>
              <a:t>HTN</a:t>
            </a:r>
            <a:endParaRPr sz="1700" dirty="0">
              <a:latin typeface="Times New Roman"/>
              <a:cs typeface="Times New Roman"/>
            </a:endParaRPr>
          </a:p>
          <a:p>
            <a:pPr marL="647065" indent="-285750">
              <a:lnSpc>
                <a:spcPct val="100000"/>
              </a:lnSpc>
              <a:spcBef>
                <a:spcPts val="195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1700" spc="125" dirty="0">
                <a:solidFill>
                  <a:srgbClr val="595959"/>
                </a:solidFill>
                <a:latin typeface="Times New Roman"/>
                <a:cs typeface="Times New Roman"/>
              </a:rPr>
              <a:t>NIDDM</a:t>
            </a: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  <a:tabLst>
                <a:tab pos="354965" algn="l"/>
              </a:tabLst>
            </a:pP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Position: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Steep</a:t>
            </a:r>
            <a:r>
              <a:rPr sz="1900" spc="35" dirty="0">
                <a:solidFill>
                  <a:srgbClr val="595959"/>
                </a:solidFill>
                <a:latin typeface="Times New Roman"/>
                <a:cs typeface="Times New Roman"/>
              </a:rPr>
              <a:t> Trendelenburg</a:t>
            </a:r>
            <a:endParaRPr lang="en-US" sz="1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  <a:tabLst>
                <a:tab pos="354965" algn="l"/>
              </a:tabLst>
            </a:pPr>
            <a:r>
              <a:rPr sz="1900" spc="35" dirty="0">
                <a:solidFill>
                  <a:srgbClr val="595959"/>
                </a:solidFill>
                <a:latin typeface="Times New Roman"/>
                <a:cs typeface="Times New Roman"/>
              </a:rPr>
              <a:t>Anesthesia:</a:t>
            </a:r>
            <a:r>
              <a:rPr sz="19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55" dirty="0">
                <a:solidFill>
                  <a:srgbClr val="595959"/>
                </a:solidFill>
                <a:latin typeface="Times New Roman"/>
                <a:cs typeface="Times New Roman"/>
              </a:rPr>
              <a:t>General</a:t>
            </a:r>
            <a:r>
              <a:rPr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40" dirty="0">
                <a:solidFill>
                  <a:srgbClr val="595959"/>
                </a:solidFill>
                <a:latin typeface="Times New Roman"/>
                <a:cs typeface="Times New Roman"/>
              </a:rPr>
              <a:t>Anesthesia</a:t>
            </a:r>
            <a:endParaRPr sz="1900" dirty="0">
              <a:latin typeface="Times New Roman"/>
              <a:cs typeface="Times New Roman"/>
            </a:endParaRPr>
          </a:p>
          <a:p>
            <a:pPr marL="647065" indent="-28575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Paralyzed</a:t>
            </a:r>
            <a:endParaRPr sz="1700" dirty="0">
              <a:latin typeface="Times New Roman"/>
              <a:cs typeface="Times New Roman"/>
            </a:endParaRPr>
          </a:p>
          <a:p>
            <a:pPr marL="647065" indent="-285750">
              <a:lnSpc>
                <a:spcPct val="100000"/>
              </a:lnSpc>
              <a:spcBef>
                <a:spcPts val="190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1700" spc="80" dirty="0">
                <a:solidFill>
                  <a:srgbClr val="595959"/>
                </a:solidFill>
                <a:latin typeface="Times New Roman"/>
                <a:cs typeface="Times New Roman"/>
              </a:rPr>
              <a:t>ETT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  <a:tabLst>
                <a:tab pos="354965" algn="l"/>
              </a:tabLst>
            </a:pPr>
            <a:r>
              <a:rPr sz="1900" spc="20" dirty="0">
                <a:solidFill>
                  <a:srgbClr val="FF0000"/>
                </a:solidFill>
                <a:latin typeface="Times New Roman"/>
                <a:cs typeface="Times New Roman"/>
              </a:rPr>
              <a:t>Ventilation:</a:t>
            </a:r>
            <a:r>
              <a:rPr sz="19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90" dirty="0">
                <a:solidFill>
                  <a:srgbClr val="FF0000"/>
                </a:solidFill>
                <a:latin typeface="Times New Roman"/>
                <a:cs typeface="Times New Roman"/>
              </a:rPr>
              <a:t>WHAT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125" dirty="0">
                <a:solidFill>
                  <a:srgbClr val="FF0000"/>
                </a:solidFill>
                <a:latin typeface="Times New Roman"/>
                <a:cs typeface="Times New Roman"/>
              </a:rPr>
              <a:t>WOULD</a:t>
            </a:r>
            <a:r>
              <a:rPr sz="19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60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55" dirty="0">
                <a:solidFill>
                  <a:srgbClr val="FF0000"/>
                </a:solidFill>
                <a:latin typeface="Times New Roman"/>
                <a:cs typeface="Times New Roman"/>
              </a:rPr>
              <a:t>DO?</a:t>
            </a:r>
            <a:r>
              <a:rPr lang="en-US" sz="1900" spc="55" dirty="0">
                <a:solidFill>
                  <a:srgbClr val="FF0000"/>
                </a:solidFill>
                <a:latin typeface="Times New Roman"/>
                <a:cs typeface="Times New Roman"/>
              </a:rPr>
              <a:t> What are your starting settings?</a:t>
            </a:r>
          </a:p>
          <a:p>
            <a:pPr marL="12700">
              <a:lnSpc>
                <a:spcPct val="100000"/>
              </a:lnSpc>
              <a:spcBef>
                <a:spcPts val="1590"/>
              </a:spcBef>
              <a:tabLst>
                <a:tab pos="354965" algn="l"/>
              </a:tabLst>
            </a:pPr>
            <a:r>
              <a:rPr lang="en-US" sz="1900" spc="55" dirty="0">
                <a:solidFill>
                  <a:srgbClr val="FF0000"/>
                </a:solidFill>
                <a:latin typeface="Times New Roman"/>
                <a:cs typeface="Times New Roman"/>
              </a:rPr>
              <a:t>TV?     I:E ratio?      Rate?        Mode?</a:t>
            </a:r>
            <a:endParaRPr sz="1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0436" y="685280"/>
            <a:ext cx="3638550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36875" algn="l"/>
              </a:tabLst>
            </a:pPr>
            <a:r>
              <a:rPr spc="235" dirty="0"/>
              <a:t>C</a:t>
            </a:r>
            <a:r>
              <a:rPr spc="204" dirty="0"/>
              <a:t>a</a:t>
            </a:r>
            <a:r>
              <a:rPr spc="-50" dirty="0"/>
              <a:t>s</a:t>
            </a:r>
            <a:r>
              <a:rPr spc="60" dirty="0"/>
              <a:t>e</a:t>
            </a:r>
            <a:r>
              <a:rPr spc="50" dirty="0"/>
              <a:t> </a:t>
            </a:r>
            <a:r>
              <a:rPr spc="-35" dirty="0"/>
              <a:t>S</a:t>
            </a:r>
            <a:r>
              <a:rPr spc="95" dirty="0"/>
              <a:t>t</a:t>
            </a:r>
            <a:r>
              <a:rPr spc="270" dirty="0"/>
              <a:t>u</a:t>
            </a:r>
            <a:r>
              <a:rPr spc="130" dirty="0"/>
              <a:t>d</a:t>
            </a:r>
            <a:r>
              <a:rPr spc="40" dirty="0"/>
              <a:t>y</a:t>
            </a:r>
            <a:r>
              <a:rPr dirty="0"/>
              <a:t>	</a:t>
            </a:r>
            <a:r>
              <a:rPr spc="775" dirty="0"/>
              <a:t>#</a:t>
            </a:r>
            <a:r>
              <a:rPr spc="4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2604956"/>
            <a:ext cx="9829800" cy="4504438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  <a:tabLst>
                <a:tab pos="349250" algn="l"/>
              </a:tabLst>
            </a:pPr>
            <a:r>
              <a:rPr sz="1450" spc="13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600" spc="10" dirty="0">
                <a:solidFill>
                  <a:srgbClr val="595959"/>
                </a:solidFill>
                <a:latin typeface="Times New Roman"/>
                <a:cs typeface="Times New Roman"/>
              </a:rPr>
              <a:t>38</a:t>
            </a:r>
            <a:r>
              <a:rPr sz="16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155" dirty="0">
                <a:solidFill>
                  <a:srgbClr val="595959"/>
                </a:solidFill>
                <a:latin typeface="Times New Roman"/>
                <a:cs typeface="Times New Roman"/>
              </a:rPr>
              <a:t>y/o</a:t>
            </a:r>
            <a:r>
              <a:rPr sz="16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12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16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10" dirty="0">
                <a:solidFill>
                  <a:srgbClr val="595959"/>
                </a:solidFill>
                <a:latin typeface="Times New Roman"/>
                <a:cs typeface="Times New Roman"/>
              </a:rPr>
              <a:t>for </a:t>
            </a:r>
            <a:r>
              <a:rPr sz="1600" spc="30" dirty="0">
                <a:solidFill>
                  <a:srgbClr val="595959"/>
                </a:solidFill>
                <a:latin typeface="Times New Roman"/>
                <a:cs typeface="Times New Roman"/>
              </a:rPr>
              <a:t>Laprascopic</a:t>
            </a:r>
            <a:r>
              <a:rPr sz="16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25" dirty="0">
                <a:solidFill>
                  <a:srgbClr val="595959"/>
                </a:solidFill>
                <a:latin typeface="Times New Roman"/>
                <a:cs typeface="Times New Roman"/>
              </a:rPr>
              <a:t>Robotic</a:t>
            </a:r>
            <a:r>
              <a:rPr sz="16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35" dirty="0">
                <a:solidFill>
                  <a:srgbClr val="595959"/>
                </a:solidFill>
                <a:latin typeface="Times New Roman"/>
                <a:cs typeface="Times New Roman"/>
              </a:rPr>
              <a:t>Gastric </a:t>
            </a:r>
            <a:r>
              <a:rPr sz="1600" spc="10" dirty="0">
                <a:solidFill>
                  <a:srgbClr val="595959"/>
                </a:solidFill>
                <a:latin typeface="Times New Roman"/>
                <a:cs typeface="Times New Roman"/>
              </a:rPr>
              <a:t>Bypass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349250" algn="l"/>
              </a:tabLst>
            </a:pPr>
            <a:r>
              <a:rPr sz="1450" spc="13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600" spc="45" dirty="0">
                <a:solidFill>
                  <a:srgbClr val="595959"/>
                </a:solidFill>
                <a:latin typeface="Times New Roman"/>
                <a:cs typeface="Times New Roman"/>
              </a:rPr>
              <a:t>BMI</a:t>
            </a:r>
            <a:r>
              <a:rPr sz="16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20" dirty="0">
                <a:solidFill>
                  <a:srgbClr val="595959"/>
                </a:solidFill>
                <a:latin typeface="Times New Roman"/>
                <a:cs typeface="Times New Roman"/>
              </a:rPr>
              <a:t>58.2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49250" algn="l"/>
              </a:tabLst>
            </a:pPr>
            <a:r>
              <a:rPr sz="1450" spc="13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600" spc="70" dirty="0">
                <a:solidFill>
                  <a:srgbClr val="595959"/>
                </a:solidFill>
                <a:latin typeface="Times New Roman"/>
                <a:cs typeface="Times New Roman"/>
              </a:rPr>
              <a:t>PMHx:</a:t>
            </a:r>
            <a:endParaRPr sz="1600" dirty="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985"/>
              </a:spcBef>
              <a:tabLst>
                <a:tab pos="697865" algn="l"/>
              </a:tabLst>
            </a:pPr>
            <a:r>
              <a:rPr sz="1450" spc="13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600" spc="110" dirty="0">
                <a:solidFill>
                  <a:srgbClr val="595959"/>
                </a:solidFill>
                <a:latin typeface="Times New Roman"/>
                <a:cs typeface="Times New Roman"/>
              </a:rPr>
              <a:t>HTN</a:t>
            </a:r>
            <a:endParaRPr sz="1600" dirty="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985"/>
              </a:spcBef>
              <a:tabLst>
                <a:tab pos="697865" algn="l"/>
              </a:tabLst>
            </a:pPr>
            <a:r>
              <a:rPr sz="1450" spc="13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600" spc="114" dirty="0">
                <a:solidFill>
                  <a:srgbClr val="595959"/>
                </a:solidFill>
                <a:latin typeface="Times New Roman"/>
                <a:cs typeface="Times New Roman"/>
              </a:rPr>
              <a:t>NIDDM</a:t>
            </a:r>
            <a:endParaRPr sz="1600" dirty="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985"/>
              </a:spcBef>
              <a:tabLst>
                <a:tab pos="697865" algn="l"/>
              </a:tabLst>
            </a:pPr>
            <a:r>
              <a:rPr sz="1450" spc="13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600" spc="50" dirty="0">
                <a:solidFill>
                  <a:srgbClr val="595959"/>
                </a:solidFill>
                <a:latin typeface="Times New Roman"/>
                <a:cs typeface="Times New Roman"/>
              </a:rPr>
              <a:t>OSA</a:t>
            </a:r>
            <a:endParaRPr sz="1600" dirty="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980"/>
              </a:spcBef>
              <a:tabLst>
                <a:tab pos="697865" algn="l"/>
              </a:tabLst>
            </a:pPr>
            <a:r>
              <a:rPr sz="1450" spc="13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600" spc="80" dirty="0">
                <a:solidFill>
                  <a:srgbClr val="595959"/>
                </a:solidFill>
                <a:latin typeface="Times New Roman"/>
                <a:cs typeface="Times New Roman"/>
              </a:rPr>
              <a:t>Gout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49250" algn="l"/>
              </a:tabLst>
            </a:pPr>
            <a:r>
              <a:rPr sz="1450" spc="13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600" spc="45" dirty="0">
                <a:solidFill>
                  <a:srgbClr val="595959"/>
                </a:solidFill>
                <a:latin typeface="Times New Roman"/>
                <a:cs typeface="Times New Roman"/>
              </a:rPr>
              <a:t>PSHx:</a:t>
            </a:r>
            <a:endParaRPr sz="1600" dirty="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985"/>
              </a:spcBef>
              <a:tabLst>
                <a:tab pos="697865" algn="l"/>
              </a:tabLst>
            </a:pPr>
            <a:r>
              <a:rPr sz="1450" spc="13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600" spc="40" dirty="0">
                <a:solidFill>
                  <a:srgbClr val="595959"/>
                </a:solidFill>
                <a:latin typeface="Times New Roman"/>
                <a:cs typeface="Times New Roman"/>
              </a:rPr>
              <a:t>Appy</a:t>
            </a:r>
            <a:endParaRPr sz="1600" dirty="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985"/>
              </a:spcBef>
              <a:tabLst>
                <a:tab pos="697865" algn="l"/>
              </a:tabLst>
            </a:pPr>
            <a:r>
              <a:rPr sz="1450" spc="13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600" spc="25" dirty="0">
                <a:solidFill>
                  <a:srgbClr val="595959"/>
                </a:solidFill>
                <a:latin typeface="Times New Roman"/>
                <a:cs typeface="Times New Roman"/>
              </a:rPr>
              <a:t>Cholecystectomy</a:t>
            </a:r>
            <a:endParaRPr sz="1600" dirty="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985"/>
              </a:spcBef>
              <a:tabLst>
                <a:tab pos="697865" algn="l"/>
              </a:tabLst>
            </a:pPr>
            <a:r>
              <a:rPr sz="1450" spc="13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600" spc="35" dirty="0">
                <a:solidFill>
                  <a:srgbClr val="595959"/>
                </a:solidFill>
                <a:latin typeface="Times New Roman"/>
                <a:cs typeface="Times New Roman"/>
              </a:rPr>
              <a:t>Shoulder</a:t>
            </a:r>
            <a:r>
              <a:rPr sz="16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35" dirty="0">
                <a:solidFill>
                  <a:srgbClr val="595959"/>
                </a:solidFill>
                <a:latin typeface="Times New Roman"/>
                <a:cs typeface="Times New Roman"/>
              </a:rPr>
              <a:t>Athroscopy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349250" algn="l"/>
              </a:tabLst>
            </a:pPr>
            <a:r>
              <a:rPr sz="1450" spc="13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600" spc="80" dirty="0">
                <a:solidFill>
                  <a:srgbClr val="FF0000"/>
                </a:solidFill>
                <a:latin typeface="Times New Roman"/>
                <a:cs typeface="Times New Roman"/>
              </a:rPr>
              <a:t>What</a:t>
            </a:r>
            <a:r>
              <a:rPr sz="160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16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35" dirty="0">
                <a:solidFill>
                  <a:srgbClr val="FF0000"/>
                </a:solidFill>
                <a:latin typeface="Times New Roman"/>
                <a:cs typeface="Times New Roman"/>
              </a:rPr>
              <a:t>your</a:t>
            </a:r>
            <a:r>
              <a:rPr sz="1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30" dirty="0">
                <a:solidFill>
                  <a:srgbClr val="FF0000"/>
                </a:solidFill>
                <a:latin typeface="Times New Roman"/>
                <a:cs typeface="Times New Roman"/>
              </a:rPr>
              <a:t>Anesthesia</a:t>
            </a:r>
            <a:r>
              <a:rPr sz="16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6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160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15" dirty="0">
                <a:solidFill>
                  <a:srgbClr val="FF0000"/>
                </a:solidFill>
                <a:latin typeface="Times New Roman"/>
                <a:cs typeface="Times New Roman"/>
              </a:rPr>
              <a:t>Ventilation</a:t>
            </a:r>
            <a:r>
              <a:rPr sz="16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25" dirty="0">
                <a:solidFill>
                  <a:srgbClr val="FF0000"/>
                </a:solidFill>
                <a:latin typeface="Times New Roman"/>
                <a:cs typeface="Times New Roman"/>
              </a:rPr>
              <a:t>Plan?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5206" y="1009902"/>
            <a:ext cx="5409565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36875" algn="l"/>
              </a:tabLst>
            </a:pPr>
            <a:r>
              <a:rPr spc="114" dirty="0"/>
              <a:t>Case</a:t>
            </a:r>
            <a:r>
              <a:rPr spc="55" dirty="0"/>
              <a:t> </a:t>
            </a:r>
            <a:r>
              <a:rPr spc="100" dirty="0"/>
              <a:t>Study	</a:t>
            </a:r>
            <a:r>
              <a:rPr spc="405" dirty="0"/>
              <a:t>#2</a:t>
            </a:r>
            <a:r>
              <a:rPr spc="-35" dirty="0"/>
              <a:t> </a:t>
            </a:r>
            <a:r>
              <a:rPr spc="8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4805" y="2717673"/>
            <a:ext cx="6112510" cy="425958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  <a:tabLst>
                <a:tab pos="349250" algn="l"/>
              </a:tabLst>
            </a:pPr>
            <a:r>
              <a:rPr sz="1700" spc="17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Position: </a:t>
            </a:r>
            <a:r>
              <a:rPr sz="1900" dirty="0">
                <a:solidFill>
                  <a:srgbClr val="595959"/>
                </a:solidFill>
                <a:latin typeface="Times New Roman"/>
                <a:cs typeface="Times New Roman"/>
              </a:rPr>
              <a:t>Reverse</a:t>
            </a:r>
            <a:r>
              <a:rPr sz="1900" spc="35" dirty="0">
                <a:solidFill>
                  <a:srgbClr val="595959"/>
                </a:solidFill>
                <a:latin typeface="Times New Roman"/>
                <a:cs typeface="Times New Roman"/>
              </a:rPr>
              <a:t> Trendelenburg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49250" algn="l"/>
              </a:tabLst>
            </a:pPr>
            <a:r>
              <a:rPr sz="1700" spc="17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900" spc="50" dirty="0">
                <a:solidFill>
                  <a:srgbClr val="595959"/>
                </a:solidFill>
                <a:latin typeface="Times New Roman"/>
                <a:cs typeface="Times New Roman"/>
              </a:rPr>
              <a:t>Endoscopy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20" dirty="0">
                <a:solidFill>
                  <a:srgbClr val="595959"/>
                </a:solidFill>
                <a:latin typeface="Times New Roman"/>
                <a:cs typeface="Times New Roman"/>
              </a:rPr>
              <a:t>performed(?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35" dirty="0">
                <a:solidFill>
                  <a:srgbClr val="595959"/>
                </a:solidFill>
                <a:latin typeface="Times New Roman"/>
                <a:cs typeface="Times New Roman"/>
              </a:rPr>
              <a:t>Surgeon</a:t>
            </a:r>
            <a:r>
              <a:rPr sz="1900" spc="55" dirty="0">
                <a:solidFill>
                  <a:srgbClr val="595959"/>
                </a:solidFill>
                <a:latin typeface="Times New Roman"/>
                <a:cs typeface="Times New Roman"/>
              </a:rPr>
              <a:t> Dependent)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  <a:tabLst>
                <a:tab pos="349250" algn="l"/>
              </a:tabLst>
            </a:pPr>
            <a:r>
              <a:rPr sz="1700" spc="17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900" spc="55" dirty="0">
                <a:solidFill>
                  <a:srgbClr val="595959"/>
                </a:solidFill>
                <a:latin typeface="Times New Roman"/>
                <a:cs typeface="Times New Roman"/>
              </a:rPr>
              <a:t>Induction:</a:t>
            </a:r>
            <a:endParaRPr sz="190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145"/>
              </a:spcBef>
              <a:tabLst>
                <a:tab pos="697865" algn="l"/>
              </a:tabLst>
            </a:pPr>
            <a:r>
              <a:rPr sz="1700" spc="17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Lidocaine</a:t>
            </a:r>
            <a:endParaRPr sz="190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145"/>
              </a:spcBef>
              <a:tabLst>
                <a:tab pos="697865" algn="l"/>
              </a:tabLst>
            </a:pPr>
            <a:r>
              <a:rPr sz="1700" spc="17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Propofol</a:t>
            </a:r>
            <a:endParaRPr sz="190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145"/>
              </a:spcBef>
              <a:tabLst>
                <a:tab pos="697865" algn="l"/>
              </a:tabLst>
            </a:pPr>
            <a:r>
              <a:rPr sz="1700" spc="17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Succinylcholine</a:t>
            </a:r>
            <a:endParaRPr sz="190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140"/>
              </a:spcBef>
              <a:tabLst>
                <a:tab pos="697865" algn="l"/>
              </a:tabLst>
            </a:pPr>
            <a:r>
              <a:rPr sz="1700" spc="17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Remi-Fentanyl</a:t>
            </a:r>
            <a:endParaRPr sz="1900">
              <a:latin typeface="Times New Roman"/>
              <a:cs typeface="Times New Roman"/>
            </a:endParaRPr>
          </a:p>
          <a:p>
            <a:pPr marL="698500">
              <a:lnSpc>
                <a:spcPts val="2050"/>
              </a:lnSpc>
              <a:spcBef>
                <a:spcPts val="145"/>
              </a:spcBef>
              <a:tabLst>
                <a:tab pos="1097280" algn="l"/>
              </a:tabLst>
            </a:pPr>
            <a:r>
              <a:rPr sz="1700" spc="17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900" spc="90" dirty="0">
                <a:solidFill>
                  <a:srgbClr val="595959"/>
                </a:solidFill>
                <a:latin typeface="Times New Roman"/>
                <a:cs typeface="Times New Roman"/>
              </a:rPr>
              <a:t>(.75mcg/kg/min</a:t>
            </a:r>
            <a:r>
              <a:rPr sz="1900" spc="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followed</a:t>
            </a:r>
            <a:r>
              <a:rPr sz="19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50" dirty="0">
                <a:solidFill>
                  <a:srgbClr val="595959"/>
                </a:solidFill>
                <a:latin typeface="Times New Roman"/>
                <a:cs typeface="Times New Roman"/>
              </a:rPr>
              <a:t>with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8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9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55" dirty="0">
                <a:solidFill>
                  <a:srgbClr val="595959"/>
                </a:solidFill>
                <a:latin typeface="Times New Roman"/>
                <a:cs typeface="Times New Roman"/>
              </a:rPr>
              <a:t>maintenance</a:t>
            </a:r>
            <a:r>
              <a:rPr sz="1900" spc="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endParaRPr sz="1900">
              <a:latin typeface="Times New Roman"/>
              <a:cs typeface="Times New Roman"/>
            </a:endParaRPr>
          </a:p>
          <a:p>
            <a:pPr marL="1035050">
              <a:lnSpc>
                <a:spcPts val="2050"/>
              </a:lnSpc>
            </a:pPr>
            <a:r>
              <a:rPr sz="1900" spc="95" dirty="0">
                <a:solidFill>
                  <a:srgbClr val="595959"/>
                </a:solidFill>
                <a:latin typeface="Times New Roman"/>
                <a:cs typeface="Times New Roman"/>
              </a:rPr>
              <a:t>.2mcg/kg/min)</a:t>
            </a:r>
            <a:endParaRPr sz="190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145"/>
              </a:spcBef>
              <a:tabLst>
                <a:tab pos="697865" algn="l"/>
              </a:tabLst>
            </a:pPr>
            <a:r>
              <a:rPr sz="1700" spc="17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900" spc="55" dirty="0">
                <a:solidFill>
                  <a:srgbClr val="595959"/>
                </a:solidFill>
                <a:latin typeface="Times New Roman"/>
                <a:cs typeface="Times New Roman"/>
              </a:rPr>
              <a:t>Dilaudid</a:t>
            </a:r>
            <a:endParaRPr sz="19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145"/>
              </a:spcBef>
              <a:tabLst>
                <a:tab pos="1035050" algn="l"/>
              </a:tabLst>
            </a:pPr>
            <a:r>
              <a:rPr sz="1700" spc="17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900" spc="35" dirty="0">
                <a:solidFill>
                  <a:srgbClr val="595959"/>
                </a:solidFill>
                <a:latin typeface="Times New Roman"/>
                <a:cs typeface="Times New Roman"/>
              </a:rPr>
              <a:t>1mg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6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5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60" dirty="0">
                <a:solidFill>
                  <a:srgbClr val="595959"/>
                </a:solidFill>
                <a:latin typeface="Times New Roman"/>
                <a:cs typeface="Times New Roman"/>
              </a:rPr>
              <a:t>end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900" spc="1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55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procedure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  <a:tabLst>
                <a:tab pos="349250" algn="l"/>
              </a:tabLst>
            </a:pPr>
            <a:r>
              <a:rPr sz="1700" spc="17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900" spc="65" dirty="0">
                <a:solidFill>
                  <a:srgbClr val="FF0000"/>
                </a:solidFill>
                <a:latin typeface="Times New Roman"/>
                <a:cs typeface="Times New Roman"/>
              </a:rPr>
              <a:t>ERAS</a:t>
            </a:r>
            <a:r>
              <a:rPr sz="19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50" dirty="0">
                <a:solidFill>
                  <a:srgbClr val="FF0000"/>
                </a:solidFill>
                <a:latin typeface="Times New Roman"/>
                <a:cs typeface="Times New Roman"/>
              </a:rPr>
              <a:t>Protocol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-35" dirty="0">
                <a:solidFill>
                  <a:srgbClr val="FF0000"/>
                </a:solidFill>
                <a:latin typeface="Times New Roman"/>
                <a:cs typeface="Times New Roman"/>
              </a:rPr>
              <a:t>if</a:t>
            </a:r>
            <a:r>
              <a:rPr sz="19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25" dirty="0">
                <a:solidFill>
                  <a:srgbClr val="FF0000"/>
                </a:solidFill>
                <a:latin typeface="Times New Roman"/>
                <a:cs typeface="Times New Roman"/>
              </a:rPr>
              <a:t>surgeons </a:t>
            </a:r>
            <a:r>
              <a:rPr sz="1900" spc="40" dirty="0">
                <a:solidFill>
                  <a:srgbClr val="FF0000"/>
                </a:solidFill>
                <a:latin typeface="Times New Roman"/>
                <a:cs typeface="Times New Roman"/>
              </a:rPr>
              <a:t>are </a:t>
            </a:r>
            <a:r>
              <a:rPr sz="1900" spc="80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19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60" dirty="0">
                <a:solidFill>
                  <a:srgbClr val="FF0000"/>
                </a:solidFill>
                <a:latin typeface="Times New Roman"/>
                <a:cs typeface="Times New Roman"/>
              </a:rPr>
              <a:t>board.</a:t>
            </a:r>
            <a:endParaRPr sz="1900">
              <a:latin typeface="Times New Roman"/>
              <a:cs typeface="Times New Roman"/>
            </a:endParaRPr>
          </a:p>
          <a:p>
            <a:pPr marL="1598930" marR="73025" indent="-1586865">
              <a:lnSpc>
                <a:spcPct val="106300"/>
              </a:lnSpc>
              <a:tabLst>
                <a:tab pos="349250" algn="l"/>
              </a:tabLst>
            </a:pPr>
            <a:r>
              <a:rPr sz="1700" spc="17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900" spc="55" dirty="0">
                <a:solidFill>
                  <a:srgbClr val="595959"/>
                </a:solidFill>
                <a:latin typeface="Times New Roman"/>
                <a:cs typeface="Times New Roman"/>
              </a:rPr>
              <a:t>Minimal 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Post-op </a:t>
            </a:r>
            <a:r>
              <a:rPr sz="1900" spc="55" dirty="0">
                <a:solidFill>
                  <a:srgbClr val="595959"/>
                </a:solidFill>
                <a:latin typeface="Times New Roman"/>
                <a:cs typeface="Times New Roman"/>
              </a:rPr>
              <a:t>Pain </a:t>
            </a:r>
            <a:r>
              <a:rPr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secondary </a:t>
            </a:r>
            <a:r>
              <a:rPr sz="1900" spc="55" dirty="0">
                <a:solidFill>
                  <a:srgbClr val="595959"/>
                </a:solidFill>
                <a:latin typeface="Times New Roman"/>
                <a:cs typeface="Times New Roman"/>
              </a:rPr>
              <a:t>to 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local </a:t>
            </a:r>
            <a:r>
              <a:rPr sz="1900" spc="35" dirty="0">
                <a:solidFill>
                  <a:srgbClr val="595959"/>
                </a:solidFill>
                <a:latin typeface="Times New Roman"/>
                <a:cs typeface="Times New Roman"/>
              </a:rPr>
              <a:t>anesthetic </a:t>
            </a:r>
            <a:r>
              <a:rPr sz="19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85" dirty="0">
                <a:solidFill>
                  <a:srgbClr val="FF0000"/>
                </a:solidFill>
                <a:latin typeface="Times New Roman"/>
                <a:cs typeface="Times New Roman"/>
              </a:rPr>
              <a:t>How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45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19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55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r>
              <a:rPr sz="19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20" dirty="0">
                <a:solidFill>
                  <a:srgbClr val="FF0000"/>
                </a:solidFill>
                <a:latin typeface="Times New Roman"/>
                <a:cs typeface="Times New Roman"/>
              </a:rPr>
              <a:t>going</a:t>
            </a:r>
            <a:r>
              <a:rPr sz="19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55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9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20" dirty="0">
                <a:solidFill>
                  <a:srgbClr val="FF0000"/>
                </a:solidFill>
                <a:latin typeface="Times New Roman"/>
                <a:cs typeface="Times New Roman"/>
              </a:rPr>
              <a:t>ventilate</a:t>
            </a:r>
            <a:r>
              <a:rPr sz="19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30" dirty="0">
                <a:solidFill>
                  <a:srgbClr val="FF0000"/>
                </a:solidFill>
                <a:latin typeface="Times New Roman"/>
                <a:cs typeface="Times New Roman"/>
              </a:rPr>
              <a:t>this</a:t>
            </a:r>
            <a:r>
              <a:rPr sz="1900" spc="25" dirty="0">
                <a:solidFill>
                  <a:srgbClr val="FF0000"/>
                </a:solidFill>
                <a:latin typeface="Times New Roman"/>
                <a:cs typeface="Times New Roman"/>
              </a:rPr>
              <a:t> patient?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2728" y="859134"/>
            <a:ext cx="5717540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20" dirty="0"/>
              <a:t>Optimizing</a:t>
            </a:r>
            <a:r>
              <a:rPr spc="20" dirty="0"/>
              <a:t> </a:t>
            </a:r>
            <a:r>
              <a:rPr spc="60" dirty="0"/>
              <a:t>Ventilation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5775" y="2716781"/>
            <a:ext cx="7721600" cy="4392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700" spc="17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Tidal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20" dirty="0">
                <a:solidFill>
                  <a:srgbClr val="595959"/>
                </a:solidFill>
                <a:latin typeface="Times New Roman"/>
                <a:cs typeface="Times New Roman"/>
              </a:rPr>
              <a:t>Volume </a:t>
            </a:r>
            <a:r>
              <a:rPr sz="1900" spc="-10" dirty="0">
                <a:solidFill>
                  <a:srgbClr val="595959"/>
                </a:solidFill>
                <a:latin typeface="Times New Roman"/>
                <a:cs typeface="Times New Roman"/>
              </a:rPr>
              <a:t>(6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– </a:t>
            </a:r>
            <a:r>
              <a:rPr sz="1900" spc="80" dirty="0">
                <a:solidFill>
                  <a:srgbClr val="595959"/>
                </a:solidFill>
                <a:latin typeface="Times New Roman"/>
                <a:cs typeface="Times New Roman"/>
              </a:rPr>
              <a:t>8ml/kg)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55" dirty="0">
                <a:solidFill>
                  <a:srgbClr val="595959"/>
                </a:solidFill>
                <a:latin typeface="Times New Roman"/>
                <a:cs typeface="Times New Roman"/>
              </a:rPr>
              <a:t>although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20" dirty="0">
                <a:solidFill>
                  <a:srgbClr val="595959"/>
                </a:solidFill>
                <a:latin typeface="Times New Roman"/>
                <a:cs typeface="Times New Roman"/>
              </a:rPr>
              <a:t>lower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volumes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19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ideal</a:t>
            </a:r>
            <a:endParaRPr sz="1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  <a:tabLst>
                <a:tab pos="354965" algn="l"/>
              </a:tabLst>
            </a:pPr>
            <a:r>
              <a:rPr sz="1700" spc="17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900" spc="100" dirty="0">
                <a:solidFill>
                  <a:srgbClr val="595959"/>
                </a:solidFill>
                <a:latin typeface="Times New Roman"/>
                <a:cs typeface="Times New Roman"/>
              </a:rPr>
              <a:t>PEEP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3-5 </a:t>
            </a:r>
            <a:r>
              <a:rPr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cm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95" dirty="0">
                <a:solidFill>
                  <a:srgbClr val="595959"/>
                </a:solidFill>
                <a:latin typeface="Times New Roman"/>
                <a:cs typeface="Times New Roman"/>
              </a:rPr>
              <a:t>H2O</a:t>
            </a:r>
            <a:endParaRPr sz="1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  <a:tabLst>
                <a:tab pos="354965" algn="l"/>
              </a:tabLst>
            </a:pPr>
            <a:r>
              <a:rPr sz="1700" spc="17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900" spc="35" dirty="0">
                <a:solidFill>
                  <a:srgbClr val="595959"/>
                </a:solidFill>
                <a:latin typeface="Times New Roman"/>
                <a:cs typeface="Times New Roman"/>
              </a:rPr>
              <a:t>Respiratory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60" dirty="0">
                <a:solidFill>
                  <a:srgbClr val="595959"/>
                </a:solidFill>
                <a:latin typeface="Times New Roman"/>
                <a:cs typeface="Times New Roman"/>
              </a:rPr>
              <a:t>Rate</a:t>
            </a:r>
            <a:endParaRPr sz="1900" dirty="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200"/>
              </a:spcBef>
              <a:tabLst>
                <a:tab pos="697865" algn="l"/>
              </a:tabLst>
            </a:pPr>
            <a:r>
              <a:rPr sz="1500" spc="16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700" spc="65" dirty="0">
                <a:solidFill>
                  <a:srgbClr val="595959"/>
                </a:solidFill>
                <a:latin typeface="Times New Roman"/>
                <a:cs typeface="Times New Roman"/>
              </a:rPr>
              <a:t>Maintain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60" dirty="0">
                <a:solidFill>
                  <a:srgbClr val="595959"/>
                </a:solidFill>
                <a:latin typeface="Times New Roman"/>
                <a:cs typeface="Times New Roman"/>
              </a:rPr>
              <a:t>pCO2</a:t>
            </a:r>
            <a:r>
              <a:rPr sz="17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32-37</a:t>
            </a:r>
            <a:r>
              <a:rPr sz="17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(homeostatic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25" dirty="0">
                <a:solidFill>
                  <a:srgbClr val="595959"/>
                </a:solidFill>
                <a:latin typeface="Times New Roman"/>
                <a:cs typeface="Times New Roman"/>
              </a:rPr>
              <a:t>state)</a:t>
            </a: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  <a:tabLst>
                <a:tab pos="354965" algn="l"/>
              </a:tabLst>
            </a:pPr>
            <a:r>
              <a:rPr sz="1700" spc="17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900" spc="35" dirty="0">
                <a:solidFill>
                  <a:srgbClr val="595959"/>
                </a:solidFill>
                <a:latin typeface="Times New Roman"/>
                <a:cs typeface="Times New Roman"/>
              </a:rPr>
              <a:t>Peak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Airway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35" dirty="0">
                <a:solidFill>
                  <a:srgbClr val="595959"/>
                </a:solidFill>
                <a:latin typeface="Times New Roman"/>
                <a:cs typeface="Times New Roman"/>
              </a:rPr>
              <a:t>Pressure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90" dirty="0">
                <a:solidFill>
                  <a:srgbClr val="595959"/>
                </a:solidFill>
                <a:latin typeface="Times New Roman"/>
                <a:cs typeface="Times New Roman"/>
              </a:rPr>
              <a:t>&lt;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40" dirty="0">
                <a:solidFill>
                  <a:srgbClr val="595959"/>
                </a:solidFill>
                <a:latin typeface="Times New Roman"/>
                <a:cs typeface="Times New Roman"/>
              </a:rPr>
              <a:t>30cm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0" dirty="0">
                <a:solidFill>
                  <a:srgbClr val="595959"/>
                </a:solidFill>
                <a:latin typeface="Times New Roman"/>
                <a:cs typeface="Times New Roman"/>
              </a:rPr>
              <a:t>H2O</a:t>
            </a:r>
            <a:endParaRPr sz="1900" dirty="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200"/>
              </a:spcBef>
              <a:tabLst>
                <a:tab pos="697865" algn="l"/>
              </a:tabLst>
            </a:pPr>
            <a:r>
              <a:rPr sz="1500" spc="16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700" spc="75" dirty="0">
                <a:solidFill>
                  <a:srgbClr val="595959"/>
                </a:solidFill>
                <a:latin typeface="Times New Roman"/>
                <a:cs typeface="Times New Roman"/>
              </a:rPr>
              <a:t>ARDS</a:t>
            </a:r>
            <a:endParaRPr sz="1700" dirty="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190"/>
              </a:spcBef>
              <a:tabLst>
                <a:tab pos="697865" algn="l"/>
              </a:tabLst>
            </a:pPr>
            <a:r>
              <a:rPr sz="1500" spc="16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700" spc="35" dirty="0">
                <a:solidFill>
                  <a:srgbClr val="595959"/>
                </a:solidFill>
                <a:latin typeface="Times New Roman"/>
                <a:cs typeface="Times New Roman"/>
              </a:rPr>
              <a:t>Utilize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50" dirty="0">
                <a:solidFill>
                  <a:srgbClr val="595959"/>
                </a:solidFill>
                <a:latin typeface="Times New Roman"/>
                <a:cs typeface="Times New Roman"/>
              </a:rPr>
              <a:t>I:E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55" dirty="0">
                <a:solidFill>
                  <a:srgbClr val="595959"/>
                </a:solidFill>
                <a:latin typeface="Times New Roman"/>
                <a:cs typeface="Times New Roman"/>
              </a:rPr>
              <a:t>Ratio</a:t>
            </a: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  <a:tabLst>
                <a:tab pos="354965" algn="l"/>
              </a:tabLst>
            </a:pPr>
            <a:r>
              <a:rPr sz="1700" spc="17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1900" spc="50" dirty="0">
                <a:solidFill>
                  <a:srgbClr val="595959"/>
                </a:solidFill>
                <a:latin typeface="Times New Roman"/>
                <a:cs typeface="Times New Roman"/>
              </a:rPr>
              <a:t>Intermittent</a:t>
            </a:r>
            <a:r>
              <a:rPr sz="1900" spc="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50" dirty="0">
                <a:solidFill>
                  <a:srgbClr val="595959"/>
                </a:solidFill>
                <a:latin typeface="Times New Roman"/>
                <a:cs typeface="Times New Roman"/>
              </a:rPr>
              <a:t>Recruitment</a:t>
            </a:r>
            <a:r>
              <a:rPr sz="19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Breaths</a:t>
            </a:r>
            <a:endParaRPr sz="1900" dirty="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200"/>
              </a:spcBef>
              <a:tabLst>
                <a:tab pos="697865" algn="l"/>
              </a:tabLst>
            </a:pPr>
            <a:r>
              <a:rPr sz="1500" spc="16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700" spc="45" dirty="0">
                <a:solidFill>
                  <a:srgbClr val="595959"/>
                </a:solidFill>
                <a:latin typeface="Times New Roman"/>
                <a:cs typeface="Times New Roman"/>
              </a:rPr>
              <a:t>Manually</a:t>
            </a:r>
            <a:r>
              <a:rPr sz="17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25" dirty="0">
                <a:solidFill>
                  <a:srgbClr val="595959"/>
                </a:solidFill>
                <a:latin typeface="Times New Roman"/>
                <a:cs typeface="Times New Roman"/>
              </a:rPr>
              <a:t>Insufflate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6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8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7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45" dirty="0">
                <a:solidFill>
                  <a:srgbClr val="595959"/>
                </a:solidFill>
                <a:latin typeface="Times New Roman"/>
                <a:cs typeface="Times New Roman"/>
              </a:rPr>
              <a:t>PAP</a:t>
            </a:r>
            <a:r>
              <a:rPr sz="17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595959"/>
                </a:solidFill>
                <a:latin typeface="Times New Roman"/>
                <a:cs typeface="Times New Roman"/>
              </a:rPr>
              <a:t>40-50.</a:t>
            </a:r>
            <a:endParaRPr sz="1700" dirty="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195"/>
              </a:spcBef>
              <a:tabLst>
                <a:tab pos="697865" algn="l"/>
              </a:tabLst>
            </a:pPr>
            <a:r>
              <a:rPr sz="1500" spc="16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700" spc="30" dirty="0">
                <a:solidFill>
                  <a:srgbClr val="595959"/>
                </a:solidFill>
                <a:latin typeface="Times New Roman"/>
                <a:cs typeface="Times New Roman"/>
              </a:rPr>
              <a:t>Every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5 - </a:t>
            </a:r>
            <a:r>
              <a:rPr sz="1700" spc="45" dirty="0">
                <a:solidFill>
                  <a:srgbClr val="595959"/>
                </a:solidFill>
                <a:latin typeface="Times New Roman"/>
                <a:cs typeface="Times New Roman"/>
              </a:rPr>
              <a:t>30min.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3458210" marR="5080" indent="-3179445">
              <a:lnSpc>
                <a:spcPct val="80000"/>
              </a:lnSpc>
              <a:spcBef>
                <a:spcPts val="5"/>
              </a:spcBef>
            </a:pPr>
            <a:r>
              <a:rPr sz="1900" spc="65" dirty="0">
                <a:solidFill>
                  <a:srgbClr val="FF0000"/>
                </a:solidFill>
                <a:latin typeface="Times New Roman"/>
                <a:cs typeface="Times New Roman"/>
              </a:rPr>
              <a:t>Must</a:t>
            </a:r>
            <a:r>
              <a:rPr sz="19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2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19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25" dirty="0">
                <a:solidFill>
                  <a:srgbClr val="FF0000"/>
                </a:solidFill>
                <a:latin typeface="Times New Roman"/>
                <a:cs typeface="Times New Roman"/>
              </a:rPr>
              <a:t>able</a:t>
            </a:r>
            <a:r>
              <a:rPr sz="19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65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9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65" dirty="0">
                <a:solidFill>
                  <a:srgbClr val="FF0000"/>
                </a:solidFill>
                <a:latin typeface="Times New Roman"/>
                <a:cs typeface="Times New Roman"/>
              </a:rPr>
              <a:t>adapt</a:t>
            </a:r>
            <a:r>
              <a:rPr sz="19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19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95" dirty="0">
                <a:solidFill>
                  <a:srgbClr val="FF0000"/>
                </a:solidFill>
                <a:latin typeface="Times New Roman"/>
                <a:cs typeface="Times New Roman"/>
              </a:rPr>
              <a:t>DECREASED</a:t>
            </a:r>
            <a:r>
              <a:rPr sz="19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50" dirty="0">
                <a:solidFill>
                  <a:srgbClr val="FF0000"/>
                </a:solidFill>
                <a:latin typeface="Times New Roman"/>
                <a:cs typeface="Times New Roman"/>
              </a:rPr>
              <a:t>Compliance</a:t>
            </a:r>
            <a:r>
              <a:rPr sz="190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8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19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90" dirty="0">
                <a:solidFill>
                  <a:srgbClr val="FF0000"/>
                </a:solidFill>
                <a:latin typeface="Times New Roman"/>
                <a:cs typeface="Times New Roman"/>
              </a:rPr>
              <a:t>INCREASED </a:t>
            </a:r>
            <a:r>
              <a:rPr sz="1900" spc="-45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25" dirty="0">
                <a:solidFill>
                  <a:srgbClr val="FF0000"/>
                </a:solidFill>
                <a:latin typeface="Times New Roman"/>
                <a:cs typeface="Times New Roman"/>
              </a:rPr>
              <a:t>Resistance</a:t>
            </a:r>
            <a:endParaRPr sz="1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637969"/>
            <a:ext cx="9296400" cy="716222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425065" marR="5080" indent="-1332230">
              <a:lnSpc>
                <a:spcPct val="100499"/>
              </a:lnSpc>
              <a:spcBef>
                <a:spcPts val="65"/>
              </a:spcBef>
            </a:pPr>
            <a:r>
              <a:rPr lang="en-US" b="1" spc="660" dirty="0">
                <a:solidFill>
                  <a:srgbClr val="C1F944"/>
                </a:solidFill>
              </a:rPr>
              <a:t>Spontaneous Ventilation</a:t>
            </a:r>
            <a:endParaRPr b="1" spc="120" dirty="0"/>
          </a:p>
        </p:txBody>
      </p:sp>
      <p:sp>
        <p:nvSpPr>
          <p:cNvPr id="3" name="object 3"/>
          <p:cNvSpPr txBox="1"/>
          <p:nvPr/>
        </p:nvSpPr>
        <p:spPr>
          <a:xfrm>
            <a:off x="1035863" y="2809774"/>
            <a:ext cx="7806690" cy="3600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950" spc="20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Optimization</a:t>
            </a:r>
            <a:r>
              <a:rPr sz="22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200" spc="2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6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0" dirty="0">
                <a:solidFill>
                  <a:srgbClr val="595959"/>
                </a:solidFill>
                <a:latin typeface="Times New Roman"/>
                <a:cs typeface="Times New Roman"/>
              </a:rPr>
              <a:t>spontaneously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breathing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patient.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  <a:tabLst>
                <a:tab pos="354965" algn="l"/>
              </a:tabLst>
            </a:pPr>
            <a:r>
              <a:rPr sz="1950" spc="20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Respiratory</a:t>
            </a:r>
            <a:r>
              <a:rPr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70" dirty="0">
                <a:solidFill>
                  <a:srgbClr val="595959"/>
                </a:solidFill>
                <a:latin typeface="Times New Roman"/>
                <a:cs typeface="Times New Roman"/>
              </a:rPr>
              <a:t>Rate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driven</a:t>
            </a:r>
            <a:r>
              <a:rPr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patient</a:t>
            </a:r>
            <a:endParaRPr sz="2200" dirty="0">
              <a:latin typeface="Times New Roman"/>
              <a:cs typeface="Times New Roman"/>
            </a:endParaRPr>
          </a:p>
          <a:p>
            <a:pPr marL="697865" marR="361315" indent="-337185">
              <a:lnSpc>
                <a:spcPts val="2160"/>
              </a:lnSpc>
              <a:spcBef>
                <a:spcPts val="640"/>
              </a:spcBef>
              <a:tabLst>
                <a:tab pos="697865" algn="l"/>
              </a:tabLst>
            </a:pPr>
            <a:r>
              <a:rPr sz="1800" spc="165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Should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patient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80" dirty="0">
                <a:solidFill>
                  <a:srgbClr val="595959"/>
                </a:solidFill>
                <a:latin typeface="Times New Roman"/>
                <a:cs typeface="Times New Roman"/>
              </a:rPr>
              <a:t>not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breath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9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preset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time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(30sec)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 SIMV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80" dirty="0">
                <a:solidFill>
                  <a:srgbClr val="595959"/>
                </a:solidFill>
                <a:latin typeface="Times New Roman"/>
                <a:cs typeface="Times New Roman"/>
              </a:rPr>
              <a:t>mode </a:t>
            </a:r>
            <a:r>
              <a:rPr sz="2000" spc="-4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ventilation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OR hand bagging 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initiated.</a:t>
            </a:r>
            <a:endParaRPr sz="2000" dirty="0">
              <a:latin typeface="Times New Roman"/>
              <a:cs typeface="Times New Roman"/>
            </a:endParaRPr>
          </a:p>
          <a:p>
            <a:pPr marL="354965" marR="520065" indent="-342900">
              <a:lnSpc>
                <a:spcPts val="2380"/>
              </a:lnSpc>
              <a:spcBef>
                <a:spcPts val="2030"/>
              </a:spcBef>
              <a:tabLst>
                <a:tab pos="354965" algn="l"/>
              </a:tabLst>
            </a:pPr>
            <a:r>
              <a:rPr sz="1950" spc="20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Pressure</a:t>
            </a:r>
            <a:r>
              <a:rPr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60" dirty="0">
                <a:solidFill>
                  <a:srgbClr val="595959"/>
                </a:solidFill>
                <a:latin typeface="Times New Roman"/>
                <a:cs typeface="Times New Roman"/>
              </a:rPr>
              <a:t>supported</a:t>
            </a:r>
            <a:r>
              <a:rPr sz="22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breath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achieve 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adequate</a:t>
            </a:r>
            <a:r>
              <a:rPr sz="22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TV 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for </a:t>
            </a:r>
            <a:r>
              <a:rPr sz="2200" spc="60" dirty="0">
                <a:solidFill>
                  <a:srgbClr val="595959"/>
                </a:solidFill>
                <a:latin typeface="Times New Roman"/>
                <a:cs typeface="Times New Roman"/>
              </a:rPr>
              <a:t>each </a:t>
            </a:r>
            <a:r>
              <a:rPr sz="2200" spc="-5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patient</a:t>
            </a:r>
            <a:r>
              <a:rPr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initiated</a:t>
            </a:r>
            <a:r>
              <a:rPr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60" dirty="0">
                <a:solidFill>
                  <a:srgbClr val="595959"/>
                </a:solidFill>
                <a:latin typeface="Times New Roman"/>
                <a:cs typeface="Times New Roman"/>
              </a:rPr>
              <a:t>breath</a:t>
            </a:r>
            <a:r>
              <a:rPr lang="en-US" sz="2200" spc="60" dirty="0">
                <a:solidFill>
                  <a:srgbClr val="595959"/>
                </a:solidFill>
                <a:latin typeface="Times New Roman"/>
                <a:cs typeface="Times New Roman"/>
              </a:rPr>
              <a:t> may be used during wake up OR manual bag ventilation may be used as well.</a:t>
            </a:r>
            <a:endParaRPr sz="2200" dirty="0">
              <a:latin typeface="Times New Roman"/>
              <a:cs typeface="Times New Roman"/>
            </a:endParaRPr>
          </a:p>
          <a:p>
            <a:pPr marL="354965" marR="5080" indent="-342900">
              <a:lnSpc>
                <a:spcPts val="2380"/>
              </a:lnSpc>
              <a:spcBef>
                <a:spcPts val="1985"/>
              </a:spcBef>
              <a:tabLst>
                <a:tab pos="354965" algn="l"/>
                <a:tab pos="1311910" algn="l"/>
              </a:tabLst>
            </a:pPr>
            <a:r>
              <a:rPr lang="en-US" sz="1950" spc="200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lang="en-US"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Research</a:t>
            </a:r>
            <a:r>
              <a:rPr lang="en-US"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shows</a:t>
            </a:r>
            <a:r>
              <a:rPr lang="en-US"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SV</a:t>
            </a:r>
            <a:r>
              <a:rPr lang="en-US" sz="22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-1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lang="en-US"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10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lang="en-US" sz="22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40" dirty="0">
                <a:solidFill>
                  <a:srgbClr val="595959"/>
                </a:solidFill>
                <a:latin typeface="Times New Roman"/>
                <a:cs typeface="Times New Roman"/>
              </a:rPr>
              <a:t>superior</a:t>
            </a:r>
            <a:r>
              <a:rPr lang="en-US"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80" dirty="0">
                <a:solidFill>
                  <a:srgbClr val="595959"/>
                </a:solidFill>
                <a:latin typeface="Times New Roman"/>
                <a:cs typeface="Times New Roman"/>
              </a:rPr>
              <a:t>mode</a:t>
            </a:r>
            <a:r>
              <a:rPr lang="en-US"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lang="en-US" sz="22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35" dirty="0">
                <a:solidFill>
                  <a:srgbClr val="595959"/>
                </a:solidFill>
                <a:latin typeface="Times New Roman"/>
                <a:cs typeface="Times New Roman"/>
              </a:rPr>
              <a:t>SIMV</a:t>
            </a:r>
            <a:r>
              <a:rPr lang="en-US" sz="2200" spc="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80" dirty="0">
                <a:solidFill>
                  <a:srgbClr val="595959"/>
                </a:solidFill>
                <a:latin typeface="Times New Roman"/>
                <a:cs typeface="Times New Roman"/>
              </a:rPr>
              <a:t>when</a:t>
            </a:r>
            <a:r>
              <a:rPr lang="en-US"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weaning</a:t>
            </a:r>
            <a:r>
              <a:rPr lang="en-US"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100" dirty="0">
                <a:solidFill>
                  <a:srgbClr val="595959"/>
                </a:solidFill>
                <a:latin typeface="Times New Roman"/>
                <a:cs typeface="Times New Roman"/>
              </a:rPr>
              <a:t>a </a:t>
            </a:r>
            <a:r>
              <a:rPr lang="en-US" sz="2200" spc="-5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patient </a:t>
            </a:r>
            <a:r>
              <a:rPr lang="en-US"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from</a:t>
            </a:r>
            <a:r>
              <a:rPr lang="en-US" sz="22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mechanical</a:t>
            </a:r>
            <a:r>
              <a:rPr lang="en-US" sz="22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US" sz="2200" spc="45" dirty="0">
                <a:solidFill>
                  <a:srgbClr val="595959"/>
                </a:solidFill>
                <a:latin typeface="Times New Roman"/>
                <a:cs typeface="Times New Roman"/>
              </a:rPr>
              <a:t>ventilation, sources differ.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9407" y="1023583"/>
            <a:ext cx="3044190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4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pc="5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pc="760" dirty="0">
                <a:solidFill>
                  <a:srgbClr val="0000FF"/>
                </a:solidFill>
                <a:latin typeface="Arial"/>
                <a:cs typeface="Arial"/>
              </a:rPr>
              <a:t>mm</a:t>
            </a:r>
            <a:r>
              <a:rPr spc="47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pc="805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pc="505" dirty="0">
                <a:solidFill>
                  <a:srgbClr val="0000FF"/>
                </a:solidFill>
                <a:latin typeface="Arial"/>
                <a:cs typeface="Arial"/>
              </a:rPr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6631" y="2888981"/>
            <a:ext cx="7451725" cy="3811904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4965" marR="1144905" indent="-342900">
              <a:lnSpc>
                <a:spcPts val="2160"/>
              </a:lnSpc>
              <a:spcBef>
                <a:spcPts val="375"/>
              </a:spcBef>
              <a:tabLst>
                <a:tab pos="354965" algn="l"/>
              </a:tabLst>
            </a:pPr>
            <a:r>
              <a:rPr sz="1800" spc="165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Mechanical 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Ventilation 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is </a:t>
            </a:r>
            <a:r>
              <a:rPr sz="2000" spc="90" dirty="0">
                <a:solidFill>
                  <a:srgbClr val="595959"/>
                </a:solidFill>
                <a:latin typeface="Times New Roman"/>
                <a:cs typeface="Times New Roman"/>
              </a:rPr>
              <a:t>a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standard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of 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care 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in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General </a:t>
            </a:r>
            <a:r>
              <a:rPr sz="2000" spc="-4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Anesthesia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  <a:tabLst>
                <a:tab pos="354965" algn="l"/>
              </a:tabLst>
            </a:pPr>
            <a:r>
              <a:rPr sz="1800" spc="165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Selection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000" spc="2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Ventilation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85" dirty="0">
                <a:solidFill>
                  <a:srgbClr val="595959"/>
                </a:solidFill>
                <a:latin typeface="Times New Roman"/>
                <a:cs typeface="Times New Roman"/>
              </a:rPr>
              <a:t>mode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should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be </a:t>
            </a:r>
            <a:r>
              <a:rPr sz="2000" spc="55" dirty="0">
                <a:solidFill>
                  <a:srgbClr val="595959"/>
                </a:solidFill>
                <a:latin typeface="Times New Roman"/>
                <a:cs typeface="Times New Roman"/>
              </a:rPr>
              <a:t>determined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endParaRPr sz="20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375"/>
              </a:spcBef>
              <a:tabLst>
                <a:tab pos="697865" algn="l"/>
              </a:tabLst>
            </a:pPr>
            <a:r>
              <a:rPr sz="1700" spc="17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Surgical</a:t>
            </a:r>
            <a:r>
              <a:rPr sz="19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Case</a:t>
            </a:r>
            <a:endParaRPr sz="19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375"/>
              </a:spcBef>
              <a:tabLst>
                <a:tab pos="697865" algn="l"/>
              </a:tabLst>
            </a:pPr>
            <a:r>
              <a:rPr sz="1700" spc="17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Patient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40" dirty="0">
                <a:solidFill>
                  <a:srgbClr val="595959"/>
                </a:solidFill>
                <a:latin typeface="Times New Roman"/>
                <a:cs typeface="Times New Roman"/>
              </a:rPr>
              <a:t>position</a:t>
            </a:r>
            <a:endParaRPr sz="19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370"/>
              </a:spcBef>
              <a:tabLst>
                <a:tab pos="697865" algn="l"/>
              </a:tabLst>
            </a:pPr>
            <a:r>
              <a:rPr sz="1700" spc="17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Pre-existing</a:t>
            </a:r>
            <a:r>
              <a:rPr sz="1900" spc="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40" dirty="0">
                <a:solidFill>
                  <a:srgbClr val="595959"/>
                </a:solidFill>
                <a:latin typeface="Times New Roman"/>
                <a:cs typeface="Times New Roman"/>
              </a:rPr>
              <a:t>respiratory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disease</a:t>
            </a:r>
            <a:r>
              <a:rPr sz="19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8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40" dirty="0">
                <a:solidFill>
                  <a:srgbClr val="595959"/>
                </a:solidFill>
                <a:latin typeface="Times New Roman"/>
                <a:cs typeface="Times New Roman"/>
              </a:rPr>
              <a:t>function</a:t>
            </a:r>
            <a:endParaRPr sz="19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375"/>
              </a:spcBef>
              <a:tabLst>
                <a:tab pos="697865" algn="l"/>
              </a:tabLst>
            </a:pPr>
            <a:r>
              <a:rPr sz="1700" spc="170" dirty="0">
                <a:solidFill>
                  <a:srgbClr val="C1F944"/>
                </a:solidFill>
                <a:latin typeface="Times New Roman"/>
                <a:cs typeface="Times New Roman"/>
              </a:rPr>
              <a:t>S	</a:t>
            </a:r>
            <a:r>
              <a:rPr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Patient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55" dirty="0">
                <a:solidFill>
                  <a:srgbClr val="595959"/>
                </a:solidFill>
                <a:latin typeface="Times New Roman"/>
                <a:cs typeface="Times New Roman"/>
              </a:rPr>
              <a:t>BMI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  <a:tabLst>
                <a:tab pos="354965" algn="l"/>
              </a:tabLst>
            </a:pPr>
            <a:r>
              <a:rPr sz="1800" spc="165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Prevent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atelectasis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by 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using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low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TV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9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low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5" dirty="0">
                <a:solidFill>
                  <a:srgbClr val="595959"/>
                </a:solidFill>
                <a:latin typeface="Times New Roman"/>
                <a:cs typeface="Times New Roman"/>
              </a:rPr>
              <a:t>PEEP.</a:t>
            </a:r>
            <a:endParaRPr sz="2000">
              <a:latin typeface="Times New Roman"/>
              <a:cs typeface="Times New Roman"/>
            </a:endParaRPr>
          </a:p>
          <a:p>
            <a:pPr marL="354965" marR="5080" indent="-342900">
              <a:lnSpc>
                <a:spcPts val="2160"/>
              </a:lnSpc>
              <a:spcBef>
                <a:spcPts val="2025"/>
              </a:spcBef>
              <a:tabLst>
                <a:tab pos="354965" algn="l"/>
              </a:tabLst>
            </a:pPr>
            <a:r>
              <a:rPr sz="1800" spc="165" dirty="0">
                <a:solidFill>
                  <a:srgbClr val="80B605"/>
                </a:solidFill>
                <a:latin typeface="Times New Roman"/>
                <a:cs typeface="Times New Roman"/>
              </a:rPr>
              <a:t>S	</a:t>
            </a:r>
            <a:r>
              <a:rPr sz="2000" spc="130" dirty="0">
                <a:solidFill>
                  <a:srgbClr val="595959"/>
                </a:solidFill>
                <a:latin typeface="Times New Roman"/>
                <a:cs typeface="Times New Roman"/>
              </a:rPr>
              <a:t>Do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80" dirty="0">
                <a:solidFill>
                  <a:srgbClr val="595959"/>
                </a:solidFill>
                <a:latin typeface="Times New Roman"/>
                <a:cs typeface="Times New Roman"/>
              </a:rPr>
              <a:t>not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595959"/>
                </a:solidFill>
                <a:latin typeface="Times New Roman"/>
                <a:cs typeface="Times New Roman"/>
              </a:rPr>
              <a:t>afraid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595959"/>
                </a:solidFill>
                <a:latin typeface="Times New Roman"/>
                <a:cs typeface="Times New Roman"/>
              </a:rPr>
              <a:t>use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595959"/>
                </a:solidFill>
                <a:latin typeface="Times New Roman"/>
                <a:cs typeface="Times New Roman"/>
              </a:rPr>
              <a:t>different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ventilator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modes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9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0" dirty="0">
                <a:solidFill>
                  <a:srgbClr val="595959"/>
                </a:solidFill>
                <a:latin typeface="Times New Roman"/>
                <a:cs typeface="Times New Roman"/>
              </a:rPr>
              <a:t>I:E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Ratio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595959"/>
                </a:solidFill>
                <a:latin typeface="Times New Roman"/>
                <a:cs typeface="Times New Roman"/>
              </a:rPr>
              <a:t>to </a:t>
            </a:r>
            <a:r>
              <a:rPr sz="2000" spc="-4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60" dirty="0">
                <a:solidFill>
                  <a:srgbClr val="595959"/>
                </a:solidFill>
                <a:latin typeface="Times New Roman"/>
                <a:cs typeface="Times New Roman"/>
              </a:rPr>
              <a:t>maximize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595959"/>
                </a:solidFill>
                <a:latin typeface="Times New Roman"/>
                <a:cs typeface="Times New Roman"/>
              </a:rPr>
              <a:t>ventilation.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1305</Words>
  <Application>Microsoft Macintosh PowerPoint</Application>
  <PresentationFormat>Custom</PresentationFormat>
  <Paragraphs>200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Maintain EtCO2 32-37.  (exception Neuro cases  where EtCO2 is desired &lt;27.)</vt:lpstr>
      <vt:lpstr>Anesthesia Machine Ventilator  Modes</vt:lpstr>
      <vt:lpstr>Anesthesia Ventilator Modes (cont.)</vt:lpstr>
      <vt:lpstr>Adjunct Ventilator Settings</vt:lpstr>
      <vt:lpstr>Volume Controlled Ventilation VCV</vt:lpstr>
      <vt:lpstr>Pressure Controlled Ventilation PCV</vt:lpstr>
      <vt:lpstr>Ventilator</vt:lpstr>
      <vt:lpstr>SIMV Synchronized Intermittent Mandatory Ventilation</vt:lpstr>
      <vt:lpstr>Assist Controlled Ventilation</vt:lpstr>
      <vt:lpstr>What does the Research Say</vt:lpstr>
      <vt:lpstr>PowerPoint Presentation</vt:lpstr>
      <vt:lpstr>Keys to overcoming Ventilatory  Complications</vt:lpstr>
      <vt:lpstr>Pre-Existing Conditions that  Compromise Ventilation</vt:lpstr>
      <vt:lpstr>The dark side of mechanical ventilation</vt:lpstr>
      <vt:lpstr>Case Study #1</vt:lpstr>
      <vt:lpstr>Case Study #2</vt:lpstr>
      <vt:lpstr>Case Study #2 (cont.)</vt:lpstr>
      <vt:lpstr>Optimizing Ventilation</vt:lpstr>
      <vt:lpstr>Spontaneous Ventilation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NDANA Ventilator Lecture 2018.pptx [Read-Only]</dc:title>
  <dc:creator>Melissa</dc:creator>
  <cp:lastModifiedBy>michael.berg</cp:lastModifiedBy>
  <cp:revision>5</cp:revision>
  <dcterms:created xsi:type="dcterms:W3CDTF">2022-01-04T16:04:24Z</dcterms:created>
  <dcterms:modified xsi:type="dcterms:W3CDTF">2022-03-02T05:53:20Z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2018-10-26T00:00:00Z</vt:filetime>
  </property>
  <property fmtid="{D5CDD505-2E9C-101B-9397-08002B2CF9AE}" pid="3" name="LastSaved">
    <vt:filetime>2022-01-04T00:00:00Z</vt:filetime>
  </property>
</Properties>
</file>